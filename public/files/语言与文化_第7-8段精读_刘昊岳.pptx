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大家好，接下来我们一起来精读课文《Language and Culture》的第7段和第8段。在前面的段落中，作者探讨了英语作为“诅咒（curse）”的一面，即任何大语言都可能影响并危及（endanger）弱小语言。而从第7段开始，作者笔锋一转，开始探讨英语作为“福音（blessing）”的另一面。</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在进入正文之前，我们先快速浏览一下课本右侧栏给出的6个核心词汇：endanger（危及）、apparatus（组织机构）、apartheid（南非种族隔离制度）、descent（血统）、regime（政权）以及 vernacular（本国语的、方言的）。这些词在接下来的南非历史实例中起到了关键支撑作用。</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我们先看第7段的第一句：“Yet many people see English as a blessing.” 这句话是全段的主题句，意思是：“然而，许多人把英语视为一种福音。” 句首的 Yet 起到明显的转折作用，与上文的 curse（诅咒）形成直接对比。接着看第二、三句，大家注意短语 leave aside（搁置、撇开不谈），句末的 apparatus（组织、机构），以及过去分词短语 possessed by any world language 作后置定语修饰 advantages。作者在这里用“欲扬先抑”的手法，撇开庞大的交际网络、媒体综合体和文化教育机构等常规优势不谈，把讨论的高度直接提升到了政治、正义与平等（politics, justice, and equality）的层面。</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接下来看第四到第六句，作者引入了南非的历史实例。这里有几个核心表达需要掌握：object lesson 指“用来说明道理的实际例子”；cease to do sth. 意为“停止做某事”；apartheid 指前南非的“种族隔离制度”，文中用同位语 a system known in Afrikaans as apartheid 对前面的 racial separateness 进行了说明；descent 意为“血统”，see... as superior to... 意思是“认为……比……优越”，indigenous people 指“原住民”。这三句话交代了历史背景：十年前南非结束了种族隔离统治，而该制度源于主要是荷兰血统的欧洲定居者（阿非利卡人）认为自己比被殖民土地上的原住民高人一等。</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接着看第七、八句，这是本段最核心的长难句。我们先看重点词：regime 指“政权”，opposition 指“反对派”，disorganized 意为“缺乏组织的”。再拆解语法结构：第一句是由 and 连接的并列句，后半句包含 whose members had many languages 这个非限制性定语从句，修饰 the black opposition，说明当时的黑人反对派因为内部语言繁杂，起初力量薄弱且一盘散沙。第二句中，through which this opposition gained strength and organization 是“介词+关系代词”引导的定语从句，修饰先行词 the language；句末的 which became for them... 则是另一个非限制性定语从句，补充说明 English 的历史意义——对他们而言，英语成为了象征自由与团结的关键语言，而非压迫的语言。</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最后看第7段的结尾部分。这里的重点词有：vernacular（本国语的、本土方言的），lingua franca（通用语、交际语），以及 Africanized English（非洲本土化的英语）。作者在这里连续用了两个设问句，指出如今南非虽然有11种官方语言（英语、阿非利卡语和9种本土语言），但南非黑人并没有选择9种本土语言中的任何一种作为全国通用语（因为选任何一种部族语言都可能引发其他族群的不满），而是选择了英语，尤其是经过适当非洲本土化改造的英语，因为英语在这里代表了跨越部族分歧、实现团结与沟通的桥梁。</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最后我们看简短的第8段：“So, a curse for the indigenous peoples of Australia and something of a blessing for those in South Africa...” 这里的 indigenous 是形容词，意为“本土的、固有的”；短语 something of a... 意为“在某种程度上可以说是……、算是一种……”；句末的代词 those 指代前面的 indigenous peoples（原住民）。从篇章结构上看，第8段是一个典型的承上启下过渡段：它一方面总结了前面澳大利亚（语言灭绝的诅咒）和第7段南非（自由与团结的福音）的两个对比案例，另一方面直接引出第9段作者的最终结论——在全球化的今天，英语往往既是福音也是诅咒（at times a blessing and at times a curse）。我的讲解完毕，谢谢大家！</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最后这一页是我们今天精读内容的整体复盘导图，大家可以通过澳大利亚与南非的鲜明对比，再次回顾核心词汇与长难句主干。谢谢大家！</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8F5"/>
        </a:solidFill>
        <a:effectLst/>
      </p:bgPr>
    </p:bg>
    <p:spTree>
      <p:nvGrpSpPr>
        <p:cNvPr id="1" name=""/>
        <p:cNvGrpSpPr/>
        <p:nvPr/>
      </p:nvGrpSpPr>
      <p:grpSpPr/>
      <p:pic>
        <p:nvPicPr>
          <p:cNvPr id="2" name="Picture 1" descr="多语言、多文化交汇的树形学术插画"/>
          <p:cNvPicPr>
            <a:picLocks noChangeAspect="1"/>
          </p:cNvPicPr>
          <p:nvPr/>
        </p:nvPicPr>
        <p:blipFill>
          <a:blip r:embed="rId2"/>
          <a:stretch>
            <a:fillRect/>
          </a:stretch>
        </p:blipFill>
        <p:spPr>
          <a:xfrm>
            <a:off x="0" y="0"/>
            <a:ext cx="12191695" cy="6858000"/>
          </a:xfrm>
          <a:prstGeom prst="rect">
            <a:avLst/>
          </a:prstGeom>
          <a:ln>
            <a:noFill/>
          </a:ln>
        </p:spPr>
      </p:pic>
      <p:sp>
        <p:nvSpPr>
          <p:cNvPr id="3" name="Rectangle 2"/>
          <p:cNvSpPr/>
          <p:nvPr/>
        </p:nvSpPr>
        <p:spPr>
          <a:xfrm>
            <a:off x="0" y="0"/>
            <a:ext cx="12191695" cy="6858000"/>
          </a:xfrm>
          <a:prstGeom prst="rect">
            <a:avLst/>
          </a:prstGeom>
          <a:solidFill>
            <a:srgbClr val="FAF8F5">
              <a:alpha val="10000"/>
            </a:srgbClr>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Rectangle 3"/>
          <p:cNvSpPr/>
          <p:nvPr/>
        </p:nvSpPr>
        <p:spPr>
          <a:xfrm>
            <a:off x="0" y="0"/>
            <a:ext cx="6519672" cy="6858000"/>
          </a:xfrm>
          <a:prstGeom prst="rect">
            <a:avLst/>
          </a:prstGeom>
          <a:solidFill>
            <a:srgbClr val="FAF8F5">
              <a:alpha val="95500"/>
            </a:srgbClr>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Rectangle 4"/>
          <p:cNvSpPr/>
          <p:nvPr/>
        </p:nvSpPr>
        <p:spPr>
          <a:xfrm>
            <a:off x="6519672" y="0"/>
            <a:ext cx="50292" cy="6858000"/>
          </a:xfrm>
          <a:prstGeom prst="rect">
            <a:avLst/>
          </a:prstGeom>
          <a:solidFill>
            <a:srgbClr val="C84B31">
              <a:alpha val="95000"/>
            </a:srgbClr>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Rounded Rectangle 5"/>
          <p:cNvSpPr/>
          <p:nvPr/>
        </p:nvSpPr>
        <p:spPr>
          <a:xfrm>
            <a:off x="10735056" y="484632"/>
            <a:ext cx="868680" cy="283464"/>
          </a:xfrm>
          <a:prstGeom prst="roundRect">
            <a:avLst>
              <a:gd name="adj" fmla="val 18000"/>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 name="TextBox 6"/>
          <p:cNvSpPr txBox="1"/>
          <p:nvPr/>
        </p:nvSpPr>
        <p:spPr>
          <a:xfrm>
            <a:off x="10735056" y="534924"/>
            <a:ext cx="868680" cy="164592"/>
          </a:xfrm>
          <a:prstGeom prst="rect">
            <a:avLst/>
          </a:prstGeom>
          <a:noFill/>
        </p:spPr>
        <p:txBody>
          <a:bodyPr wrap="square" anchor="t" lIns="0" tIns="0" rIns="0" bIns="0">
            <a:spAutoFit/>
          </a:bodyPr>
          <a:lstStyle/>
          <a:p>
            <a:pPr algn="ctr">
              <a:lnSpc>
                <a:spcPct val="102000"/>
              </a:lnSpc>
              <a:spcBef>
                <a:spcPts val="0"/>
              </a:spcBef>
              <a:spcAft>
                <a:spcPts val="0"/>
              </a:spcAft>
            </a:pPr>
            <a:r>
              <a:rPr sz="760" b="1" i="0" spc="70">
                <a:solidFill>
                  <a:srgbClr val="FFFFFF"/>
                </a:solidFill>
                <a:latin typeface="Calibri"/>
                <a:ea typeface="Microsoft YaHei"/>
                <a:cs typeface="Calibri"/>
              </a:rPr>
              <a:t>01 / 08</a:t>
            </a:r>
          </a:p>
        </p:txBody>
      </p:sp>
      <p:sp>
        <p:nvSpPr>
          <p:cNvPr id="8" name="TextBox 7"/>
          <p:cNvSpPr txBox="1"/>
          <p:nvPr/>
        </p:nvSpPr>
        <p:spPr>
          <a:xfrm>
            <a:off x="658368" y="502920"/>
            <a:ext cx="5577840" cy="182880"/>
          </a:xfrm>
          <a:prstGeom prst="rect">
            <a:avLst/>
          </a:prstGeom>
          <a:noFill/>
        </p:spPr>
        <p:txBody>
          <a:bodyPr wrap="square" anchor="t" lIns="0" tIns="0" rIns="0" bIns="0">
            <a:spAutoFit/>
          </a:bodyPr>
          <a:lstStyle/>
          <a:p>
            <a:pPr algn="l">
              <a:lnSpc>
                <a:spcPct val="102000"/>
              </a:lnSpc>
              <a:spcBef>
                <a:spcPts val="0"/>
              </a:spcBef>
              <a:spcAft>
                <a:spcPts val="0"/>
              </a:spcAft>
            </a:pPr>
            <a:r>
              <a:rPr sz="880" b="1" i="0" spc="130">
                <a:solidFill>
                  <a:srgbClr val="1B365D"/>
                </a:solidFill>
                <a:latin typeface="Calibri"/>
                <a:ea typeface="Microsoft YaHei"/>
                <a:cs typeface="Calibri"/>
              </a:rPr>
              <a:t>ACADEMIC READING   ·   INTENSIVE COURSE</a:t>
            </a:r>
          </a:p>
        </p:txBody>
      </p:sp>
      <p:sp>
        <p:nvSpPr>
          <p:cNvPr id="9" name="Rectangle 8"/>
          <p:cNvSpPr/>
          <p:nvPr/>
        </p:nvSpPr>
        <p:spPr>
          <a:xfrm>
            <a:off x="658368" y="795528"/>
            <a:ext cx="841248" cy="32004"/>
          </a:xfrm>
          <a:prstGeom prst="rect">
            <a:avLst/>
          </a:prstGeom>
          <a:solidFill>
            <a:srgbClr val="C84B3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TextBox 9"/>
          <p:cNvSpPr txBox="1"/>
          <p:nvPr/>
        </p:nvSpPr>
        <p:spPr>
          <a:xfrm>
            <a:off x="621792" y="1207008"/>
            <a:ext cx="5833872" cy="731520"/>
          </a:xfrm>
          <a:prstGeom prst="rect">
            <a:avLst/>
          </a:prstGeom>
          <a:noFill/>
        </p:spPr>
        <p:txBody>
          <a:bodyPr wrap="square" anchor="t" lIns="0" tIns="0" rIns="0" bIns="0">
            <a:spAutoFit/>
          </a:bodyPr>
          <a:lstStyle/>
          <a:p>
            <a:pPr algn="l">
              <a:lnSpc>
                <a:spcPct val="98000"/>
              </a:lnSpc>
              <a:spcBef>
                <a:spcPts val="0"/>
              </a:spcBef>
              <a:spcAft>
                <a:spcPts val="0"/>
              </a:spcAft>
            </a:pPr>
            <a:r>
              <a:rPr sz="3400" b="1" i="0">
                <a:solidFill>
                  <a:srgbClr val="C84B31"/>
                </a:solidFill>
                <a:latin typeface="Georgia"/>
                <a:ea typeface="Microsoft YaHei"/>
                <a:cs typeface="Georgia"/>
              </a:rPr>
              <a:t>Unit:</a:t>
            </a:r>
            <a:r>
              <a:rPr sz="3400" b="1" i="0">
                <a:solidFill>
                  <a:srgbClr val="1B365D"/>
                </a:solidFill>
                <a:latin typeface="Georgia"/>
                <a:ea typeface="Microsoft YaHei"/>
                <a:cs typeface="Georgia"/>
              </a:rPr>
              <a:t> Language and Culture</a:t>
            </a:r>
          </a:p>
        </p:txBody>
      </p:sp>
      <p:sp>
        <p:nvSpPr>
          <p:cNvPr id="11" name="Rectangle 10"/>
          <p:cNvSpPr/>
          <p:nvPr/>
        </p:nvSpPr>
        <p:spPr>
          <a:xfrm>
            <a:off x="658368" y="2093976"/>
            <a:ext cx="1078992" cy="29260"/>
          </a:xfrm>
          <a:prstGeom prst="rect">
            <a:avLst/>
          </a:prstGeom>
          <a:solidFill>
            <a:srgbClr val="B78B5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658368" y="2295144"/>
            <a:ext cx="5577840" cy="868680"/>
          </a:xfrm>
          <a:prstGeom prst="rect">
            <a:avLst/>
          </a:prstGeom>
          <a:noFill/>
        </p:spPr>
        <p:txBody>
          <a:bodyPr wrap="square" anchor="t" lIns="0" tIns="0" rIns="0" bIns="0">
            <a:spAutoFit/>
          </a:bodyPr>
          <a:lstStyle/>
          <a:p>
            <a:pPr algn="l">
              <a:lnSpc>
                <a:spcPct val="108000"/>
              </a:lnSpc>
              <a:spcBef>
                <a:spcPts val="0"/>
              </a:spcBef>
              <a:spcAft>
                <a:spcPts val="600"/>
              </a:spcAft>
            </a:pPr>
            <a:r>
              <a:rPr sz="1800" b="1" i="0">
                <a:solidFill>
                  <a:srgbClr val="1B365D"/>
                </a:solidFill>
                <a:latin typeface="Georgia"/>
                <a:ea typeface="Microsoft YaHei"/>
                <a:cs typeface="Georgia"/>
              </a:rPr>
              <a:t>Paragraphs 7 &amp; 8 深度精读：</a:t>
            </a:r>
          </a:p>
          <a:p>
            <a:pPr algn="l">
              <a:lnSpc>
                <a:spcPct val="115000"/>
              </a:lnSpc>
              <a:spcBef>
                <a:spcPts val="0"/>
              </a:spcBef>
              <a:spcAft>
                <a:spcPts val="0"/>
              </a:spcAft>
            </a:pPr>
            <a:r>
              <a:rPr sz="1450" b="0" i="0">
                <a:solidFill>
                  <a:srgbClr val="2C3E50"/>
                </a:solidFill>
                <a:latin typeface="Calibri"/>
                <a:ea typeface="Microsoft YaHei"/>
                <a:cs typeface="Calibri"/>
              </a:rPr>
              <a:t>作为“福音（Blessing）”的英语与南非实例</a:t>
            </a:r>
          </a:p>
        </p:txBody>
      </p:sp>
      <p:sp>
        <p:nvSpPr>
          <p:cNvPr id="13" name="Rectangle 12"/>
          <p:cNvSpPr/>
          <p:nvPr/>
        </p:nvSpPr>
        <p:spPr>
          <a:xfrm>
            <a:off x="658368" y="3383280"/>
            <a:ext cx="50292" cy="960120"/>
          </a:xfrm>
          <a:prstGeom prst="rect">
            <a:avLst/>
          </a:prstGeom>
          <a:solidFill>
            <a:srgbClr val="C84B3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868680" y="3337560"/>
            <a:ext cx="5074920" cy="265176"/>
          </a:xfrm>
          <a:prstGeom prst="rect">
            <a:avLst/>
          </a:prstGeom>
          <a:noFill/>
        </p:spPr>
        <p:txBody>
          <a:bodyPr wrap="square" anchor="t" lIns="0" tIns="0" rIns="0" bIns="0">
            <a:spAutoFit/>
          </a:bodyPr>
          <a:lstStyle/>
          <a:p>
            <a:pPr algn="l">
              <a:lnSpc>
                <a:spcPct val="102000"/>
              </a:lnSpc>
              <a:spcBef>
                <a:spcPts val="0"/>
              </a:spcBef>
              <a:spcAft>
                <a:spcPts val="0"/>
              </a:spcAft>
            </a:pPr>
            <a:r>
              <a:rPr sz="740" b="1" i="0" spc="130">
                <a:solidFill>
                  <a:srgbClr val="C84B31"/>
                </a:solidFill>
                <a:latin typeface="Calibri"/>
                <a:ea typeface="Microsoft YaHei"/>
                <a:cs typeface="Calibri"/>
              </a:rPr>
              <a:t>THE CENTRAL TENSION</a:t>
            </a:r>
          </a:p>
        </p:txBody>
      </p:sp>
      <p:sp>
        <p:nvSpPr>
          <p:cNvPr id="15" name="TextBox 14"/>
          <p:cNvSpPr txBox="1"/>
          <p:nvPr/>
        </p:nvSpPr>
        <p:spPr>
          <a:xfrm>
            <a:off x="868680" y="3593592"/>
            <a:ext cx="5074920" cy="420624"/>
          </a:xfrm>
          <a:prstGeom prst="rect">
            <a:avLst/>
          </a:prstGeom>
          <a:noFill/>
        </p:spPr>
        <p:txBody>
          <a:bodyPr wrap="square" anchor="t" lIns="0" tIns="0" rIns="0" bIns="0">
            <a:spAutoFit/>
          </a:bodyPr>
          <a:lstStyle/>
          <a:p>
            <a:pPr algn="l">
              <a:lnSpc>
                <a:spcPct val="102000"/>
              </a:lnSpc>
              <a:spcBef>
                <a:spcPts val="0"/>
              </a:spcBef>
              <a:spcAft>
                <a:spcPts val="0"/>
              </a:spcAft>
            </a:pPr>
            <a:r>
              <a:rPr sz="1530" b="1" i="1">
                <a:solidFill>
                  <a:srgbClr val="1B365D"/>
                </a:solidFill>
                <a:latin typeface="Georgia"/>
                <a:ea typeface="Microsoft YaHei"/>
                <a:cs typeface="Georgia"/>
              </a:rPr>
              <a:t>“Yet many people see English as a blessing.”</a:t>
            </a:r>
          </a:p>
        </p:txBody>
      </p:sp>
      <p:sp>
        <p:nvSpPr>
          <p:cNvPr id="16" name="TextBox 15"/>
          <p:cNvSpPr txBox="1"/>
          <p:nvPr/>
        </p:nvSpPr>
        <p:spPr>
          <a:xfrm>
            <a:off x="868680" y="4005072"/>
            <a:ext cx="4937760" cy="219456"/>
          </a:xfrm>
          <a:prstGeom prst="rect">
            <a:avLst/>
          </a:prstGeom>
          <a:noFill/>
        </p:spPr>
        <p:txBody>
          <a:bodyPr wrap="square" anchor="t" lIns="0" tIns="0" rIns="0" bIns="0">
            <a:spAutoFit/>
          </a:bodyPr>
          <a:lstStyle/>
          <a:p>
            <a:pPr algn="l">
              <a:lnSpc>
                <a:spcPct val="102000"/>
              </a:lnSpc>
              <a:spcBef>
                <a:spcPts val="0"/>
              </a:spcBef>
              <a:spcAft>
                <a:spcPts val="0"/>
              </a:spcAft>
            </a:pPr>
            <a:r>
              <a:rPr sz="1019" b="0" i="0">
                <a:solidFill>
                  <a:srgbClr val="2C3E50"/>
                </a:solidFill>
                <a:latin typeface="Calibri"/>
                <a:ea typeface="Microsoft YaHei"/>
                <a:cs typeface="Calibri"/>
              </a:rPr>
              <a:t>然而，许多人将英语视为一种福音。</a:t>
            </a:r>
          </a:p>
        </p:txBody>
      </p:sp>
      <p:sp>
        <p:nvSpPr>
          <p:cNvPr id="17" name="TextBox 16"/>
          <p:cNvSpPr txBox="1"/>
          <p:nvPr/>
        </p:nvSpPr>
        <p:spPr>
          <a:xfrm>
            <a:off x="658368" y="5010912"/>
            <a:ext cx="4937760" cy="182880"/>
          </a:xfrm>
          <a:prstGeom prst="rect">
            <a:avLst/>
          </a:prstGeom>
          <a:noFill/>
        </p:spPr>
        <p:txBody>
          <a:bodyPr wrap="square" anchor="t" lIns="0" tIns="0" rIns="0" bIns="0">
            <a:spAutoFit/>
          </a:bodyPr>
          <a:lstStyle/>
          <a:p>
            <a:pPr algn="l">
              <a:lnSpc>
                <a:spcPct val="102000"/>
              </a:lnSpc>
              <a:spcBef>
                <a:spcPts val="0"/>
              </a:spcBef>
              <a:spcAft>
                <a:spcPts val="0"/>
              </a:spcAft>
            </a:pPr>
            <a:r>
              <a:rPr sz="750" b="1" i="0" spc="100">
                <a:solidFill>
                  <a:srgbClr val="707984"/>
                </a:solidFill>
                <a:latin typeface="Calibri"/>
                <a:ea typeface="Microsoft YaHei"/>
                <a:cs typeface="Calibri"/>
              </a:rPr>
              <a:t>本讲结构  /  IN THIS DECK</a:t>
            </a:r>
          </a:p>
        </p:txBody>
      </p:sp>
      <p:sp>
        <p:nvSpPr>
          <p:cNvPr id="18" name="Rounded Rectangle 17"/>
          <p:cNvSpPr/>
          <p:nvPr/>
        </p:nvSpPr>
        <p:spPr>
          <a:xfrm>
            <a:off x="658368" y="5285232"/>
            <a:ext cx="1197864" cy="329184"/>
          </a:xfrm>
          <a:prstGeom prst="roundRect">
            <a:avLst>
              <a:gd name="adj" fmla="val 24000"/>
            </a:avLst>
          </a:prstGeom>
          <a:solidFill>
            <a:srgbClr val="FFFDF9"/>
          </a:solidFill>
          <a:ln w="8890">
            <a:solidFill>
              <a:srgbClr val="DFD7CB"/>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TextBox 18"/>
          <p:cNvSpPr txBox="1"/>
          <p:nvPr/>
        </p:nvSpPr>
        <p:spPr>
          <a:xfrm>
            <a:off x="713232" y="5353812"/>
            <a:ext cx="1088136" cy="237744"/>
          </a:xfrm>
          <a:prstGeom prst="rect">
            <a:avLst/>
          </a:prstGeom>
          <a:noFill/>
        </p:spPr>
        <p:txBody>
          <a:bodyPr wrap="square" anchor="t" lIns="0" tIns="0" rIns="0" bIns="0">
            <a:spAutoFit/>
          </a:bodyPr>
          <a:lstStyle/>
          <a:p>
            <a:pPr algn="ctr">
              <a:lnSpc>
                <a:spcPct val="102000"/>
              </a:lnSpc>
              <a:spcBef>
                <a:spcPts val="0"/>
              </a:spcBef>
              <a:spcAft>
                <a:spcPts val="0"/>
              </a:spcAft>
            </a:pPr>
            <a:r>
              <a:rPr sz="840" b="1" i="0" spc="20">
                <a:solidFill>
                  <a:srgbClr val="1B365D"/>
                </a:solidFill>
                <a:latin typeface="Calibri"/>
                <a:ea typeface="Microsoft YaHei"/>
                <a:cs typeface="Calibri"/>
              </a:rPr>
              <a:t>词汇解析</a:t>
            </a:r>
          </a:p>
        </p:txBody>
      </p:sp>
      <p:sp>
        <p:nvSpPr>
          <p:cNvPr id="20" name="Rounded Rectangle 19"/>
          <p:cNvSpPr/>
          <p:nvPr/>
        </p:nvSpPr>
        <p:spPr>
          <a:xfrm>
            <a:off x="2002536" y="5285232"/>
            <a:ext cx="1197864" cy="329184"/>
          </a:xfrm>
          <a:prstGeom prst="roundRect">
            <a:avLst>
              <a:gd name="adj" fmla="val 24000"/>
            </a:avLst>
          </a:prstGeom>
          <a:solidFill>
            <a:srgbClr val="FFFDF9"/>
          </a:solidFill>
          <a:ln w="8890">
            <a:solidFill>
              <a:srgbClr val="DFD7CB"/>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xtBox 20"/>
          <p:cNvSpPr txBox="1"/>
          <p:nvPr/>
        </p:nvSpPr>
        <p:spPr>
          <a:xfrm>
            <a:off x="2057400" y="5353812"/>
            <a:ext cx="1088136" cy="237744"/>
          </a:xfrm>
          <a:prstGeom prst="rect">
            <a:avLst/>
          </a:prstGeom>
          <a:noFill/>
        </p:spPr>
        <p:txBody>
          <a:bodyPr wrap="square" anchor="t" lIns="0" tIns="0" rIns="0" bIns="0">
            <a:spAutoFit/>
          </a:bodyPr>
          <a:lstStyle/>
          <a:p>
            <a:pPr algn="ctr">
              <a:lnSpc>
                <a:spcPct val="102000"/>
              </a:lnSpc>
              <a:spcBef>
                <a:spcPts val="0"/>
              </a:spcBef>
              <a:spcAft>
                <a:spcPts val="0"/>
              </a:spcAft>
            </a:pPr>
            <a:r>
              <a:rPr sz="840" b="1" i="0" spc="20">
                <a:solidFill>
                  <a:srgbClr val="1B365D"/>
                </a:solidFill>
                <a:latin typeface="Calibri"/>
                <a:ea typeface="Microsoft YaHei"/>
                <a:cs typeface="Calibri"/>
              </a:rPr>
              <a:t>英汉对照</a:t>
            </a:r>
          </a:p>
        </p:txBody>
      </p:sp>
      <p:sp>
        <p:nvSpPr>
          <p:cNvPr id="22" name="Rounded Rectangle 21"/>
          <p:cNvSpPr/>
          <p:nvPr/>
        </p:nvSpPr>
        <p:spPr>
          <a:xfrm>
            <a:off x="3346704" y="5285232"/>
            <a:ext cx="1197864" cy="329184"/>
          </a:xfrm>
          <a:prstGeom prst="roundRect">
            <a:avLst>
              <a:gd name="adj" fmla="val 24000"/>
            </a:avLst>
          </a:prstGeom>
          <a:solidFill>
            <a:srgbClr val="FFFDF9"/>
          </a:solidFill>
          <a:ln w="8890">
            <a:solidFill>
              <a:srgbClr val="DFD7CB"/>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xtBox 22"/>
          <p:cNvSpPr txBox="1"/>
          <p:nvPr/>
        </p:nvSpPr>
        <p:spPr>
          <a:xfrm>
            <a:off x="3401568" y="5353812"/>
            <a:ext cx="1088136" cy="237744"/>
          </a:xfrm>
          <a:prstGeom prst="rect">
            <a:avLst/>
          </a:prstGeom>
          <a:noFill/>
        </p:spPr>
        <p:txBody>
          <a:bodyPr wrap="square" anchor="t" lIns="0" tIns="0" rIns="0" bIns="0">
            <a:spAutoFit/>
          </a:bodyPr>
          <a:lstStyle/>
          <a:p>
            <a:pPr algn="ctr">
              <a:lnSpc>
                <a:spcPct val="102000"/>
              </a:lnSpc>
              <a:spcBef>
                <a:spcPts val="0"/>
              </a:spcBef>
              <a:spcAft>
                <a:spcPts val="0"/>
              </a:spcAft>
            </a:pPr>
            <a:r>
              <a:rPr sz="840" b="1" i="0" spc="20">
                <a:solidFill>
                  <a:srgbClr val="1B365D"/>
                </a:solidFill>
                <a:latin typeface="Calibri"/>
                <a:ea typeface="Microsoft YaHei"/>
                <a:cs typeface="Calibri"/>
              </a:rPr>
              <a:t>长难句拆解</a:t>
            </a:r>
          </a:p>
        </p:txBody>
      </p:sp>
      <p:sp>
        <p:nvSpPr>
          <p:cNvPr id="24" name="Rounded Rectangle 23"/>
          <p:cNvSpPr/>
          <p:nvPr/>
        </p:nvSpPr>
        <p:spPr>
          <a:xfrm>
            <a:off x="4690872" y="5285232"/>
            <a:ext cx="1197864" cy="329184"/>
          </a:xfrm>
          <a:prstGeom prst="roundRect">
            <a:avLst>
              <a:gd name="adj" fmla="val 24000"/>
            </a:avLst>
          </a:prstGeom>
          <a:solidFill>
            <a:srgbClr val="FFFDF9"/>
          </a:solidFill>
          <a:ln w="8890">
            <a:solidFill>
              <a:srgbClr val="DFD7CB"/>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TextBox 24"/>
          <p:cNvSpPr txBox="1"/>
          <p:nvPr/>
        </p:nvSpPr>
        <p:spPr>
          <a:xfrm>
            <a:off x="4745736" y="5353812"/>
            <a:ext cx="1088136" cy="237744"/>
          </a:xfrm>
          <a:prstGeom prst="rect">
            <a:avLst/>
          </a:prstGeom>
          <a:noFill/>
        </p:spPr>
        <p:txBody>
          <a:bodyPr wrap="square" anchor="t" lIns="0" tIns="0" rIns="0" bIns="0">
            <a:spAutoFit/>
          </a:bodyPr>
          <a:lstStyle/>
          <a:p>
            <a:pPr algn="ctr">
              <a:lnSpc>
                <a:spcPct val="102000"/>
              </a:lnSpc>
              <a:spcBef>
                <a:spcPts val="0"/>
              </a:spcBef>
              <a:spcAft>
                <a:spcPts val="0"/>
              </a:spcAft>
            </a:pPr>
            <a:r>
              <a:rPr sz="840" b="1" i="0" spc="20">
                <a:solidFill>
                  <a:srgbClr val="1B365D"/>
                </a:solidFill>
                <a:latin typeface="Calibri"/>
                <a:ea typeface="Microsoft YaHei"/>
                <a:cs typeface="Calibri"/>
              </a:rPr>
              <a:t>篇章结构</a:t>
            </a:r>
          </a:p>
        </p:txBody>
      </p:sp>
      <p:sp>
        <p:nvSpPr>
          <p:cNvPr id="26" name="Rounded Rectangle 25"/>
          <p:cNvSpPr/>
          <p:nvPr/>
        </p:nvSpPr>
        <p:spPr>
          <a:xfrm>
            <a:off x="8942832" y="6062472"/>
            <a:ext cx="2743200" cy="384048"/>
          </a:xfrm>
          <a:prstGeom prst="roundRect">
            <a:avLst>
              <a:gd name="adj" fmla="val 12000"/>
            </a:avLst>
          </a:prstGeom>
          <a:solidFill>
            <a:srgbClr val="1B365D">
              <a:alpha val="88000"/>
            </a:srgbClr>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xtBox 26"/>
          <p:cNvSpPr txBox="1"/>
          <p:nvPr/>
        </p:nvSpPr>
        <p:spPr>
          <a:xfrm>
            <a:off x="9052560" y="6158484"/>
            <a:ext cx="2532888" cy="164592"/>
          </a:xfrm>
          <a:prstGeom prst="rect">
            <a:avLst/>
          </a:prstGeom>
          <a:noFill/>
        </p:spPr>
        <p:txBody>
          <a:bodyPr wrap="square" anchor="t" lIns="0" tIns="0" rIns="0" bIns="0">
            <a:spAutoFit/>
          </a:bodyPr>
          <a:lstStyle/>
          <a:p>
            <a:pPr algn="ctr">
              <a:lnSpc>
                <a:spcPct val="102000"/>
              </a:lnSpc>
              <a:spcBef>
                <a:spcPts val="0"/>
              </a:spcBef>
              <a:spcAft>
                <a:spcPts val="0"/>
              </a:spcAft>
            </a:pPr>
            <a:r>
              <a:rPr sz="720" b="1" i="0" spc="100">
                <a:solidFill>
                  <a:srgbClr val="FFFFFF"/>
                </a:solidFill>
                <a:latin typeface="Calibri"/>
                <a:ea typeface="Microsoft YaHei"/>
                <a:cs typeface="Calibri"/>
              </a:rPr>
              <a:t>A CURSE   ↔   A BLESSING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8F5"/>
        </a:solidFill>
        <a:effectLst/>
      </p:bgPr>
    </p:bg>
    <p:spTree>
      <p:nvGrpSpPr>
        <p:cNvPr id="1" name=""/>
        <p:cNvGrpSpPr/>
        <p:nvPr/>
      </p:nvGrpSpPr>
      <p:grpSpPr/>
      <p:sp>
        <p:nvSpPr>
          <p:cNvPr id="2" name="Rectangle 1"/>
          <p:cNvSpPr/>
          <p:nvPr/>
        </p:nvSpPr>
        <p:spPr>
          <a:xfrm>
            <a:off x="0" y="0"/>
            <a:ext cx="12191695" cy="402336"/>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Rectangle 2"/>
          <p:cNvSpPr/>
          <p:nvPr/>
        </p:nvSpPr>
        <p:spPr>
          <a:xfrm>
            <a:off x="502920" y="137160"/>
            <a:ext cx="77724" cy="128016"/>
          </a:xfrm>
          <a:prstGeom prst="rect">
            <a:avLst/>
          </a:prstGeom>
          <a:solidFill>
            <a:srgbClr val="C84B3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extBox 3"/>
          <p:cNvSpPr txBox="1"/>
          <p:nvPr/>
        </p:nvSpPr>
        <p:spPr>
          <a:xfrm>
            <a:off x="685800" y="123444"/>
            <a:ext cx="6400800" cy="164592"/>
          </a:xfrm>
          <a:prstGeom prst="rect">
            <a:avLst/>
          </a:prstGeom>
          <a:noFill/>
        </p:spPr>
        <p:txBody>
          <a:bodyPr wrap="square" anchor="t" lIns="0" tIns="0" rIns="0" bIns="0">
            <a:spAutoFit/>
          </a:bodyPr>
          <a:lstStyle/>
          <a:p>
            <a:pPr algn="l">
              <a:lnSpc>
                <a:spcPct val="102000"/>
              </a:lnSpc>
              <a:spcBef>
                <a:spcPts val="0"/>
              </a:spcBef>
              <a:spcAft>
                <a:spcPts val="0"/>
              </a:spcAft>
            </a:pPr>
            <a:r>
              <a:rPr sz="780" b="1" i="0" spc="110">
                <a:solidFill>
                  <a:srgbClr val="FFFFFF"/>
                </a:solidFill>
                <a:latin typeface="Calibri"/>
                <a:ea typeface="Microsoft YaHei"/>
                <a:cs typeface="Calibri"/>
              </a:rPr>
              <a:t>LANGUAGE &amp; CULTURE   /   PARAGRAPHS 7–8</a:t>
            </a:r>
          </a:p>
        </p:txBody>
      </p:sp>
      <p:sp>
        <p:nvSpPr>
          <p:cNvPr id="5" name="Rectangle 4"/>
          <p:cNvSpPr/>
          <p:nvPr/>
        </p:nvSpPr>
        <p:spPr>
          <a:xfrm>
            <a:off x="9710928" y="185623"/>
            <a:ext cx="96012" cy="31089"/>
          </a:xfrm>
          <a:prstGeom prst="rect">
            <a:avLst/>
          </a:prstGeom>
          <a:solidFill>
            <a:srgbClr val="6C7F9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Rectangle 5"/>
          <p:cNvSpPr/>
          <p:nvPr/>
        </p:nvSpPr>
        <p:spPr>
          <a:xfrm>
            <a:off x="9852659" y="185623"/>
            <a:ext cx="96012" cy="31089"/>
          </a:xfrm>
          <a:prstGeom prst="rect">
            <a:avLst/>
          </a:prstGeom>
          <a:solidFill>
            <a:srgbClr val="C84B3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 name="Rectangle 6"/>
          <p:cNvSpPr/>
          <p:nvPr/>
        </p:nvSpPr>
        <p:spPr>
          <a:xfrm>
            <a:off x="9994392" y="185623"/>
            <a:ext cx="96012" cy="31089"/>
          </a:xfrm>
          <a:prstGeom prst="rect">
            <a:avLst/>
          </a:prstGeom>
          <a:solidFill>
            <a:srgbClr val="6C7F9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ectangle 7"/>
          <p:cNvSpPr/>
          <p:nvPr/>
        </p:nvSpPr>
        <p:spPr>
          <a:xfrm>
            <a:off x="10136124" y="185623"/>
            <a:ext cx="96012" cy="31089"/>
          </a:xfrm>
          <a:prstGeom prst="rect">
            <a:avLst/>
          </a:prstGeom>
          <a:solidFill>
            <a:srgbClr val="6C7F9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ectangle 8"/>
          <p:cNvSpPr/>
          <p:nvPr/>
        </p:nvSpPr>
        <p:spPr>
          <a:xfrm>
            <a:off x="10277855" y="185623"/>
            <a:ext cx="96012" cy="31089"/>
          </a:xfrm>
          <a:prstGeom prst="rect">
            <a:avLst/>
          </a:prstGeom>
          <a:solidFill>
            <a:srgbClr val="6C7F9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Rectangle 9"/>
          <p:cNvSpPr/>
          <p:nvPr/>
        </p:nvSpPr>
        <p:spPr>
          <a:xfrm>
            <a:off x="10419588" y="185623"/>
            <a:ext cx="96012" cy="31089"/>
          </a:xfrm>
          <a:prstGeom prst="rect">
            <a:avLst/>
          </a:prstGeom>
          <a:solidFill>
            <a:srgbClr val="6C7F9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ectangle 10"/>
          <p:cNvSpPr/>
          <p:nvPr/>
        </p:nvSpPr>
        <p:spPr>
          <a:xfrm>
            <a:off x="10561319" y="185623"/>
            <a:ext cx="96012" cy="31089"/>
          </a:xfrm>
          <a:prstGeom prst="rect">
            <a:avLst/>
          </a:prstGeom>
          <a:solidFill>
            <a:srgbClr val="6C7F9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Rectangle 11"/>
          <p:cNvSpPr/>
          <p:nvPr/>
        </p:nvSpPr>
        <p:spPr>
          <a:xfrm>
            <a:off x="10703051" y="185623"/>
            <a:ext cx="96012" cy="31089"/>
          </a:xfrm>
          <a:prstGeom prst="rect">
            <a:avLst/>
          </a:prstGeom>
          <a:solidFill>
            <a:srgbClr val="6C7F9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TextBox 12"/>
          <p:cNvSpPr txBox="1"/>
          <p:nvPr/>
        </p:nvSpPr>
        <p:spPr>
          <a:xfrm>
            <a:off x="10917936" y="118872"/>
            <a:ext cx="777240" cy="164592"/>
          </a:xfrm>
          <a:prstGeom prst="rect">
            <a:avLst/>
          </a:prstGeom>
          <a:noFill/>
        </p:spPr>
        <p:txBody>
          <a:bodyPr wrap="square" anchor="t" lIns="0" tIns="0" rIns="0" bIns="0">
            <a:spAutoFit/>
          </a:bodyPr>
          <a:lstStyle/>
          <a:p>
            <a:pPr algn="r">
              <a:lnSpc>
                <a:spcPct val="102000"/>
              </a:lnSpc>
              <a:spcBef>
                <a:spcPts val="0"/>
              </a:spcBef>
              <a:spcAft>
                <a:spcPts val="0"/>
              </a:spcAft>
            </a:pPr>
            <a:r>
              <a:rPr sz="760" b="1" i="0" spc="50">
                <a:solidFill>
                  <a:srgbClr val="FFFFFF"/>
                </a:solidFill>
                <a:latin typeface="Calibri"/>
                <a:ea typeface="Microsoft YaHei"/>
                <a:cs typeface="Calibri"/>
              </a:rPr>
              <a:t>02 / 08</a:t>
            </a:r>
          </a:p>
        </p:txBody>
      </p:sp>
      <p:sp>
        <p:nvSpPr>
          <p:cNvPr id="14" name="TextBox 13"/>
          <p:cNvSpPr txBox="1"/>
          <p:nvPr/>
        </p:nvSpPr>
        <p:spPr>
          <a:xfrm>
            <a:off x="502920" y="576072"/>
            <a:ext cx="10972800" cy="438912"/>
          </a:xfrm>
          <a:prstGeom prst="rect">
            <a:avLst/>
          </a:prstGeom>
          <a:noFill/>
        </p:spPr>
        <p:txBody>
          <a:bodyPr wrap="square" anchor="t" lIns="0" tIns="0" rIns="0" bIns="0">
            <a:spAutoFit/>
          </a:bodyPr>
          <a:lstStyle/>
          <a:p>
            <a:pPr algn="l">
              <a:lnSpc>
                <a:spcPct val="102000"/>
              </a:lnSpc>
              <a:spcBef>
                <a:spcPts val="0"/>
              </a:spcBef>
              <a:spcAft>
                <a:spcPts val="0"/>
              </a:spcAft>
            </a:pPr>
            <a:r>
              <a:rPr sz="2350" b="1" i="0">
                <a:solidFill>
                  <a:srgbClr val="1B365D"/>
                </a:solidFill>
                <a:latin typeface="Georgia"/>
                <a:ea typeface="Microsoft YaHei"/>
                <a:cs typeface="Georgia"/>
              </a:rPr>
              <a:t>课本旁注核心词汇表</a:t>
            </a:r>
          </a:p>
        </p:txBody>
      </p:sp>
      <p:sp>
        <p:nvSpPr>
          <p:cNvPr id="15" name="TextBox 14"/>
          <p:cNvSpPr txBox="1"/>
          <p:nvPr/>
        </p:nvSpPr>
        <p:spPr>
          <a:xfrm>
            <a:off x="502920" y="1042415"/>
            <a:ext cx="10789920" cy="173736"/>
          </a:xfrm>
          <a:prstGeom prst="rect">
            <a:avLst/>
          </a:prstGeom>
          <a:noFill/>
        </p:spPr>
        <p:txBody>
          <a:bodyPr wrap="square" anchor="t" lIns="0" tIns="0" rIns="0" bIns="0">
            <a:spAutoFit/>
          </a:bodyPr>
          <a:lstStyle/>
          <a:p>
            <a:pPr algn="l">
              <a:lnSpc>
                <a:spcPct val="102000"/>
              </a:lnSpc>
              <a:spcBef>
                <a:spcPts val="0"/>
              </a:spcBef>
              <a:spcAft>
                <a:spcPts val="0"/>
              </a:spcAft>
            </a:pPr>
            <a:r>
              <a:rPr sz="780" b="1" i="0" spc="110">
                <a:solidFill>
                  <a:srgbClr val="707984"/>
                </a:solidFill>
                <a:latin typeface="Calibri"/>
                <a:ea typeface="Microsoft YaHei"/>
                <a:cs typeface="Calibri"/>
              </a:rPr>
              <a:t>CORE VOCABULARY  ·  SIX WORDS THAT UNLOCK THE SOUTH AFRICAN CASE</a:t>
            </a:r>
          </a:p>
        </p:txBody>
      </p:sp>
      <p:sp>
        <p:nvSpPr>
          <p:cNvPr id="16" name="Rectangle 15"/>
          <p:cNvSpPr/>
          <p:nvPr/>
        </p:nvSpPr>
        <p:spPr>
          <a:xfrm>
            <a:off x="502920" y="1243584"/>
            <a:ext cx="987552" cy="32004"/>
          </a:xfrm>
          <a:prstGeom prst="rect">
            <a:avLst/>
          </a:prstGeom>
          <a:solidFill>
            <a:srgbClr val="C84B3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ounded Rectangle 16"/>
          <p:cNvSpPr/>
          <p:nvPr/>
        </p:nvSpPr>
        <p:spPr>
          <a:xfrm>
            <a:off x="502920" y="1399032"/>
            <a:ext cx="3611880" cy="2322576"/>
          </a:xfrm>
          <a:prstGeom prst="roundRect">
            <a:avLst>
              <a:gd name="adj" fmla="val 3500"/>
            </a:avLst>
          </a:prstGeom>
          <a:solidFill>
            <a:srgbClr val="FFFDF9"/>
          </a:solidFill>
          <a:ln w="10160">
            <a:solidFill>
              <a:srgbClr val="DFD7CB"/>
            </a:solidFill>
          </a:ln>
          <a:effectLst>
            <a:outerShdw blurRad="152400" dist="38100" dir="5400000" algn="ctr" rotWithShape="0">
              <a:srgbClr val="1B365D">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Rectangle 17"/>
          <p:cNvSpPr/>
          <p:nvPr/>
        </p:nvSpPr>
        <p:spPr>
          <a:xfrm>
            <a:off x="502920" y="1399032"/>
            <a:ext cx="3611880" cy="50292"/>
          </a:xfrm>
          <a:prstGeom prst="rect">
            <a:avLst/>
          </a:prstGeom>
          <a:solidFill>
            <a:srgbClr val="C84B3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TextBox 18"/>
          <p:cNvSpPr txBox="1"/>
          <p:nvPr/>
        </p:nvSpPr>
        <p:spPr>
          <a:xfrm>
            <a:off x="3383280" y="1563624"/>
            <a:ext cx="502920" cy="146304"/>
          </a:xfrm>
          <a:prstGeom prst="rect">
            <a:avLst/>
          </a:prstGeom>
          <a:noFill/>
        </p:spPr>
        <p:txBody>
          <a:bodyPr wrap="square" anchor="t" lIns="0" tIns="0" rIns="0" bIns="0">
            <a:spAutoFit/>
          </a:bodyPr>
          <a:lstStyle/>
          <a:p>
            <a:pPr algn="r">
              <a:lnSpc>
                <a:spcPct val="102000"/>
              </a:lnSpc>
              <a:spcBef>
                <a:spcPts val="0"/>
              </a:spcBef>
              <a:spcAft>
                <a:spcPts val="0"/>
              </a:spcAft>
            </a:pPr>
            <a:r>
              <a:rPr sz="750" b="1" i="0" spc="70">
                <a:solidFill>
                  <a:srgbClr val="707984"/>
                </a:solidFill>
                <a:latin typeface="Calibri"/>
                <a:ea typeface="Microsoft YaHei"/>
                <a:cs typeface="Calibri"/>
              </a:rPr>
              <a:t>01</a:t>
            </a:r>
          </a:p>
        </p:txBody>
      </p:sp>
      <p:sp>
        <p:nvSpPr>
          <p:cNvPr id="20" name="TextBox 19"/>
          <p:cNvSpPr txBox="1"/>
          <p:nvPr/>
        </p:nvSpPr>
        <p:spPr>
          <a:xfrm>
            <a:off x="740664" y="1591056"/>
            <a:ext cx="2788920" cy="338328"/>
          </a:xfrm>
          <a:prstGeom prst="rect">
            <a:avLst/>
          </a:prstGeom>
          <a:noFill/>
        </p:spPr>
        <p:txBody>
          <a:bodyPr wrap="square" anchor="t" lIns="0" tIns="0" rIns="0" bIns="0">
            <a:spAutoFit/>
          </a:bodyPr>
          <a:lstStyle/>
          <a:p>
            <a:pPr algn="l">
              <a:lnSpc>
                <a:spcPct val="102000"/>
              </a:lnSpc>
              <a:spcBef>
                <a:spcPts val="0"/>
              </a:spcBef>
              <a:spcAft>
                <a:spcPts val="0"/>
              </a:spcAft>
            </a:pPr>
            <a:r>
              <a:rPr sz="2100" b="1" i="0">
                <a:solidFill>
                  <a:srgbClr val="1B365D"/>
                </a:solidFill>
                <a:latin typeface="Georgia"/>
                <a:ea typeface="Microsoft YaHei"/>
                <a:cs typeface="Georgia"/>
              </a:rPr>
              <a:t>endanger</a:t>
            </a:r>
          </a:p>
        </p:txBody>
      </p:sp>
      <p:sp>
        <p:nvSpPr>
          <p:cNvPr id="21" name="TextBox 20"/>
          <p:cNvSpPr txBox="1"/>
          <p:nvPr/>
        </p:nvSpPr>
        <p:spPr>
          <a:xfrm>
            <a:off x="740664" y="1956816"/>
            <a:ext cx="3154680" cy="201168"/>
          </a:xfrm>
          <a:prstGeom prst="rect">
            <a:avLst/>
          </a:prstGeom>
          <a:noFill/>
        </p:spPr>
        <p:txBody>
          <a:bodyPr wrap="square" anchor="t" lIns="0" tIns="0" rIns="0" bIns="0">
            <a:spAutoFit/>
          </a:bodyPr>
          <a:lstStyle/>
          <a:p>
            <a:pPr algn="l">
              <a:lnSpc>
                <a:spcPct val="102000"/>
              </a:lnSpc>
              <a:spcBef>
                <a:spcPts val="0"/>
              </a:spcBef>
              <a:spcAft>
                <a:spcPts val="0"/>
              </a:spcAft>
            </a:pPr>
            <a:r>
              <a:rPr sz="890" b="1" i="0">
                <a:solidFill>
                  <a:srgbClr val="1B365D"/>
                </a:solidFill>
                <a:latin typeface="Calibri"/>
                <a:ea typeface="Microsoft YaHei"/>
                <a:cs typeface="Calibri"/>
              </a:rPr>
              <a:t>/ɪnˈdeɪndʒə(r)/  v.</a:t>
            </a:r>
          </a:p>
        </p:txBody>
      </p:sp>
      <p:sp>
        <p:nvSpPr>
          <p:cNvPr id="22" name="Rectangle 21"/>
          <p:cNvSpPr/>
          <p:nvPr/>
        </p:nvSpPr>
        <p:spPr>
          <a:xfrm>
            <a:off x="740664" y="2276856"/>
            <a:ext cx="3136392" cy="10972"/>
          </a:xfrm>
          <a:prstGeom prst="rect">
            <a:avLst/>
          </a:prstGeom>
          <a:solidFill>
            <a:srgbClr val="DFD7CB"/>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xtBox 22"/>
          <p:cNvSpPr txBox="1"/>
          <p:nvPr/>
        </p:nvSpPr>
        <p:spPr>
          <a:xfrm>
            <a:off x="740664" y="2350008"/>
            <a:ext cx="3136392" cy="713232"/>
          </a:xfrm>
          <a:prstGeom prst="rect">
            <a:avLst/>
          </a:prstGeom>
          <a:noFill/>
        </p:spPr>
        <p:txBody>
          <a:bodyPr wrap="square" anchor="t" lIns="0" tIns="0" rIns="0" bIns="0">
            <a:spAutoFit/>
          </a:bodyPr>
          <a:lstStyle/>
          <a:p>
            <a:pPr algn="l">
              <a:lnSpc>
                <a:spcPct val="108000"/>
              </a:lnSpc>
              <a:spcBef>
                <a:spcPts val="0"/>
              </a:spcBef>
              <a:spcAft>
                <a:spcPts val="0"/>
              </a:spcAft>
            </a:pPr>
            <a:r>
              <a:rPr sz="969" b="0" i="0">
                <a:solidFill>
                  <a:srgbClr val="2C3E50"/>
                </a:solidFill>
                <a:latin typeface="Calibri"/>
                <a:ea typeface="Microsoft YaHei"/>
                <a:cs typeface="Calibri"/>
              </a:rPr>
              <a:t>to put sb./sth. in a situation in which they could be harmed or damaged</a:t>
            </a:r>
          </a:p>
        </p:txBody>
      </p:sp>
      <p:sp>
        <p:nvSpPr>
          <p:cNvPr id="24" name="TextBox 23"/>
          <p:cNvSpPr txBox="1"/>
          <p:nvPr/>
        </p:nvSpPr>
        <p:spPr>
          <a:xfrm>
            <a:off x="740664" y="3172968"/>
            <a:ext cx="3136392" cy="292608"/>
          </a:xfrm>
          <a:prstGeom prst="rect">
            <a:avLst/>
          </a:prstGeom>
          <a:noFill/>
        </p:spPr>
        <p:txBody>
          <a:bodyPr wrap="square" anchor="t" lIns="0" tIns="0" rIns="0" bIns="0">
            <a:spAutoFit/>
          </a:bodyPr>
          <a:lstStyle/>
          <a:p>
            <a:pPr algn="l">
              <a:lnSpc>
                <a:spcPct val="102000"/>
              </a:lnSpc>
              <a:spcBef>
                <a:spcPts val="0"/>
              </a:spcBef>
              <a:spcAft>
                <a:spcPts val="0"/>
              </a:spcAft>
            </a:pPr>
            <a:r>
              <a:rPr sz="1120" b="1" i="0">
                <a:solidFill>
                  <a:srgbClr val="C84B31"/>
                </a:solidFill>
                <a:latin typeface="Calibri"/>
                <a:ea typeface="Microsoft YaHei"/>
                <a:cs typeface="Calibri"/>
              </a:rPr>
              <a:t>使遭危险；危及；危害</a:t>
            </a:r>
          </a:p>
        </p:txBody>
      </p:sp>
      <p:sp>
        <p:nvSpPr>
          <p:cNvPr id="25" name="Rounded Rectangle 24"/>
          <p:cNvSpPr/>
          <p:nvPr/>
        </p:nvSpPr>
        <p:spPr>
          <a:xfrm>
            <a:off x="4315968" y="1399032"/>
            <a:ext cx="3611880" cy="2322576"/>
          </a:xfrm>
          <a:prstGeom prst="roundRect">
            <a:avLst>
              <a:gd name="adj" fmla="val 3500"/>
            </a:avLst>
          </a:prstGeom>
          <a:solidFill>
            <a:srgbClr val="FFFDF9"/>
          </a:solidFill>
          <a:ln w="10160">
            <a:solidFill>
              <a:srgbClr val="DFD7CB"/>
            </a:solidFill>
          </a:ln>
          <a:effectLst>
            <a:outerShdw blurRad="152400" dist="38100" dir="5400000" algn="ctr" rotWithShape="0">
              <a:srgbClr val="1B365D">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Rectangle 25"/>
          <p:cNvSpPr/>
          <p:nvPr/>
        </p:nvSpPr>
        <p:spPr>
          <a:xfrm>
            <a:off x="4315968" y="1399032"/>
            <a:ext cx="3611880" cy="50292"/>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xtBox 26"/>
          <p:cNvSpPr txBox="1"/>
          <p:nvPr/>
        </p:nvSpPr>
        <p:spPr>
          <a:xfrm>
            <a:off x="7196327" y="1563624"/>
            <a:ext cx="502920" cy="146304"/>
          </a:xfrm>
          <a:prstGeom prst="rect">
            <a:avLst/>
          </a:prstGeom>
          <a:noFill/>
        </p:spPr>
        <p:txBody>
          <a:bodyPr wrap="square" anchor="t" lIns="0" tIns="0" rIns="0" bIns="0">
            <a:spAutoFit/>
          </a:bodyPr>
          <a:lstStyle/>
          <a:p>
            <a:pPr algn="r">
              <a:lnSpc>
                <a:spcPct val="102000"/>
              </a:lnSpc>
              <a:spcBef>
                <a:spcPts val="0"/>
              </a:spcBef>
              <a:spcAft>
                <a:spcPts val="0"/>
              </a:spcAft>
            </a:pPr>
            <a:r>
              <a:rPr sz="750" b="1" i="0" spc="70">
                <a:solidFill>
                  <a:srgbClr val="707984"/>
                </a:solidFill>
                <a:latin typeface="Calibri"/>
                <a:ea typeface="Microsoft YaHei"/>
                <a:cs typeface="Calibri"/>
              </a:rPr>
              <a:t>02</a:t>
            </a:r>
          </a:p>
        </p:txBody>
      </p:sp>
      <p:sp>
        <p:nvSpPr>
          <p:cNvPr id="28" name="TextBox 27"/>
          <p:cNvSpPr txBox="1"/>
          <p:nvPr/>
        </p:nvSpPr>
        <p:spPr>
          <a:xfrm>
            <a:off x="4553712" y="1591056"/>
            <a:ext cx="2788920" cy="338328"/>
          </a:xfrm>
          <a:prstGeom prst="rect">
            <a:avLst/>
          </a:prstGeom>
          <a:noFill/>
        </p:spPr>
        <p:txBody>
          <a:bodyPr wrap="square" anchor="t" lIns="0" tIns="0" rIns="0" bIns="0">
            <a:spAutoFit/>
          </a:bodyPr>
          <a:lstStyle/>
          <a:p>
            <a:pPr algn="l">
              <a:lnSpc>
                <a:spcPct val="102000"/>
              </a:lnSpc>
              <a:spcBef>
                <a:spcPts val="0"/>
              </a:spcBef>
              <a:spcAft>
                <a:spcPts val="0"/>
              </a:spcAft>
            </a:pPr>
            <a:r>
              <a:rPr sz="2100" b="1" i="0">
                <a:solidFill>
                  <a:srgbClr val="1B365D"/>
                </a:solidFill>
                <a:latin typeface="Georgia"/>
                <a:ea typeface="Microsoft YaHei"/>
                <a:cs typeface="Georgia"/>
              </a:rPr>
              <a:t>apparatus</a:t>
            </a:r>
          </a:p>
        </p:txBody>
      </p:sp>
      <p:sp>
        <p:nvSpPr>
          <p:cNvPr id="29" name="TextBox 28"/>
          <p:cNvSpPr txBox="1"/>
          <p:nvPr/>
        </p:nvSpPr>
        <p:spPr>
          <a:xfrm>
            <a:off x="4553712" y="1956816"/>
            <a:ext cx="3154680" cy="201168"/>
          </a:xfrm>
          <a:prstGeom prst="rect">
            <a:avLst/>
          </a:prstGeom>
          <a:noFill/>
        </p:spPr>
        <p:txBody>
          <a:bodyPr wrap="square" anchor="t" lIns="0" tIns="0" rIns="0" bIns="0">
            <a:spAutoFit/>
          </a:bodyPr>
          <a:lstStyle/>
          <a:p>
            <a:pPr algn="l">
              <a:lnSpc>
                <a:spcPct val="102000"/>
              </a:lnSpc>
              <a:spcBef>
                <a:spcPts val="0"/>
              </a:spcBef>
              <a:spcAft>
                <a:spcPts val="0"/>
              </a:spcAft>
            </a:pPr>
            <a:r>
              <a:rPr sz="890" b="1" i="0">
                <a:solidFill>
                  <a:srgbClr val="C84B31"/>
                </a:solidFill>
                <a:latin typeface="Calibri"/>
                <a:ea typeface="Microsoft YaHei"/>
                <a:cs typeface="Calibri"/>
              </a:rPr>
              <a:t>/ˌæpəˈreɪtəs/  n.</a:t>
            </a:r>
          </a:p>
        </p:txBody>
      </p:sp>
      <p:sp>
        <p:nvSpPr>
          <p:cNvPr id="30" name="Rectangle 29"/>
          <p:cNvSpPr/>
          <p:nvPr/>
        </p:nvSpPr>
        <p:spPr>
          <a:xfrm>
            <a:off x="4553712" y="2276856"/>
            <a:ext cx="3136392" cy="10972"/>
          </a:xfrm>
          <a:prstGeom prst="rect">
            <a:avLst/>
          </a:prstGeom>
          <a:solidFill>
            <a:srgbClr val="DFD7CB"/>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1" name="TextBox 30"/>
          <p:cNvSpPr txBox="1"/>
          <p:nvPr/>
        </p:nvSpPr>
        <p:spPr>
          <a:xfrm>
            <a:off x="4553712" y="2350008"/>
            <a:ext cx="3136392" cy="713232"/>
          </a:xfrm>
          <a:prstGeom prst="rect">
            <a:avLst/>
          </a:prstGeom>
          <a:noFill/>
        </p:spPr>
        <p:txBody>
          <a:bodyPr wrap="square" anchor="t" lIns="0" tIns="0" rIns="0" bIns="0">
            <a:spAutoFit/>
          </a:bodyPr>
          <a:lstStyle/>
          <a:p>
            <a:pPr algn="l">
              <a:lnSpc>
                <a:spcPct val="108000"/>
              </a:lnSpc>
              <a:spcBef>
                <a:spcPts val="0"/>
              </a:spcBef>
              <a:spcAft>
                <a:spcPts val="0"/>
              </a:spcAft>
            </a:pPr>
            <a:r>
              <a:rPr sz="969" b="0" i="0">
                <a:solidFill>
                  <a:srgbClr val="2C3E50"/>
                </a:solidFill>
                <a:latin typeface="Calibri"/>
                <a:ea typeface="Microsoft YaHei"/>
                <a:cs typeface="Calibri"/>
              </a:rPr>
              <a:t>structure or method of operation</a:t>
            </a:r>
          </a:p>
        </p:txBody>
      </p:sp>
      <p:sp>
        <p:nvSpPr>
          <p:cNvPr id="32" name="TextBox 31"/>
          <p:cNvSpPr txBox="1"/>
          <p:nvPr/>
        </p:nvSpPr>
        <p:spPr>
          <a:xfrm>
            <a:off x="4553712" y="3172968"/>
            <a:ext cx="3136392" cy="292608"/>
          </a:xfrm>
          <a:prstGeom prst="rect">
            <a:avLst/>
          </a:prstGeom>
          <a:noFill/>
        </p:spPr>
        <p:txBody>
          <a:bodyPr wrap="square" anchor="t" lIns="0" tIns="0" rIns="0" bIns="0">
            <a:spAutoFit/>
          </a:bodyPr>
          <a:lstStyle/>
          <a:p>
            <a:pPr algn="l">
              <a:lnSpc>
                <a:spcPct val="102000"/>
              </a:lnSpc>
              <a:spcBef>
                <a:spcPts val="0"/>
              </a:spcBef>
              <a:spcAft>
                <a:spcPts val="0"/>
              </a:spcAft>
            </a:pPr>
            <a:r>
              <a:rPr sz="1120" b="1" i="0">
                <a:solidFill>
                  <a:srgbClr val="C84B31"/>
                </a:solidFill>
                <a:latin typeface="Calibri"/>
                <a:ea typeface="Microsoft YaHei"/>
                <a:cs typeface="Calibri"/>
              </a:rPr>
              <a:t>组织，机构</a:t>
            </a:r>
          </a:p>
        </p:txBody>
      </p:sp>
      <p:sp>
        <p:nvSpPr>
          <p:cNvPr id="33" name="Rounded Rectangle 32"/>
          <p:cNvSpPr/>
          <p:nvPr/>
        </p:nvSpPr>
        <p:spPr>
          <a:xfrm>
            <a:off x="8129016" y="1399032"/>
            <a:ext cx="3611880" cy="2322576"/>
          </a:xfrm>
          <a:prstGeom prst="roundRect">
            <a:avLst>
              <a:gd name="adj" fmla="val 3500"/>
            </a:avLst>
          </a:prstGeom>
          <a:solidFill>
            <a:srgbClr val="FFFDF9"/>
          </a:solidFill>
          <a:ln w="10160">
            <a:solidFill>
              <a:srgbClr val="DFD7CB"/>
            </a:solidFill>
          </a:ln>
          <a:effectLst>
            <a:outerShdw blurRad="152400" dist="38100" dir="5400000" algn="ctr" rotWithShape="0">
              <a:srgbClr val="1B365D">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Rectangle 33"/>
          <p:cNvSpPr/>
          <p:nvPr/>
        </p:nvSpPr>
        <p:spPr>
          <a:xfrm>
            <a:off x="8129016" y="1399032"/>
            <a:ext cx="3611880" cy="50292"/>
          </a:xfrm>
          <a:prstGeom prst="rect">
            <a:avLst/>
          </a:prstGeom>
          <a:solidFill>
            <a:srgbClr val="C84B3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xtBox 34"/>
          <p:cNvSpPr txBox="1"/>
          <p:nvPr/>
        </p:nvSpPr>
        <p:spPr>
          <a:xfrm>
            <a:off x="11009376" y="1563624"/>
            <a:ext cx="502920" cy="146304"/>
          </a:xfrm>
          <a:prstGeom prst="rect">
            <a:avLst/>
          </a:prstGeom>
          <a:noFill/>
        </p:spPr>
        <p:txBody>
          <a:bodyPr wrap="square" anchor="t" lIns="0" tIns="0" rIns="0" bIns="0">
            <a:spAutoFit/>
          </a:bodyPr>
          <a:lstStyle/>
          <a:p>
            <a:pPr algn="r">
              <a:lnSpc>
                <a:spcPct val="102000"/>
              </a:lnSpc>
              <a:spcBef>
                <a:spcPts val="0"/>
              </a:spcBef>
              <a:spcAft>
                <a:spcPts val="0"/>
              </a:spcAft>
            </a:pPr>
            <a:r>
              <a:rPr sz="750" b="1" i="0" spc="70">
                <a:solidFill>
                  <a:srgbClr val="707984"/>
                </a:solidFill>
                <a:latin typeface="Calibri"/>
                <a:ea typeface="Microsoft YaHei"/>
                <a:cs typeface="Calibri"/>
              </a:rPr>
              <a:t>03</a:t>
            </a:r>
          </a:p>
        </p:txBody>
      </p:sp>
      <p:sp>
        <p:nvSpPr>
          <p:cNvPr id="36" name="TextBox 35"/>
          <p:cNvSpPr txBox="1"/>
          <p:nvPr/>
        </p:nvSpPr>
        <p:spPr>
          <a:xfrm>
            <a:off x="8366760" y="1591056"/>
            <a:ext cx="2788920" cy="338328"/>
          </a:xfrm>
          <a:prstGeom prst="rect">
            <a:avLst/>
          </a:prstGeom>
          <a:noFill/>
        </p:spPr>
        <p:txBody>
          <a:bodyPr wrap="square" anchor="t" lIns="0" tIns="0" rIns="0" bIns="0">
            <a:spAutoFit/>
          </a:bodyPr>
          <a:lstStyle/>
          <a:p>
            <a:pPr algn="l">
              <a:lnSpc>
                <a:spcPct val="102000"/>
              </a:lnSpc>
              <a:spcBef>
                <a:spcPts val="0"/>
              </a:spcBef>
              <a:spcAft>
                <a:spcPts val="0"/>
              </a:spcAft>
            </a:pPr>
            <a:r>
              <a:rPr sz="2100" b="1" i="0">
                <a:solidFill>
                  <a:srgbClr val="1B365D"/>
                </a:solidFill>
                <a:latin typeface="Georgia"/>
                <a:ea typeface="Microsoft YaHei"/>
                <a:cs typeface="Georgia"/>
              </a:rPr>
              <a:t>apartheid</a:t>
            </a:r>
          </a:p>
        </p:txBody>
      </p:sp>
      <p:sp>
        <p:nvSpPr>
          <p:cNvPr id="37" name="TextBox 36"/>
          <p:cNvSpPr txBox="1"/>
          <p:nvPr/>
        </p:nvSpPr>
        <p:spPr>
          <a:xfrm>
            <a:off x="8366760" y="1956816"/>
            <a:ext cx="3154680" cy="201168"/>
          </a:xfrm>
          <a:prstGeom prst="rect">
            <a:avLst/>
          </a:prstGeom>
          <a:noFill/>
        </p:spPr>
        <p:txBody>
          <a:bodyPr wrap="square" anchor="t" lIns="0" tIns="0" rIns="0" bIns="0">
            <a:spAutoFit/>
          </a:bodyPr>
          <a:lstStyle/>
          <a:p>
            <a:pPr algn="l">
              <a:lnSpc>
                <a:spcPct val="102000"/>
              </a:lnSpc>
              <a:spcBef>
                <a:spcPts val="0"/>
              </a:spcBef>
              <a:spcAft>
                <a:spcPts val="0"/>
              </a:spcAft>
            </a:pPr>
            <a:r>
              <a:rPr sz="890" b="1" i="0">
                <a:solidFill>
                  <a:srgbClr val="1B365D"/>
                </a:solidFill>
                <a:latin typeface="Calibri"/>
                <a:ea typeface="Microsoft YaHei"/>
                <a:cs typeface="Calibri"/>
              </a:rPr>
              <a:t>/əˈpɑːteɪt/  n.</a:t>
            </a:r>
          </a:p>
        </p:txBody>
      </p:sp>
      <p:sp>
        <p:nvSpPr>
          <p:cNvPr id="38" name="Rectangle 37"/>
          <p:cNvSpPr/>
          <p:nvPr/>
        </p:nvSpPr>
        <p:spPr>
          <a:xfrm>
            <a:off x="8366760" y="2276856"/>
            <a:ext cx="3136392" cy="10972"/>
          </a:xfrm>
          <a:prstGeom prst="rect">
            <a:avLst/>
          </a:prstGeom>
          <a:solidFill>
            <a:srgbClr val="DFD7CB"/>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xtBox 38"/>
          <p:cNvSpPr txBox="1"/>
          <p:nvPr/>
        </p:nvSpPr>
        <p:spPr>
          <a:xfrm>
            <a:off x="8366760" y="2350008"/>
            <a:ext cx="3136392" cy="713232"/>
          </a:xfrm>
          <a:prstGeom prst="rect">
            <a:avLst/>
          </a:prstGeom>
          <a:noFill/>
        </p:spPr>
        <p:txBody>
          <a:bodyPr wrap="square" anchor="t" lIns="0" tIns="0" rIns="0" bIns="0">
            <a:spAutoFit/>
          </a:bodyPr>
          <a:lstStyle/>
          <a:p>
            <a:pPr algn="l">
              <a:lnSpc>
                <a:spcPct val="108000"/>
              </a:lnSpc>
              <a:spcBef>
                <a:spcPts val="0"/>
              </a:spcBef>
              <a:spcAft>
                <a:spcPts val="0"/>
              </a:spcAft>
            </a:pPr>
            <a:r>
              <a:rPr sz="969" b="0" i="0">
                <a:solidFill>
                  <a:srgbClr val="2C3E50"/>
                </a:solidFill>
                <a:latin typeface="Calibri"/>
                <a:ea typeface="Microsoft YaHei"/>
                <a:cs typeface="Calibri"/>
              </a:rPr>
              <a:t>racial separateness</a:t>
            </a:r>
          </a:p>
        </p:txBody>
      </p:sp>
      <p:sp>
        <p:nvSpPr>
          <p:cNvPr id="40" name="TextBox 39"/>
          <p:cNvSpPr txBox="1"/>
          <p:nvPr/>
        </p:nvSpPr>
        <p:spPr>
          <a:xfrm>
            <a:off x="8366760" y="3172968"/>
            <a:ext cx="3136392" cy="292608"/>
          </a:xfrm>
          <a:prstGeom prst="rect">
            <a:avLst/>
          </a:prstGeom>
          <a:noFill/>
        </p:spPr>
        <p:txBody>
          <a:bodyPr wrap="square" anchor="t" lIns="0" tIns="0" rIns="0" bIns="0">
            <a:spAutoFit/>
          </a:bodyPr>
          <a:lstStyle/>
          <a:p>
            <a:pPr algn="l">
              <a:lnSpc>
                <a:spcPct val="102000"/>
              </a:lnSpc>
              <a:spcBef>
                <a:spcPts val="0"/>
              </a:spcBef>
              <a:spcAft>
                <a:spcPts val="0"/>
              </a:spcAft>
            </a:pPr>
            <a:r>
              <a:rPr sz="1120" b="1" i="0">
                <a:solidFill>
                  <a:srgbClr val="C84B31"/>
                </a:solidFill>
                <a:latin typeface="Calibri"/>
                <a:ea typeface="Microsoft YaHei"/>
                <a:cs typeface="Calibri"/>
              </a:rPr>
              <a:t>种族隔离</a:t>
            </a:r>
          </a:p>
        </p:txBody>
      </p:sp>
      <p:sp>
        <p:nvSpPr>
          <p:cNvPr id="41" name="Rounded Rectangle 40"/>
          <p:cNvSpPr/>
          <p:nvPr/>
        </p:nvSpPr>
        <p:spPr>
          <a:xfrm>
            <a:off x="502920" y="3858768"/>
            <a:ext cx="3611880" cy="2322576"/>
          </a:xfrm>
          <a:prstGeom prst="roundRect">
            <a:avLst>
              <a:gd name="adj" fmla="val 3500"/>
            </a:avLst>
          </a:prstGeom>
          <a:solidFill>
            <a:srgbClr val="FFFDF9"/>
          </a:solidFill>
          <a:ln w="10160">
            <a:solidFill>
              <a:srgbClr val="DFD7CB"/>
            </a:solidFill>
          </a:ln>
          <a:effectLst>
            <a:outerShdw blurRad="152400" dist="38100" dir="5400000" algn="ctr" rotWithShape="0">
              <a:srgbClr val="1B365D">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Rectangle 41"/>
          <p:cNvSpPr/>
          <p:nvPr/>
        </p:nvSpPr>
        <p:spPr>
          <a:xfrm>
            <a:off x="502920" y="3858768"/>
            <a:ext cx="3611880" cy="50292"/>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3" name="TextBox 42"/>
          <p:cNvSpPr txBox="1"/>
          <p:nvPr/>
        </p:nvSpPr>
        <p:spPr>
          <a:xfrm>
            <a:off x="3383280" y="4023359"/>
            <a:ext cx="502920" cy="146304"/>
          </a:xfrm>
          <a:prstGeom prst="rect">
            <a:avLst/>
          </a:prstGeom>
          <a:noFill/>
        </p:spPr>
        <p:txBody>
          <a:bodyPr wrap="square" anchor="t" lIns="0" tIns="0" rIns="0" bIns="0">
            <a:spAutoFit/>
          </a:bodyPr>
          <a:lstStyle/>
          <a:p>
            <a:pPr algn="r">
              <a:lnSpc>
                <a:spcPct val="102000"/>
              </a:lnSpc>
              <a:spcBef>
                <a:spcPts val="0"/>
              </a:spcBef>
              <a:spcAft>
                <a:spcPts val="0"/>
              </a:spcAft>
            </a:pPr>
            <a:r>
              <a:rPr sz="750" b="1" i="0" spc="70">
                <a:solidFill>
                  <a:srgbClr val="707984"/>
                </a:solidFill>
                <a:latin typeface="Calibri"/>
                <a:ea typeface="Microsoft YaHei"/>
                <a:cs typeface="Calibri"/>
              </a:rPr>
              <a:t>04</a:t>
            </a:r>
          </a:p>
        </p:txBody>
      </p:sp>
      <p:sp>
        <p:nvSpPr>
          <p:cNvPr id="44" name="TextBox 43"/>
          <p:cNvSpPr txBox="1"/>
          <p:nvPr/>
        </p:nvSpPr>
        <p:spPr>
          <a:xfrm>
            <a:off x="740664" y="4050791"/>
            <a:ext cx="2788920" cy="338328"/>
          </a:xfrm>
          <a:prstGeom prst="rect">
            <a:avLst/>
          </a:prstGeom>
          <a:noFill/>
        </p:spPr>
        <p:txBody>
          <a:bodyPr wrap="square" anchor="t" lIns="0" tIns="0" rIns="0" bIns="0">
            <a:spAutoFit/>
          </a:bodyPr>
          <a:lstStyle/>
          <a:p>
            <a:pPr algn="l">
              <a:lnSpc>
                <a:spcPct val="102000"/>
              </a:lnSpc>
              <a:spcBef>
                <a:spcPts val="0"/>
              </a:spcBef>
              <a:spcAft>
                <a:spcPts val="0"/>
              </a:spcAft>
            </a:pPr>
            <a:r>
              <a:rPr sz="2100" b="1" i="0">
                <a:solidFill>
                  <a:srgbClr val="1B365D"/>
                </a:solidFill>
                <a:latin typeface="Georgia"/>
                <a:ea typeface="Microsoft YaHei"/>
                <a:cs typeface="Georgia"/>
              </a:rPr>
              <a:t>descent</a:t>
            </a:r>
          </a:p>
        </p:txBody>
      </p:sp>
      <p:sp>
        <p:nvSpPr>
          <p:cNvPr id="45" name="TextBox 44"/>
          <p:cNvSpPr txBox="1"/>
          <p:nvPr/>
        </p:nvSpPr>
        <p:spPr>
          <a:xfrm>
            <a:off x="740664" y="4416552"/>
            <a:ext cx="3154680" cy="201168"/>
          </a:xfrm>
          <a:prstGeom prst="rect">
            <a:avLst/>
          </a:prstGeom>
          <a:noFill/>
        </p:spPr>
        <p:txBody>
          <a:bodyPr wrap="square" anchor="t" lIns="0" tIns="0" rIns="0" bIns="0">
            <a:spAutoFit/>
          </a:bodyPr>
          <a:lstStyle/>
          <a:p>
            <a:pPr algn="l">
              <a:lnSpc>
                <a:spcPct val="102000"/>
              </a:lnSpc>
              <a:spcBef>
                <a:spcPts val="0"/>
              </a:spcBef>
              <a:spcAft>
                <a:spcPts val="0"/>
              </a:spcAft>
            </a:pPr>
            <a:r>
              <a:rPr sz="890" b="1" i="0">
                <a:solidFill>
                  <a:srgbClr val="C84B31"/>
                </a:solidFill>
                <a:latin typeface="Calibri"/>
                <a:ea typeface="Microsoft YaHei"/>
                <a:cs typeface="Calibri"/>
              </a:rPr>
              <a:t>/dɪˈsent/  n.</a:t>
            </a:r>
          </a:p>
        </p:txBody>
      </p:sp>
      <p:sp>
        <p:nvSpPr>
          <p:cNvPr id="46" name="Rectangle 45"/>
          <p:cNvSpPr/>
          <p:nvPr/>
        </p:nvSpPr>
        <p:spPr>
          <a:xfrm>
            <a:off x="740664" y="4736592"/>
            <a:ext cx="3136392" cy="10972"/>
          </a:xfrm>
          <a:prstGeom prst="rect">
            <a:avLst/>
          </a:prstGeom>
          <a:solidFill>
            <a:srgbClr val="DFD7CB"/>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xtBox 46"/>
          <p:cNvSpPr txBox="1"/>
          <p:nvPr/>
        </p:nvSpPr>
        <p:spPr>
          <a:xfrm>
            <a:off x="740664" y="4809744"/>
            <a:ext cx="3136392" cy="713232"/>
          </a:xfrm>
          <a:prstGeom prst="rect">
            <a:avLst/>
          </a:prstGeom>
          <a:noFill/>
        </p:spPr>
        <p:txBody>
          <a:bodyPr wrap="square" anchor="t" lIns="0" tIns="0" rIns="0" bIns="0">
            <a:spAutoFit/>
          </a:bodyPr>
          <a:lstStyle/>
          <a:p>
            <a:pPr algn="l">
              <a:lnSpc>
                <a:spcPct val="108000"/>
              </a:lnSpc>
              <a:spcBef>
                <a:spcPts val="0"/>
              </a:spcBef>
              <a:spcAft>
                <a:spcPts val="0"/>
              </a:spcAft>
            </a:pPr>
            <a:r>
              <a:rPr sz="969" b="0" i="0">
                <a:solidFill>
                  <a:srgbClr val="2C3E50"/>
                </a:solidFill>
                <a:latin typeface="Calibri"/>
                <a:ea typeface="Microsoft YaHei"/>
                <a:cs typeface="Calibri"/>
              </a:rPr>
              <a:t>hereditary derivation</a:t>
            </a:r>
          </a:p>
        </p:txBody>
      </p:sp>
      <p:sp>
        <p:nvSpPr>
          <p:cNvPr id="48" name="TextBox 47"/>
          <p:cNvSpPr txBox="1"/>
          <p:nvPr/>
        </p:nvSpPr>
        <p:spPr>
          <a:xfrm>
            <a:off x="740664" y="5632704"/>
            <a:ext cx="3136392" cy="292608"/>
          </a:xfrm>
          <a:prstGeom prst="rect">
            <a:avLst/>
          </a:prstGeom>
          <a:noFill/>
        </p:spPr>
        <p:txBody>
          <a:bodyPr wrap="square" anchor="t" lIns="0" tIns="0" rIns="0" bIns="0">
            <a:spAutoFit/>
          </a:bodyPr>
          <a:lstStyle/>
          <a:p>
            <a:pPr algn="l">
              <a:lnSpc>
                <a:spcPct val="102000"/>
              </a:lnSpc>
              <a:spcBef>
                <a:spcPts val="0"/>
              </a:spcBef>
              <a:spcAft>
                <a:spcPts val="0"/>
              </a:spcAft>
            </a:pPr>
            <a:r>
              <a:rPr sz="1120" b="1" i="0">
                <a:solidFill>
                  <a:srgbClr val="C84B31"/>
                </a:solidFill>
                <a:latin typeface="Calibri"/>
                <a:ea typeface="Microsoft YaHei"/>
                <a:cs typeface="Calibri"/>
              </a:rPr>
              <a:t>血统，遗传</a:t>
            </a:r>
          </a:p>
        </p:txBody>
      </p:sp>
      <p:sp>
        <p:nvSpPr>
          <p:cNvPr id="49" name="Rounded Rectangle 48"/>
          <p:cNvSpPr/>
          <p:nvPr/>
        </p:nvSpPr>
        <p:spPr>
          <a:xfrm>
            <a:off x="4315968" y="3858768"/>
            <a:ext cx="3611880" cy="2322576"/>
          </a:xfrm>
          <a:prstGeom prst="roundRect">
            <a:avLst>
              <a:gd name="adj" fmla="val 3500"/>
            </a:avLst>
          </a:prstGeom>
          <a:solidFill>
            <a:srgbClr val="FFFDF9"/>
          </a:solidFill>
          <a:ln w="10160">
            <a:solidFill>
              <a:srgbClr val="DFD7CB"/>
            </a:solidFill>
          </a:ln>
          <a:effectLst>
            <a:outerShdw blurRad="152400" dist="38100" dir="5400000" algn="ctr" rotWithShape="0">
              <a:srgbClr val="1B365D">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Rectangle 49"/>
          <p:cNvSpPr/>
          <p:nvPr/>
        </p:nvSpPr>
        <p:spPr>
          <a:xfrm>
            <a:off x="4315968" y="3858768"/>
            <a:ext cx="3611880" cy="50292"/>
          </a:xfrm>
          <a:prstGeom prst="rect">
            <a:avLst/>
          </a:prstGeom>
          <a:solidFill>
            <a:srgbClr val="C84B3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TextBox 50"/>
          <p:cNvSpPr txBox="1"/>
          <p:nvPr/>
        </p:nvSpPr>
        <p:spPr>
          <a:xfrm>
            <a:off x="7196327" y="4023359"/>
            <a:ext cx="502920" cy="146304"/>
          </a:xfrm>
          <a:prstGeom prst="rect">
            <a:avLst/>
          </a:prstGeom>
          <a:noFill/>
        </p:spPr>
        <p:txBody>
          <a:bodyPr wrap="square" anchor="t" lIns="0" tIns="0" rIns="0" bIns="0">
            <a:spAutoFit/>
          </a:bodyPr>
          <a:lstStyle/>
          <a:p>
            <a:pPr algn="r">
              <a:lnSpc>
                <a:spcPct val="102000"/>
              </a:lnSpc>
              <a:spcBef>
                <a:spcPts val="0"/>
              </a:spcBef>
              <a:spcAft>
                <a:spcPts val="0"/>
              </a:spcAft>
            </a:pPr>
            <a:r>
              <a:rPr sz="750" b="1" i="0" spc="70">
                <a:solidFill>
                  <a:srgbClr val="707984"/>
                </a:solidFill>
                <a:latin typeface="Calibri"/>
                <a:ea typeface="Microsoft YaHei"/>
                <a:cs typeface="Calibri"/>
              </a:rPr>
              <a:t>05</a:t>
            </a:r>
          </a:p>
        </p:txBody>
      </p:sp>
      <p:sp>
        <p:nvSpPr>
          <p:cNvPr id="52" name="TextBox 51"/>
          <p:cNvSpPr txBox="1"/>
          <p:nvPr/>
        </p:nvSpPr>
        <p:spPr>
          <a:xfrm>
            <a:off x="4553712" y="4050791"/>
            <a:ext cx="2788920" cy="338328"/>
          </a:xfrm>
          <a:prstGeom prst="rect">
            <a:avLst/>
          </a:prstGeom>
          <a:noFill/>
        </p:spPr>
        <p:txBody>
          <a:bodyPr wrap="square" anchor="t" lIns="0" tIns="0" rIns="0" bIns="0">
            <a:spAutoFit/>
          </a:bodyPr>
          <a:lstStyle/>
          <a:p>
            <a:pPr algn="l">
              <a:lnSpc>
                <a:spcPct val="102000"/>
              </a:lnSpc>
              <a:spcBef>
                <a:spcPts val="0"/>
              </a:spcBef>
              <a:spcAft>
                <a:spcPts val="0"/>
              </a:spcAft>
            </a:pPr>
            <a:r>
              <a:rPr sz="2100" b="1" i="0">
                <a:solidFill>
                  <a:srgbClr val="1B365D"/>
                </a:solidFill>
                <a:latin typeface="Georgia"/>
                <a:ea typeface="Microsoft YaHei"/>
                <a:cs typeface="Georgia"/>
              </a:rPr>
              <a:t>regime</a:t>
            </a:r>
          </a:p>
        </p:txBody>
      </p:sp>
      <p:sp>
        <p:nvSpPr>
          <p:cNvPr id="53" name="TextBox 52"/>
          <p:cNvSpPr txBox="1"/>
          <p:nvPr/>
        </p:nvSpPr>
        <p:spPr>
          <a:xfrm>
            <a:off x="4553712" y="4416552"/>
            <a:ext cx="3154680" cy="201168"/>
          </a:xfrm>
          <a:prstGeom prst="rect">
            <a:avLst/>
          </a:prstGeom>
          <a:noFill/>
        </p:spPr>
        <p:txBody>
          <a:bodyPr wrap="square" anchor="t" lIns="0" tIns="0" rIns="0" bIns="0">
            <a:spAutoFit/>
          </a:bodyPr>
          <a:lstStyle/>
          <a:p>
            <a:pPr algn="l">
              <a:lnSpc>
                <a:spcPct val="102000"/>
              </a:lnSpc>
              <a:spcBef>
                <a:spcPts val="0"/>
              </a:spcBef>
              <a:spcAft>
                <a:spcPts val="0"/>
              </a:spcAft>
            </a:pPr>
            <a:r>
              <a:rPr sz="890" b="1" i="0">
                <a:solidFill>
                  <a:srgbClr val="1B365D"/>
                </a:solidFill>
                <a:latin typeface="Calibri"/>
                <a:ea typeface="Microsoft YaHei"/>
                <a:cs typeface="Calibri"/>
              </a:rPr>
              <a:t>/reɪˈʒiːm/  n.</a:t>
            </a:r>
          </a:p>
        </p:txBody>
      </p:sp>
      <p:sp>
        <p:nvSpPr>
          <p:cNvPr id="54" name="Rectangle 53"/>
          <p:cNvSpPr/>
          <p:nvPr/>
        </p:nvSpPr>
        <p:spPr>
          <a:xfrm>
            <a:off x="4553712" y="4736592"/>
            <a:ext cx="3136392" cy="10972"/>
          </a:xfrm>
          <a:prstGeom prst="rect">
            <a:avLst/>
          </a:prstGeom>
          <a:solidFill>
            <a:srgbClr val="DFD7CB"/>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5" name="TextBox 54"/>
          <p:cNvSpPr txBox="1"/>
          <p:nvPr/>
        </p:nvSpPr>
        <p:spPr>
          <a:xfrm>
            <a:off x="4553712" y="4809744"/>
            <a:ext cx="3136392" cy="713232"/>
          </a:xfrm>
          <a:prstGeom prst="rect">
            <a:avLst/>
          </a:prstGeom>
          <a:noFill/>
        </p:spPr>
        <p:txBody>
          <a:bodyPr wrap="square" anchor="t" lIns="0" tIns="0" rIns="0" bIns="0">
            <a:spAutoFit/>
          </a:bodyPr>
          <a:lstStyle/>
          <a:p>
            <a:pPr algn="l">
              <a:lnSpc>
                <a:spcPct val="108000"/>
              </a:lnSpc>
              <a:spcBef>
                <a:spcPts val="0"/>
              </a:spcBef>
              <a:spcAft>
                <a:spcPts val="0"/>
              </a:spcAft>
            </a:pPr>
            <a:r>
              <a:rPr sz="969" b="0" i="0">
                <a:solidFill>
                  <a:srgbClr val="2C3E50"/>
                </a:solidFill>
                <a:latin typeface="Calibri"/>
                <a:ea typeface="Microsoft YaHei"/>
                <a:cs typeface="Calibri"/>
              </a:rPr>
              <a:t>a system of government or rule</a:t>
            </a:r>
          </a:p>
        </p:txBody>
      </p:sp>
      <p:sp>
        <p:nvSpPr>
          <p:cNvPr id="56" name="TextBox 55"/>
          <p:cNvSpPr txBox="1"/>
          <p:nvPr/>
        </p:nvSpPr>
        <p:spPr>
          <a:xfrm>
            <a:off x="4553712" y="5632704"/>
            <a:ext cx="3136392" cy="292608"/>
          </a:xfrm>
          <a:prstGeom prst="rect">
            <a:avLst/>
          </a:prstGeom>
          <a:noFill/>
        </p:spPr>
        <p:txBody>
          <a:bodyPr wrap="square" anchor="t" lIns="0" tIns="0" rIns="0" bIns="0">
            <a:spAutoFit/>
          </a:bodyPr>
          <a:lstStyle/>
          <a:p>
            <a:pPr algn="l">
              <a:lnSpc>
                <a:spcPct val="102000"/>
              </a:lnSpc>
              <a:spcBef>
                <a:spcPts val="0"/>
              </a:spcBef>
              <a:spcAft>
                <a:spcPts val="0"/>
              </a:spcAft>
            </a:pPr>
            <a:r>
              <a:rPr sz="1120" b="1" i="0">
                <a:solidFill>
                  <a:srgbClr val="C84B31"/>
                </a:solidFill>
                <a:latin typeface="Calibri"/>
                <a:ea typeface="Microsoft YaHei"/>
                <a:cs typeface="Calibri"/>
              </a:rPr>
              <a:t>政权</a:t>
            </a:r>
          </a:p>
        </p:txBody>
      </p:sp>
      <p:sp>
        <p:nvSpPr>
          <p:cNvPr id="57" name="Rounded Rectangle 56"/>
          <p:cNvSpPr/>
          <p:nvPr/>
        </p:nvSpPr>
        <p:spPr>
          <a:xfrm>
            <a:off x="8129016" y="3858768"/>
            <a:ext cx="3611880" cy="2322576"/>
          </a:xfrm>
          <a:prstGeom prst="roundRect">
            <a:avLst>
              <a:gd name="adj" fmla="val 3500"/>
            </a:avLst>
          </a:prstGeom>
          <a:solidFill>
            <a:srgbClr val="FFFDF9"/>
          </a:solidFill>
          <a:ln w="10160">
            <a:solidFill>
              <a:srgbClr val="DFD7CB"/>
            </a:solidFill>
          </a:ln>
          <a:effectLst>
            <a:outerShdw blurRad="152400" dist="38100" dir="5400000" algn="ctr" rotWithShape="0">
              <a:srgbClr val="1B365D">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Rectangle 57"/>
          <p:cNvSpPr/>
          <p:nvPr/>
        </p:nvSpPr>
        <p:spPr>
          <a:xfrm>
            <a:off x="8129016" y="3858768"/>
            <a:ext cx="3611880" cy="50292"/>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9" name="TextBox 58"/>
          <p:cNvSpPr txBox="1"/>
          <p:nvPr/>
        </p:nvSpPr>
        <p:spPr>
          <a:xfrm>
            <a:off x="11009376" y="4023359"/>
            <a:ext cx="502920" cy="146304"/>
          </a:xfrm>
          <a:prstGeom prst="rect">
            <a:avLst/>
          </a:prstGeom>
          <a:noFill/>
        </p:spPr>
        <p:txBody>
          <a:bodyPr wrap="square" anchor="t" lIns="0" tIns="0" rIns="0" bIns="0">
            <a:spAutoFit/>
          </a:bodyPr>
          <a:lstStyle/>
          <a:p>
            <a:pPr algn="r">
              <a:lnSpc>
                <a:spcPct val="102000"/>
              </a:lnSpc>
              <a:spcBef>
                <a:spcPts val="0"/>
              </a:spcBef>
              <a:spcAft>
                <a:spcPts val="0"/>
              </a:spcAft>
            </a:pPr>
            <a:r>
              <a:rPr sz="750" b="1" i="0" spc="70">
                <a:solidFill>
                  <a:srgbClr val="707984"/>
                </a:solidFill>
                <a:latin typeface="Calibri"/>
                <a:ea typeface="Microsoft YaHei"/>
                <a:cs typeface="Calibri"/>
              </a:rPr>
              <a:t>06</a:t>
            </a:r>
          </a:p>
        </p:txBody>
      </p:sp>
      <p:sp>
        <p:nvSpPr>
          <p:cNvPr id="60" name="TextBox 59"/>
          <p:cNvSpPr txBox="1"/>
          <p:nvPr/>
        </p:nvSpPr>
        <p:spPr>
          <a:xfrm>
            <a:off x="8366760" y="4050791"/>
            <a:ext cx="2788920" cy="338328"/>
          </a:xfrm>
          <a:prstGeom prst="rect">
            <a:avLst/>
          </a:prstGeom>
          <a:noFill/>
        </p:spPr>
        <p:txBody>
          <a:bodyPr wrap="square" anchor="t" lIns="0" tIns="0" rIns="0" bIns="0">
            <a:spAutoFit/>
          </a:bodyPr>
          <a:lstStyle/>
          <a:p>
            <a:pPr algn="l">
              <a:lnSpc>
                <a:spcPct val="102000"/>
              </a:lnSpc>
              <a:spcBef>
                <a:spcPts val="0"/>
              </a:spcBef>
              <a:spcAft>
                <a:spcPts val="0"/>
              </a:spcAft>
            </a:pPr>
            <a:r>
              <a:rPr sz="2100" b="1" i="0">
                <a:solidFill>
                  <a:srgbClr val="1B365D"/>
                </a:solidFill>
                <a:latin typeface="Georgia"/>
                <a:ea typeface="Microsoft YaHei"/>
                <a:cs typeface="Georgia"/>
              </a:rPr>
              <a:t>vernacular</a:t>
            </a:r>
          </a:p>
        </p:txBody>
      </p:sp>
      <p:sp>
        <p:nvSpPr>
          <p:cNvPr id="61" name="TextBox 60"/>
          <p:cNvSpPr txBox="1"/>
          <p:nvPr/>
        </p:nvSpPr>
        <p:spPr>
          <a:xfrm>
            <a:off x="8366760" y="4416552"/>
            <a:ext cx="3154680" cy="201168"/>
          </a:xfrm>
          <a:prstGeom prst="rect">
            <a:avLst/>
          </a:prstGeom>
          <a:noFill/>
        </p:spPr>
        <p:txBody>
          <a:bodyPr wrap="square" anchor="t" lIns="0" tIns="0" rIns="0" bIns="0">
            <a:spAutoFit/>
          </a:bodyPr>
          <a:lstStyle/>
          <a:p>
            <a:pPr algn="l">
              <a:lnSpc>
                <a:spcPct val="102000"/>
              </a:lnSpc>
              <a:spcBef>
                <a:spcPts val="0"/>
              </a:spcBef>
              <a:spcAft>
                <a:spcPts val="0"/>
              </a:spcAft>
            </a:pPr>
            <a:r>
              <a:rPr sz="890" b="1" i="0">
                <a:solidFill>
                  <a:srgbClr val="C84B31"/>
                </a:solidFill>
                <a:latin typeface="Calibri"/>
                <a:ea typeface="Microsoft YaHei"/>
                <a:cs typeface="Calibri"/>
              </a:rPr>
              <a:t>/vəˈnækjələ(r)/  adj.</a:t>
            </a:r>
          </a:p>
        </p:txBody>
      </p:sp>
      <p:sp>
        <p:nvSpPr>
          <p:cNvPr id="62" name="Rectangle 61"/>
          <p:cNvSpPr/>
          <p:nvPr/>
        </p:nvSpPr>
        <p:spPr>
          <a:xfrm>
            <a:off x="8366760" y="4736592"/>
            <a:ext cx="3136392" cy="10972"/>
          </a:xfrm>
          <a:prstGeom prst="rect">
            <a:avLst/>
          </a:prstGeom>
          <a:solidFill>
            <a:srgbClr val="DFD7CB"/>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3" name="TextBox 62"/>
          <p:cNvSpPr txBox="1"/>
          <p:nvPr/>
        </p:nvSpPr>
        <p:spPr>
          <a:xfrm>
            <a:off x="8366760" y="4809744"/>
            <a:ext cx="3136392" cy="713232"/>
          </a:xfrm>
          <a:prstGeom prst="rect">
            <a:avLst/>
          </a:prstGeom>
          <a:noFill/>
        </p:spPr>
        <p:txBody>
          <a:bodyPr wrap="square" anchor="t" lIns="0" tIns="0" rIns="0" bIns="0">
            <a:spAutoFit/>
          </a:bodyPr>
          <a:lstStyle/>
          <a:p>
            <a:pPr algn="l">
              <a:lnSpc>
                <a:spcPct val="108000"/>
              </a:lnSpc>
              <a:spcBef>
                <a:spcPts val="0"/>
              </a:spcBef>
              <a:spcAft>
                <a:spcPts val="0"/>
              </a:spcAft>
            </a:pPr>
            <a:r>
              <a:rPr sz="969" b="0" i="0">
                <a:solidFill>
                  <a:srgbClr val="2C3E50"/>
                </a:solidFill>
                <a:latin typeface="Calibri"/>
                <a:ea typeface="Microsoft YaHei"/>
                <a:cs typeface="Calibri"/>
              </a:rPr>
              <a:t>native; commonly spoken by the members of a country or region</a:t>
            </a:r>
          </a:p>
        </p:txBody>
      </p:sp>
      <p:sp>
        <p:nvSpPr>
          <p:cNvPr id="64" name="TextBox 63"/>
          <p:cNvSpPr txBox="1"/>
          <p:nvPr/>
        </p:nvSpPr>
        <p:spPr>
          <a:xfrm>
            <a:off x="8366760" y="5632704"/>
            <a:ext cx="3136392" cy="292608"/>
          </a:xfrm>
          <a:prstGeom prst="rect">
            <a:avLst/>
          </a:prstGeom>
          <a:noFill/>
        </p:spPr>
        <p:txBody>
          <a:bodyPr wrap="square" anchor="t" lIns="0" tIns="0" rIns="0" bIns="0">
            <a:spAutoFit/>
          </a:bodyPr>
          <a:lstStyle/>
          <a:p>
            <a:pPr algn="l">
              <a:lnSpc>
                <a:spcPct val="102000"/>
              </a:lnSpc>
              <a:spcBef>
                <a:spcPts val="0"/>
              </a:spcBef>
              <a:spcAft>
                <a:spcPts val="0"/>
              </a:spcAft>
            </a:pPr>
            <a:r>
              <a:rPr sz="1120" b="1" i="0">
                <a:solidFill>
                  <a:srgbClr val="C84B31"/>
                </a:solidFill>
                <a:latin typeface="Calibri"/>
                <a:ea typeface="Microsoft YaHei"/>
                <a:cs typeface="Calibri"/>
              </a:rPr>
              <a:t>本国语的，方言的</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8F5"/>
        </a:solidFill>
        <a:effectLst/>
      </p:bgPr>
    </p:bg>
    <p:spTree>
      <p:nvGrpSpPr>
        <p:cNvPr id="1" name=""/>
        <p:cNvGrpSpPr/>
        <p:nvPr/>
      </p:nvGrpSpPr>
      <p:grpSpPr/>
      <p:sp>
        <p:nvSpPr>
          <p:cNvPr id="2" name="Rectangle 1"/>
          <p:cNvSpPr/>
          <p:nvPr/>
        </p:nvSpPr>
        <p:spPr>
          <a:xfrm>
            <a:off x="0" y="0"/>
            <a:ext cx="12191695" cy="402336"/>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Rectangle 2"/>
          <p:cNvSpPr/>
          <p:nvPr/>
        </p:nvSpPr>
        <p:spPr>
          <a:xfrm>
            <a:off x="502920" y="137160"/>
            <a:ext cx="77724" cy="128016"/>
          </a:xfrm>
          <a:prstGeom prst="rect">
            <a:avLst/>
          </a:prstGeom>
          <a:solidFill>
            <a:srgbClr val="C84B3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extBox 3"/>
          <p:cNvSpPr txBox="1"/>
          <p:nvPr/>
        </p:nvSpPr>
        <p:spPr>
          <a:xfrm>
            <a:off x="685800" y="123444"/>
            <a:ext cx="6400800" cy="164592"/>
          </a:xfrm>
          <a:prstGeom prst="rect">
            <a:avLst/>
          </a:prstGeom>
          <a:noFill/>
        </p:spPr>
        <p:txBody>
          <a:bodyPr wrap="square" anchor="t" lIns="0" tIns="0" rIns="0" bIns="0">
            <a:spAutoFit/>
          </a:bodyPr>
          <a:lstStyle/>
          <a:p>
            <a:pPr algn="l">
              <a:lnSpc>
                <a:spcPct val="102000"/>
              </a:lnSpc>
              <a:spcBef>
                <a:spcPts val="0"/>
              </a:spcBef>
              <a:spcAft>
                <a:spcPts val="0"/>
              </a:spcAft>
            </a:pPr>
            <a:r>
              <a:rPr sz="780" b="1" i="0" spc="110">
                <a:solidFill>
                  <a:srgbClr val="FFFFFF"/>
                </a:solidFill>
                <a:latin typeface="Calibri"/>
                <a:ea typeface="Microsoft YaHei"/>
                <a:cs typeface="Calibri"/>
              </a:rPr>
              <a:t>LANGUAGE &amp; CULTURE   /   PARAGRAPHS 7–8</a:t>
            </a:r>
          </a:p>
        </p:txBody>
      </p:sp>
      <p:sp>
        <p:nvSpPr>
          <p:cNvPr id="5" name="Rectangle 4"/>
          <p:cNvSpPr/>
          <p:nvPr/>
        </p:nvSpPr>
        <p:spPr>
          <a:xfrm>
            <a:off x="9710928" y="185623"/>
            <a:ext cx="96012" cy="31089"/>
          </a:xfrm>
          <a:prstGeom prst="rect">
            <a:avLst/>
          </a:prstGeom>
          <a:solidFill>
            <a:srgbClr val="6C7F9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Rectangle 5"/>
          <p:cNvSpPr/>
          <p:nvPr/>
        </p:nvSpPr>
        <p:spPr>
          <a:xfrm>
            <a:off x="9852659" y="185623"/>
            <a:ext cx="96012" cy="31089"/>
          </a:xfrm>
          <a:prstGeom prst="rect">
            <a:avLst/>
          </a:prstGeom>
          <a:solidFill>
            <a:srgbClr val="6C7F9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 name="Rectangle 6"/>
          <p:cNvSpPr/>
          <p:nvPr/>
        </p:nvSpPr>
        <p:spPr>
          <a:xfrm>
            <a:off x="9994392" y="185623"/>
            <a:ext cx="96012" cy="31089"/>
          </a:xfrm>
          <a:prstGeom prst="rect">
            <a:avLst/>
          </a:prstGeom>
          <a:solidFill>
            <a:srgbClr val="C84B3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ectangle 7"/>
          <p:cNvSpPr/>
          <p:nvPr/>
        </p:nvSpPr>
        <p:spPr>
          <a:xfrm>
            <a:off x="10136124" y="185623"/>
            <a:ext cx="96012" cy="31089"/>
          </a:xfrm>
          <a:prstGeom prst="rect">
            <a:avLst/>
          </a:prstGeom>
          <a:solidFill>
            <a:srgbClr val="6C7F9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ectangle 8"/>
          <p:cNvSpPr/>
          <p:nvPr/>
        </p:nvSpPr>
        <p:spPr>
          <a:xfrm>
            <a:off x="10277855" y="185623"/>
            <a:ext cx="96012" cy="31089"/>
          </a:xfrm>
          <a:prstGeom prst="rect">
            <a:avLst/>
          </a:prstGeom>
          <a:solidFill>
            <a:srgbClr val="6C7F9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Rectangle 9"/>
          <p:cNvSpPr/>
          <p:nvPr/>
        </p:nvSpPr>
        <p:spPr>
          <a:xfrm>
            <a:off x="10419588" y="185623"/>
            <a:ext cx="96012" cy="31089"/>
          </a:xfrm>
          <a:prstGeom prst="rect">
            <a:avLst/>
          </a:prstGeom>
          <a:solidFill>
            <a:srgbClr val="6C7F9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ectangle 10"/>
          <p:cNvSpPr/>
          <p:nvPr/>
        </p:nvSpPr>
        <p:spPr>
          <a:xfrm>
            <a:off x="10561319" y="185623"/>
            <a:ext cx="96012" cy="31089"/>
          </a:xfrm>
          <a:prstGeom prst="rect">
            <a:avLst/>
          </a:prstGeom>
          <a:solidFill>
            <a:srgbClr val="6C7F9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Rectangle 11"/>
          <p:cNvSpPr/>
          <p:nvPr/>
        </p:nvSpPr>
        <p:spPr>
          <a:xfrm>
            <a:off x="10703051" y="185623"/>
            <a:ext cx="96012" cy="31089"/>
          </a:xfrm>
          <a:prstGeom prst="rect">
            <a:avLst/>
          </a:prstGeom>
          <a:solidFill>
            <a:srgbClr val="6C7F9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TextBox 12"/>
          <p:cNvSpPr txBox="1"/>
          <p:nvPr/>
        </p:nvSpPr>
        <p:spPr>
          <a:xfrm>
            <a:off x="10917936" y="118872"/>
            <a:ext cx="777240" cy="164592"/>
          </a:xfrm>
          <a:prstGeom prst="rect">
            <a:avLst/>
          </a:prstGeom>
          <a:noFill/>
        </p:spPr>
        <p:txBody>
          <a:bodyPr wrap="square" anchor="t" lIns="0" tIns="0" rIns="0" bIns="0">
            <a:spAutoFit/>
          </a:bodyPr>
          <a:lstStyle/>
          <a:p>
            <a:pPr algn="r">
              <a:lnSpc>
                <a:spcPct val="102000"/>
              </a:lnSpc>
              <a:spcBef>
                <a:spcPts val="0"/>
              </a:spcBef>
              <a:spcAft>
                <a:spcPts val="0"/>
              </a:spcAft>
            </a:pPr>
            <a:r>
              <a:rPr sz="760" b="1" i="0" spc="50">
                <a:solidFill>
                  <a:srgbClr val="FFFFFF"/>
                </a:solidFill>
                <a:latin typeface="Calibri"/>
                <a:ea typeface="Microsoft YaHei"/>
                <a:cs typeface="Calibri"/>
              </a:rPr>
              <a:t>03 / 08</a:t>
            </a:r>
          </a:p>
        </p:txBody>
      </p:sp>
      <p:sp>
        <p:nvSpPr>
          <p:cNvPr id="14" name="TextBox 13"/>
          <p:cNvSpPr txBox="1"/>
          <p:nvPr/>
        </p:nvSpPr>
        <p:spPr>
          <a:xfrm>
            <a:off x="502920" y="576072"/>
            <a:ext cx="10972800" cy="438912"/>
          </a:xfrm>
          <a:prstGeom prst="rect">
            <a:avLst/>
          </a:prstGeom>
          <a:noFill/>
        </p:spPr>
        <p:txBody>
          <a:bodyPr wrap="square" anchor="t" lIns="0" tIns="0" rIns="0" bIns="0">
            <a:spAutoFit/>
          </a:bodyPr>
          <a:lstStyle/>
          <a:p>
            <a:pPr algn="l">
              <a:lnSpc>
                <a:spcPct val="102000"/>
              </a:lnSpc>
              <a:spcBef>
                <a:spcPts val="0"/>
              </a:spcBef>
              <a:spcAft>
                <a:spcPts val="0"/>
              </a:spcAft>
            </a:pPr>
            <a:r>
              <a:rPr sz="2350" b="1" i="0">
                <a:solidFill>
                  <a:srgbClr val="1B365D"/>
                </a:solidFill>
                <a:latin typeface="Georgia"/>
                <a:ea typeface="Microsoft YaHei"/>
                <a:cs typeface="Georgia"/>
              </a:rPr>
              <a:t>第7段精讲（一）｜主旨转折与视角提升</a:t>
            </a:r>
          </a:p>
        </p:txBody>
      </p:sp>
      <p:sp>
        <p:nvSpPr>
          <p:cNvPr id="15" name="TextBox 14"/>
          <p:cNvSpPr txBox="1"/>
          <p:nvPr/>
        </p:nvSpPr>
        <p:spPr>
          <a:xfrm>
            <a:off x="502920" y="1042415"/>
            <a:ext cx="10789920" cy="173736"/>
          </a:xfrm>
          <a:prstGeom prst="rect">
            <a:avLst/>
          </a:prstGeom>
          <a:noFill/>
        </p:spPr>
        <p:txBody>
          <a:bodyPr wrap="square" anchor="t" lIns="0" tIns="0" rIns="0" bIns="0">
            <a:spAutoFit/>
          </a:bodyPr>
          <a:lstStyle/>
          <a:p>
            <a:pPr algn="l">
              <a:lnSpc>
                <a:spcPct val="102000"/>
              </a:lnSpc>
              <a:spcBef>
                <a:spcPts val="0"/>
              </a:spcBef>
              <a:spcAft>
                <a:spcPts val="0"/>
              </a:spcAft>
            </a:pPr>
            <a:r>
              <a:rPr sz="780" b="1" i="0" spc="110">
                <a:solidFill>
                  <a:srgbClr val="707984"/>
                </a:solidFill>
                <a:latin typeface="Calibri"/>
                <a:ea typeface="Microsoft YaHei"/>
                <a:cs typeface="Calibri"/>
              </a:rPr>
              <a:t>PARAGRAPH 7  ·  FROM A CURSE TO A BLESSING</a:t>
            </a:r>
          </a:p>
        </p:txBody>
      </p:sp>
      <p:sp>
        <p:nvSpPr>
          <p:cNvPr id="16" name="Rectangle 15"/>
          <p:cNvSpPr/>
          <p:nvPr/>
        </p:nvSpPr>
        <p:spPr>
          <a:xfrm>
            <a:off x="502920" y="1243584"/>
            <a:ext cx="987552" cy="32004"/>
          </a:xfrm>
          <a:prstGeom prst="rect">
            <a:avLst/>
          </a:prstGeom>
          <a:solidFill>
            <a:srgbClr val="C84B3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ounded Rectangle 16"/>
          <p:cNvSpPr/>
          <p:nvPr/>
        </p:nvSpPr>
        <p:spPr>
          <a:xfrm>
            <a:off x="502920" y="1389888"/>
            <a:ext cx="11183112" cy="841248"/>
          </a:xfrm>
          <a:prstGeom prst="roundRect">
            <a:avLst>
              <a:gd name="adj" fmla="val 1799"/>
            </a:avLst>
          </a:prstGeom>
          <a:solidFill>
            <a:srgbClr val="FFFDF9"/>
          </a:solidFill>
          <a:ln w="10160">
            <a:solidFill>
              <a:srgbClr val="DFD7CB"/>
            </a:solidFill>
          </a:ln>
          <a:effectLst>
            <a:outerShdw blurRad="152400" dist="38100" dir="5400000" algn="ctr" rotWithShape="0">
              <a:srgbClr val="1B365D">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Rectangle 17"/>
          <p:cNvSpPr/>
          <p:nvPr/>
        </p:nvSpPr>
        <p:spPr>
          <a:xfrm>
            <a:off x="502920" y="1389888"/>
            <a:ext cx="45720" cy="841248"/>
          </a:xfrm>
          <a:prstGeom prst="rect">
            <a:avLst/>
          </a:prstGeom>
          <a:solidFill>
            <a:srgbClr val="C84B3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TextBox 18"/>
          <p:cNvSpPr txBox="1"/>
          <p:nvPr/>
        </p:nvSpPr>
        <p:spPr>
          <a:xfrm>
            <a:off x="667512" y="1527048"/>
            <a:ext cx="347472" cy="164592"/>
          </a:xfrm>
          <a:prstGeom prst="rect">
            <a:avLst/>
          </a:prstGeom>
          <a:noFill/>
        </p:spPr>
        <p:txBody>
          <a:bodyPr wrap="square" anchor="t" lIns="0" tIns="0" rIns="0" bIns="0">
            <a:spAutoFit/>
          </a:bodyPr>
          <a:lstStyle/>
          <a:p>
            <a:pPr algn="l">
              <a:lnSpc>
                <a:spcPct val="102000"/>
              </a:lnSpc>
              <a:spcBef>
                <a:spcPts val="0"/>
              </a:spcBef>
              <a:spcAft>
                <a:spcPts val="0"/>
              </a:spcAft>
            </a:pPr>
            <a:r>
              <a:rPr sz="800" b="1" i="0" spc="80">
                <a:solidFill>
                  <a:srgbClr val="C84B31"/>
                </a:solidFill>
                <a:latin typeface="Calibri"/>
                <a:ea typeface="Microsoft YaHei"/>
                <a:cs typeface="Calibri"/>
              </a:rPr>
              <a:t>01</a:t>
            </a:r>
          </a:p>
        </p:txBody>
      </p:sp>
      <p:sp>
        <p:nvSpPr>
          <p:cNvPr id="20" name="TextBox 19"/>
          <p:cNvSpPr txBox="1"/>
          <p:nvPr/>
        </p:nvSpPr>
        <p:spPr>
          <a:xfrm>
            <a:off x="1078992" y="1476756"/>
            <a:ext cx="5596128" cy="128016"/>
          </a:xfrm>
          <a:prstGeom prst="rect">
            <a:avLst/>
          </a:prstGeom>
          <a:noFill/>
        </p:spPr>
        <p:txBody>
          <a:bodyPr wrap="square" anchor="t" lIns="0" tIns="0" rIns="0" bIns="0">
            <a:spAutoFit/>
          </a:bodyPr>
          <a:lstStyle/>
          <a:p>
            <a:pPr algn="l">
              <a:lnSpc>
                <a:spcPct val="102000"/>
              </a:lnSpc>
              <a:spcBef>
                <a:spcPts val="0"/>
              </a:spcBef>
              <a:spcAft>
                <a:spcPts val="0"/>
              </a:spcAft>
            </a:pPr>
            <a:r>
              <a:rPr sz="640" b="1" i="0" spc="110">
                <a:solidFill>
                  <a:srgbClr val="707984"/>
                </a:solidFill>
                <a:latin typeface="Calibri"/>
                <a:ea typeface="Microsoft YaHei"/>
                <a:cs typeface="Calibri"/>
              </a:rPr>
              <a:t>ORIGINAL</a:t>
            </a:r>
          </a:p>
        </p:txBody>
      </p:sp>
      <p:sp>
        <p:nvSpPr>
          <p:cNvPr id="21" name="TextBox 20"/>
          <p:cNvSpPr txBox="1"/>
          <p:nvPr/>
        </p:nvSpPr>
        <p:spPr>
          <a:xfrm>
            <a:off x="7114032" y="1476756"/>
            <a:ext cx="4114800" cy="128016"/>
          </a:xfrm>
          <a:prstGeom prst="rect">
            <a:avLst/>
          </a:prstGeom>
          <a:noFill/>
        </p:spPr>
        <p:txBody>
          <a:bodyPr wrap="square" anchor="t" lIns="0" tIns="0" rIns="0" bIns="0">
            <a:spAutoFit/>
          </a:bodyPr>
          <a:lstStyle/>
          <a:p>
            <a:pPr algn="l">
              <a:lnSpc>
                <a:spcPct val="102000"/>
              </a:lnSpc>
              <a:spcBef>
                <a:spcPts val="0"/>
              </a:spcBef>
              <a:spcAft>
                <a:spcPts val="0"/>
              </a:spcAft>
            </a:pPr>
            <a:r>
              <a:rPr sz="640" b="1" i="0" spc="80">
                <a:solidFill>
                  <a:srgbClr val="707984"/>
                </a:solidFill>
                <a:latin typeface="Calibri"/>
                <a:ea typeface="Microsoft YaHei"/>
                <a:cs typeface="Calibri"/>
              </a:rPr>
              <a:t>译文  /  CHINESE</a:t>
            </a:r>
          </a:p>
        </p:txBody>
      </p:sp>
      <p:sp>
        <p:nvSpPr>
          <p:cNvPr id="22" name="Rectangle 21"/>
          <p:cNvSpPr/>
          <p:nvPr/>
        </p:nvSpPr>
        <p:spPr>
          <a:xfrm>
            <a:off x="6922008" y="1545336"/>
            <a:ext cx="10972" cy="530352"/>
          </a:xfrm>
          <a:prstGeom prst="rect">
            <a:avLst/>
          </a:prstGeom>
          <a:solidFill>
            <a:srgbClr val="DFD7CB"/>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xtBox 22"/>
          <p:cNvSpPr txBox="1"/>
          <p:nvPr/>
        </p:nvSpPr>
        <p:spPr>
          <a:xfrm>
            <a:off x="1078992" y="1609344"/>
            <a:ext cx="5577840" cy="566928"/>
          </a:xfrm>
          <a:prstGeom prst="rect">
            <a:avLst/>
          </a:prstGeom>
          <a:noFill/>
        </p:spPr>
        <p:txBody>
          <a:bodyPr wrap="square" anchor="t" lIns="0" tIns="0" rIns="0" bIns="0">
            <a:spAutoFit/>
          </a:bodyPr>
          <a:lstStyle/>
          <a:p>
            <a:pPr algn="l">
              <a:lnSpc>
                <a:spcPct val="107000"/>
              </a:lnSpc>
              <a:spcBef>
                <a:spcPts val="0"/>
              </a:spcBef>
              <a:spcAft>
                <a:spcPts val="0"/>
              </a:spcAft>
            </a:pPr>
            <a:r>
              <a:rPr sz="1240" b="1" i="0">
                <a:solidFill>
                  <a:srgbClr val="C84B31"/>
                </a:solidFill>
                <a:latin typeface="Georgia"/>
                <a:ea typeface="Microsoft YaHei"/>
                <a:cs typeface="Georgia"/>
              </a:rPr>
              <a:t>Yet</a:t>
            </a:r>
            <a:r>
              <a:rPr sz="1240" b="1" i="0">
                <a:solidFill>
                  <a:srgbClr val="1B365D"/>
                </a:solidFill>
                <a:latin typeface="Georgia"/>
                <a:ea typeface="Microsoft YaHei"/>
                <a:cs typeface="Georgia"/>
              </a:rPr>
              <a:t> many people see English as a blessing.</a:t>
            </a:r>
          </a:p>
        </p:txBody>
      </p:sp>
      <p:sp>
        <p:nvSpPr>
          <p:cNvPr id="24" name="TextBox 23"/>
          <p:cNvSpPr txBox="1"/>
          <p:nvPr/>
        </p:nvSpPr>
        <p:spPr>
          <a:xfrm>
            <a:off x="7114032" y="1609344"/>
            <a:ext cx="4224528" cy="566928"/>
          </a:xfrm>
          <a:prstGeom prst="rect">
            <a:avLst/>
          </a:prstGeom>
          <a:noFill/>
        </p:spPr>
        <p:txBody>
          <a:bodyPr wrap="square" anchor="t" lIns="0" tIns="0" rIns="0" bIns="0">
            <a:spAutoFit/>
          </a:bodyPr>
          <a:lstStyle/>
          <a:p>
            <a:pPr algn="l">
              <a:lnSpc>
                <a:spcPct val="112000"/>
              </a:lnSpc>
              <a:spcBef>
                <a:spcPts val="0"/>
              </a:spcBef>
              <a:spcAft>
                <a:spcPts val="0"/>
              </a:spcAft>
            </a:pPr>
            <a:r>
              <a:rPr sz="1070" b="0" i="0">
                <a:solidFill>
                  <a:srgbClr val="2C3E50"/>
                </a:solidFill>
                <a:latin typeface="Calibri"/>
                <a:ea typeface="Microsoft YaHei"/>
                <a:cs typeface="Calibri"/>
              </a:rPr>
              <a:t>然而，许多人将英语视为一种福音（福气）。</a:t>
            </a:r>
          </a:p>
        </p:txBody>
      </p:sp>
      <p:sp>
        <p:nvSpPr>
          <p:cNvPr id="25" name="Rounded Rectangle 24"/>
          <p:cNvSpPr/>
          <p:nvPr/>
        </p:nvSpPr>
        <p:spPr>
          <a:xfrm>
            <a:off x="502920" y="2340864"/>
            <a:ext cx="11183112" cy="1371600"/>
          </a:xfrm>
          <a:prstGeom prst="roundRect">
            <a:avLst>
              <a:gd name="adj" fmla="val 1799"/>
            </a:avLst>
          </a:prstGeom>
          <a:solidFill>
            <a:srgbClr val="FFFDF9"/>
          </a:solidFill>
          <a:ln w="10160">
            <a:solidFill>
              <a:srgbClr val="DFD7CB"/>
            </a:solidFill>
          </a:ln>
          <a:effectLst>
            <a:outerShdw blurRad="152400" dist="38100" dir="5400000" algn="ctr" rotWithShape="0">
              <a:srgbClr val="1B365D">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Rectangle 25"/>
          <p:cNvSpPr/>
          <p:nvPr/>
        </p:nvSpPr>
        <p:spPr>
          <a:xfrm>
            <a:off x="502920" y="2340864"/>
            <a:ext cx="45720" cy="137160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xtBox 26"/>
          <p:cNvSpPr txBox="1"/>
          <p:nvPr/>
        </p:nvSpPr>
        <p:spPr>
          <a:xfrm>
            <a:off x="667512" y="2478024"/>
            <a:ext cx="347472" cy="164592"/>
          </a:xfrm>
          <a:prstGeom prst="rect">
            <a:avLst/>
          </a:prstGeom>
          <a:noFill/>
        </p:spPr>
        <p:txBody>
          <a:bodyPr wrap="square" anchor="t" lIns="0" tIns="0" rIns="0" bIns="0">
            <a:spAutoFit/>
          </a:bodyPr>
          <a:lstStyle/>
          <a:p>
            <a:pPr algn="l">
              <a:lnSpc>
                <a:spcPct val="102000"/>
              </a:lnSpc>
              <a:spcBef>
                <a:spcPts val="0"/>
              </a:spcBef>
              <a:spcAft>
                <a:spcPts val="0"/>
              </a:spcAft>
            </a:pPr>
            <a:r>
              <a:rPr sz="800" b="1" i="0" spc="80">
                <a:solidFill>
                  <a:srgbClr val="C84B31"/>
                </a:solidFill>
                <a:latin typeface="Calibri"/>
                <a:ea typeface="Microsoft YaHei"/>
                <a:cs typeface="Calibri"/>
              </a:rPr>
              <a:t>02</a:t>
            </a:r>
          </a:p>
        </p:txBody>
      </p:sp>
      <p:sp>
        <p:nvSpPr>
          <p:cNvPr id="28" name="TextBox 27"/>
          <p:cNvSpPr txBox="1"/>
          <p:nvPr/>
        </p:nvSpPr>
        <p:spPr>
          <a:xfrm>
            <a:off x="1078992" y="2427732"/>
            <a:ext cx="5596128" cy="128016"/>
          </a:xfrm>
          <a:prstGeom prst="rect">
            <a:avLst/>
          </a:prstGeom>
          <a:noFill/>
        </p:spPr>
        <p:txBody>
          <a:bodyPr wrap="square" anchor="t" lIns="0" tIns="0" rIns="0" bIns="0">
            <a:spAutoFit/>
          </a:bodyPr>
          <a:lstStyle/>
          <a:p>
            <a:pPr algn="l">
              <a:lnSpc>
                <a:spcPct val="102000"/>
              </a:lnSpc>
              <a:spcBef>
                <a:spcPts val="0"/>
              </a:spcBef>
              <a:spcAft>
                <a:spcPts val="0"/>
              </a:spcAft>
            </a:pPr>
            <a:r>
              <a:rPr sz="640" b="1" i="0" spc="110">
                <a:solidFill>
                  <a:srgbClr val="707984"/>
                </a:solidFill>
                <a:latin typeface="Calibri"/>
                <a:ea typeface="Microsoft YaHei"/>
                <a:cs typeface="Calibri"/>
              </a:rPr>
              <a:t>ORIGINAL</a:t>
            </a:r>
          </a:p>
        </p:txBody>
      </p:sp>
      <p:sp>
        <p:nvSpPr>
          <p:cNvPr id="29" name="TextBox 28"/>
          <p:cNvSpPr txBox="1"/>
          <p:nvPr/>
        </p:nvSpPr>
        <p:spPr>
          <a:xfrm>
            <a:off x="7114032" y="2427732"/>
            <a:ext cx="4114800" cy="128016"/>
          </a:xfrm>
          <a:prstGeom prst="rect">
            <a:avLst/>
          </a:prstGeom>
          <a:noFill/>
        </p:spPr>
        <p:txBody>
          <a:bodyPr wrap="square" anchor="t" lIns="0" tIns="0" rIns="0" bIns="0">
            <a:spAutoFit/>
          </a:bodyPr>
          <a:lstStyle/>
          <a:p>
            <a:pPr algn="l">
              <a:lnSpc>
                <a:spcPct val="102000"/>
              </a:lnSpc>
              <a:spcBef>
                <a:spcPts val="0"/>
              </a:spcBef>
              <a:spcAft>
                <a:spcPts val="0"/>
              </a:spcAft>
            </a:pPr>
            <a:r>
              <a:rPr sz="640" b="1" i="0" spc="80">
                <a:solidFill>
                  <a:srgbClr val="707984"/>
                </a:solidFill>
                <a:latin typeface="Calibri"/>
                <a:ea typeface="Microsoft YaHei"/>
                <a:cs typeface="Calibri"/>
              </a:rPr>
              <a:t>译文  /  CHINESE</a:t>
            </a:r>
          </a:p>
        </p:txBody>
      </p:sp>
      <p:sp>
        <p:nvSpPr>
          <p:cNvPr id="30" name="Rectangle 29"/>
          <p:cNvSpPr/>
          <p:nvPr/>
        </p:nvSpPr>
        <p:spPr>
          <a:xfrm>
            <a:off x="6922008" y="2496312"/>
            <a:ext cx="10972" cy="1060704"/>
          </a:xfrm>
          <a:prstGeom prst="rect">
            <a:avLst/>
          </a:prstGeom>
          <a:solidFill>
            <a:srgbClr val="DFD7CB"/>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1" name="TextBox 30"/>
          <p:cNvSpPr txBox="1"/>
          <p:nvPr/>
        </p:nvSpPr>
        <p:spPr>
          <a:xfrm>
            <a:off x="1078992" y="2560320"/>
            <a:ext cx="5577840" cy="1097280"/>
          </a:xfrm>
          <a:prstGeom prst="rect">
            <a:avLst/>
          </a:prstGeom>
          <a:noFill/>
        </p:spPr>
        <p:txBody>
          <a:bodyPr wrap="square" anchor="t" lIns="0" tIns="0" rIns="0" bIns="0">
            <a:spAutoFit/>
          </a:bodyPr>
          <a:lstStyle/>
          <a:p>
            <a:pPr algn="l">
              <a:lnSpc>
                <a:spcPct val="107000"/>
              </a:lnSpc>
              <a:spcBef>
                <a:spcPts val="0"/>
              </a:spcBef>
              <a:spcAft>
                <a:spcPts val="0"/>
              </a:spcAft>
            </a:pPr>
            <a:r>
              <a:rPr sz="1170" b="0" i="0">
                <a:solidFill>
                  <a:srgbClr val="2C3E50"/>
                </a:solidFill>
                <a:latin typeface="Georgia"/>
                <a:ea typeface="Microsoft YaHei"/>
                <a:cs typeface="Georgia"/>
              </a:rPr>
              <a:t>Let me </a:t>
            </a:r>
            <a:r>
              <a:rPr sz="1170" b="1" i="0">
                <a:solidFill>
                  <a:srgbClr val="C84B31"/>
                </a:solidFill>
                <a:latin typeface="Georgia"/>
                <a:ea typeface="Microsoft YaHei"/>
                <a:cs typeface="Georgia"/>
              </a:rPr>
              <a:t>leave aside</a:t>
            </a:r>
            <a:r>
              <a:rPr sz="1170" b="0" i="0">
                <a:solidFill>
                  <a:srgbClr val="2C3E50"/>
                </a:solidFill>
                <a:latin typeface="Georgia"/>
                <a:ea typeface="Microsoft YaHei"/>
                <a:cs typeface="Georgia"/>
              </a:rPr>
              <a:t> here the obvious </a:t>
            </a:r>
            <a:r>
              <a:rPr sz="1170" b="1" i="0">
                <a:solidFill>
                  <a:srgbClr val="1B365D"/>
                </a:solidFill>
                <a:latin typeface="Georgia"/>
                <a:ea typeface="Microsoft YaHei"/>
                <a:cs typeface="Georgia"/>
              </a:rPr>
              <a:t>advantages</a:t>
            </a:r>
            <a:r>
              <a:rPr sz="1170" b="0" i="0">
                <a:solidFill>
                  <a:srgbClr val="2C3E50"/>
                </a:solidFill>
                <a:latin typeface="Georgia"/>
                <a:ea typeface="Microsoft YaHei"/>
                <a:cs typeface="Georgia"/>
              </a:rPr>
              <a:t> possessed by any world language, such as a large communicative network, a strong literary and media complex, and a powerful cultural and educational apparatus.</a:t>
            </a:r>
          </a:p>
        </p:txBody>
      </p:sp>
      <p:sp>
        <p:nvSpPr>
          <p:cNvPr id="32" name="TextBox 31"/>
          <p:cNvSpPr txBox="1"/>
          <p:nvPr/>
        </p:nvSpPr>
        <p:spPr>
          <a:xfrm>
            <a:off x="7114032" y="2560320"/>
            <a:ext cx="4224528" cy="1097280"/>
          </a:xfrm>
          <a:prstGeom prst="rect">
            <a:avLst/>
          </a:prstGeom>
          <a:noFill/>
        </p:spPr>
        <p:txBody>
          <a:bodyPr wrap="square" anchor="t" lIns="0" tIns="0" rIns="0" bIns="0">
            <a:spAutoFit/>
          </a:bodyPr>
          <a:lstStyle/>
          <a:p>
            <a:pPr algn="l">
              <a:lnSpc>
                <a:spcPct val="112000"/>
              </a:lnSpc>
              <a:spcBef>
                <a:spcPts val="0"/>
              </a:spcBef>
              <a:spcAft>
                <a:spcPts val="0"/>
              </a:spcAft>
            </a:pPr>
            <a:r>
              <a:rPr sz="1045" b="0" i="0">
                <a:solidFill>
                  <a:srgbClr val="2C3E50"/>
                </a:solidFill>
                <a:latin typeface="Calibri"/>
                <a:ea typeface="Microsoft YaHei"/>
                <a:cs typeface="Calibri"/>
              </a:rPr>
              <a:t>在这里，我且先搁置任何世界性语言所拥有的明显优势不谈，比如庞大的交际网络、强大的文学与媒体综合体，以及强有力的文化与教育机构。</a:t>
            </a:r>
          </a:p>
        </p:txBody>
      </p:sp>
      <p:sp>
        <p:nvSpPr>
          <p:cNvPr id="33" name="Rounded Rectangle 32"/>
          <p:cNvSpPr/>
          <p:nvPr/>
        </p:nvSpPr>
        <p:spPr>
          <a:xfrm>
            <a:off x="502920" y="3822191"/>
            <a:ext cx="11183112" cy="896112"/>
          </a:xfrm>
          <a:prstGeom prst="roundRect">
            <a:avLst>
              <a:gd name="adj" fmla="val 1799"/>
            </a:avLst>
          </a:prstGeom>
          <a:solidFill>
            <a:srgbClr val="FFFDF9"/>
          </a:solidFill>
          <a:ln w="10160">
            <a:solidFill>
              <a:srgbClr val="DFD7CB"/>
            </a:solidFill>
          </a:ln>
          <a:effectLst>
            <a:outerShdw blurRad="152400" dist="38100" dir="5400000" algn="ctr" rotWithShape="0">
              <a:srgbClr val="1B365D">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Rectangle 33"/>
          <p:cNvSpPr/>
          <p:nvPr/>
        </p:nvSpPr>
        <p:spPr>
          <a:xfrm>
            <a:off x="502920" y="3822191"/>
            <a:ext cx="45720" cy="896112"/>
          </a:xfrm>
          <a:prstGeom prst="rect">
            <a:avLst/>
          </a:prstGeom>
          <a:solidFill>
            <a:srgbClr val="C84B3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xtBox 34"/>
          <p:cNvSpPr txBox="1"/>
          <p:nvPr/>
        </p:nvSpPr>
        <p:spPr>
          <a:xfrm>
            <a:off x="667512" y="3959352"/>
            <a:ext cx="347472" cy="164592"/>
          </a:xfrm>
          <a:prstGeom prst="rect">
            <a:avLst/>
          </a:prstGeom>
          <a:noFill/>
        </p:spPr>
        <p:txBody>
          <a:bodyPr wrap="square" anchor="t" lIns="0" tIns="0" rIns="0" bIns="0">
            <a:spAutoFit/>
          </a:bodyPr>
          <a:lstStyle/>
          <a:p>
            <a:pPr algn="l">
              <a:lnSpc>
                <a:spcPct val="102000"/>
              </a:lnSpc>
              <a:spcBef>
                <a:spcPts val="0"/>
              </a:spcBef>
              <a:spcAft>
                <a:spcPts val="0"/>
              </a:spcAft>
            </a:pPr>
            <a:r>
              <a:rPr sz="800" b="1" i="0" spc="80">
                <a:solidFill>
                  <a:srgbClr val="C84B31"/>
                </a:solidFill>
                <a:latin typeface="Calibri"/>
                <a:ea typeface="Microsoft YaHei"/>
                <a:cs typeface="Calibri"/>
              </a:rPr>
              <a:t>03</a:t>
            </a:r>
          </a:p>
        </p:txBody>
      </p:sp>
      <p:sp>
        <p:nvSpPr>
          <p:cNvPr id="36" name="TextBox 35"/>
          <p:cNvSpPr txBox="1"/>
          <p:nvPr/>
        </p:nvSpPr>
        <p:spPr>
          <a:xfrm>
            <a:off x="1078992" y="3909059"/>
            <a:ext cx="5596128" cy="128016"/>
          </a:xfrm>
          <a:prstGeom prst="rect">
            <a:avLst/>
          </a:prstGeom>
          <a:noFill/>
        </p:spPr>
        <p:txBody>
          <a:bodyPr wrap="square" anchor="t" lIns="0" tIns="0" rIns="0" bIns="0">
            <a:spAutoFit/>
          </a:bodyPr>
          <a:lstStyle/>
          <a:p>
            <a:pPr algn="l">
              <a:lnSpc>
                <a:spcPct val="102000"/>
              </a:lnSpc>
              <a:spcBef>
                <a:spcPts val="0"/>
              </a:spcBef>
              <a:spcAft>
                <a:spcPts val="0"/>
              </a:spcAft>
            </a:pPr>
            <a:r>
              <a:rPr sz="640" b="1" i="0" spc="110">
                <a:solidFill>
                  <a:srgbClr val="707984"/>
                </a:solidFill>
                <a:latin typeface="Calibri"/>
                <a:ea typeface="Microsoft YaHei"/>
                <a:cs typeface="Calibri"/>
              </a:rPr>
              <a:t>ORIGINAL</a:t>
            </a:r>
          </a:p>
        </p:txBody>
      </p:sp>
      <p:sp>
        <p:nvSpPr>
          <p:cNvPr id="37" name="TextBox 36"/>
          <p:cNvSpPr txBox="1"/>
          <p:nvPr/>
        </p:nvSpPr>
        <p:spPr>
          <a:xfrm>
            <a:off x="7114032" y="3909059"/>
            <a:ext cx="4114800" cy="128016"/>
          </a:xfrm>
          <a:prstGeom prst="rect">
            <a:avLst/>
          </a:prstGeom>
          <a:noFill/>
        </p:spPr>
        <p:txBody>
          <a:bodyPr wrap="square" anchor="t" lIns="0" tIns="0" rIns="0" bIns="0">
            <a:spAutoFit/>
          </a:bodyPr>
          <a:lstStyle/>
          <a:p>
            <a:pPr algn="l">
              <a:lnSpc>
                <a:spcPct val="102000"/>
              </a:lnSpc>
              <a:spcBef>
                <a:spcPts val="0"/>
              </a:spcBef>
              <a:spcAft>
                <a:spcPts val="0"/>
              </a:spcAft>
            </a:pPr>
            <a:r>
              <a:rPr sz="640" b="1" i="0" spc="80">
                <a:solidFill>
                  <a:srgbClr val="707984"/>
                </a:solidFill>
                <a:latin typeface="Calibri"/>
                <a:ea typeface="Microsoft YaHei"/>
                <a:cs typeface="Calibri"/>
              </a:rPr>
              <a:t>译文  /  CHINESE</a:t>
            </a:r>
          </a:p>
        </p:txBody>
      </p:sp>
      <p:sp>
        <p:nvSpPr>
          <p:cNvPr id="38" name="Rectangle 37"/>
          <p:cNvSpPr/>
          <p:nvPr/>
        </p:nvSpPr>
        <p:spPr>
          <a:xfrm>
            <a:off x="6922008" y="3977639"/>
            <a:ext cx="10972" cy="585215"/>
          </a:xfrm>
          <a:prstGeom prst="rect">
            <a:avLst/>
          </a:prstGeom>
          <a:solidFill>
            <a:srgbClr val="DFD7CB"/>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xtBox 38"/>
          <p:cNvSpPr txBox="1"/>
          <p:nvPr/>
        </p:nvSpPr>
        <p:spPr>
          <a:xfrm>
            <a:off x="1078992" y="4041648"/>
            <a:ext cx="5577840" cy="621792"/>
          </a:xfrm>
          <a:prstGeom prst="rect">
            <a:avLst/>
          </a:prstGeom>
          <a:noFill/>
        </p:spPr>
        <p:txBody>
          <a:bodyPr wrap="square" anchor="t" lIns="0" tIns="0" rIns="0" bIns="0">
            <a:spAutoFit/>
          </a:bodyPr>
          <a:lstStyle/>
          <a:p>
            <a:pPr algn="l">
              <a:lnSpc>
                <a:spcPct val="107000"/>
              </a:lnSpc>
              <a:spcBef>
                <a:spcPts val="0"/>
              </a:spcBef>
              <a:spcAft>
                <a:spcPts val="0"/>
              </a:spcAft>
            </a:pPr>
            <a:r>
              <a:rPr sz="1210" b="0" i="0">
                <a:solidFill>
                  <a:srgbClr val="2C3E50"/>
                </a:solidFill>
                <a:latin typeface="Georgia"/>
                <a:ea typeface="Microsoft YaHei"/>
                <a:cs typeface="Georgia"/>
              </a:rPr>
              <a:t>Let us instead look at something rather different: the issue of </a:t>
            </a:r>
            <a:r>
              <a:rPr sz="1210" b="1" i="0">
                <a:solidFill>
                  <a:srgbClr val="C84B31"/>
                </a:solidFill>
                <a:latin typeface="Georgia"/>
                <a:ea typeface="Microsoft YaHei"/>
                <a:cs typeface="Georgia"/>
              </a:rPr>
              <a:t>politics, justice, and equality.</a:t>
            </a:r>
          </a:p>
        </p:txBody>
      </p:sp>
      <p:sp>
        <p:nvSpPr>
          <p:cNvPr id="40" name="TextBox 39"/>
          <p:cNvSpPr txBox="1"/>
          <p:nvPr/>
        </p:nvSpPr>
        <p:spPr>
          <a:xfrm>
            <a:off x="7114032" y="4041648"/>
            <a:ext cx="4224528" cy="621792"/>
          </a:xfrm>
          <a:prstGeom prst="rect">
            <a:avLst/>
          </a:prstGeom>
          <a:noFill/>
        </p:spPr>
        <p:txBody>
          <a:bodyPr wrap="square" anchor="t" lIns="0" tIns="0" rIns="0" bIns="0">
            <a:spAutoFit/>
          </a:bodyPr>
          <a:lstStyle/>
          <a:p>
            <a:pPr algn="l">
              <a:lnSpc>
                <a:spcPct val="112000"/>
              </a:lnSpc>
              <a:spcBef>
                <a:spcPts val="0"/>
              </a:spcBef>
              <a:spcAft>
                <a:spcPts val="0"/>
              </a:spcAft>
            </a:pPr>
            <a:r>
              <a:rPr sz="1070" b="0" i="0">
                <a:solidFill>
                  <a:srgbClr val="2C3E50"/>
                </a:solidFill>
                <a:latin typeface="Calibri"/>
                <a:ea typeface="Microsoft YaHei"/>
                <a:cs typeface="Calibri"/>
              </a:rPr>
              <a:t>相反，让我们来看看相当不同的一面：政治、正义与平等的问题。</a:t>
            </a:r>
          </a:p>
        </p:txBody>
      </p:sp>
      <p:sp>
        <p:nvSpPr>
          <p:cNvPr id="41" name="Rounded Rectangle 40"/>
          <p:cNvSpPr/>
          <p:nvPr/>
        </p:nvSpPr>
        <p:spPr>
          <a:xfrm>
            <a:off x="502920" y="4745736"/>
            <a:ext cx="3611880" cy="1444752"/>
          </a:xfrm>
          <a:prstGeom prst="roundRect">
            <a:avLst>
              <a:gd name="adj" fmla="val 3000"/>
            </a:avLst>
          </a:prstGeom>
          <a:solidFill>
            <a:srgbClr val="FFFFFF"/>
          </a:solidFill>
          <a:ln w="10160">
            <a:solidFill>
              <a:srgbClr val="DFD7CB"/>
            </a:solidFill>
          </a:ln>
          <a:effectLst>
            <a:outerShdw blurRad="152400" dist="38100" dir="5400000" algn="ctr" rotWithShape="0">
              <a:srgbClr val="1B365D">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Rectangle 41"/>
          <p:cNvSpPr/>
          <p:nvPr/>
        </p:nvSpPr>
        <p:spPr>
          <a:xfrm>
            <a:off x="502920" y="4745736"/>
            <a:ext cx="3611880" cy="47548"/>
          </a:xfrm>
          <a:prstGeom prst="rect">
            <a:avLst/>
          </a:prstGeom>
          <a:solidFill>
            <a:srgbClr val="C84B3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3" name="TextBox 42"/>
          <p:cNvSpPr txBox="1"/>
          <p:nvPr/>
        </p:nvSpPr>
        <p:spPr>
          <a:xfrm>
            <a:off x="722376" y="4882896"/>
            <a:ext cx="3163824" cy="274320"/>
          </a:xfrm>
          <a:prstGeom prst="rect">
            <a:avLst/>
          </a:prstGeom>
          <a:noFill/>
        </p:spPr>
        <p:txBody>
          <a:bodyPr wrap="square" anchor="t" lIns="0" tIns="0" rIns="0" bIns="0">
            <a:spAutoFit/>
          </a:bodyPr>
          <a:lstStyle/>
          <a:p>
            <a:pPr algn="l">
              <a:lnSpc>
                <a:spcPct val="102000"/>
              </a:lnSpc>
              <a:spcBef>
                <a:spcPts val="0"/>
              </a:spcBef>
              <a:spcAft>
                <a:spcPts val="0"/>
              </a:spcAft>
            </a:pPr>
            <a:r>
              <a:rPr sz="1400" b="1" i="0">
                <a:solidFill>
                  <a:srgbClr val="1B365D"/>
                </a:solidFill>
                <a:latin typeface="Georgia"/>
                <a:ea typeface="Microsoft YaHei"/>
                <a:cs typeface="Georgia"/>
              </a:rPr>
              <a:t>Yet</a:t>
            </a:r>
          </a:p>
        </p:txBody>
      </p:sp>
      <p:sp>
        <p:nvSpPr>
          <p:cNvPr id="44" name="TextBox 43"/>
          <p:cNvSpPr txBox="1"/>
          <p:nvPr/>
        </p:nvSpPr>
        <p:spPr>
          <a:xfrm>
            <a:off x="722376" y="5157216"/>
            <a:ext cx="3154680" cy="146304"/>
          </a:xfrm>
          <a:prstGeom prst="rect">
            <a:avLst/>
          </a:prstGeom>
          <a:noFill/>
        </p:spPr>
        <p:txBody>
          <a:bodyPr wrap="square" anchor="t" lIns="0" tIns="0" rIns="0" bIns="0">
            <a:spAutoFit/>
          </a:bodyPr>
          <a:lstStyle/>
          <a:p>
            <a:pPr algn="l">
              <a:lnSpc>
                <a:spcPct val="102000"/>
              </a:lnSpc>
              <a:spcBef>
                <a:spcPts val="0"/>
              </a:spcBef>
              <a:spcAft>
                <a:spcPts val="0"/>
              </a:spcAft>
            </a:pPr>
            <a:r>
              <a:rPr sz="690" b="1" i="0" spc="80">
                <a:solidFill>
                  <a:srgbClr val="1B365D"/>
                </a:solidFill>
                <a:latin typeface="Calibri"/>
                <a:ea typeface="Microsoft YaHei"/>
                <a:cs typeface="Calibri"/>
              </a:rPr>
              <a:t>转折标记 · CONTRAST</a:t>
            </a:r>
          </a:p>
        </p:txBody>
      </p:sp>
      <p:sp>
        <p:nvSpPr>
          <p:cNvPr id="45" name="Rectangle 44"/>
          <p:cNvSpPr/>
          <p:nvPr/>
        </p:nvSpPr>
        <p:spPr>
          <a:xfrm>
            <a:off x="722376" y="5358384"/>
            <a:ext cx="3127248" cy="10972"/>
          </a:xfrm>
          <a:prstGeom prst="rect">
            <a:avLst/>
          </a:prstGeom>
          <a:solidFill>
            <a:srgbClr val="DFD7CB"/>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TextBox 45"/>
          <p:cNvSpPr txBox="1"/>
          <p:nvPr/>
        </p:nvSpPr>
        <p:spPr>
          <a:xfrm>
            <a:off x="722376" y="5440680"/>
            <a:ext cx="3127248" cy="621792"/>
          </a:xfrm>
          <a:prstGeom prst="rect">
            <a:avLst/>
          </a:prstGeom>
          <a:noFill/>
        </p:spPr>
        <p:txBody>
          <a:bodyPr wrap="square" anchor="t" lIns="0" tIns="0" rIns="0" bIns="0">
            <a:spAutoFit/>
          </a:bodyPr>
          <a:lstStyle/>
          <a:p>
            <a:pPr algn="l">
              <a:lnSpc>
                <a:spcPct val="110000"/>
              </a:lnSpc>
              <a:spcBef>
                <a:spcPts val="0"/>
              </a:spcBef>
              <a:spcAft>
                <a:spcPts val="0"/>
              </a:spcAft>
            </a:pPr>
            <a:r>
              <a:rPr sz="930" b="0" i="0">
                <a:solidFill>
                  <a:srgbClr val="2C3E50"/>
                </a:solidFill>
                <a:latin typeface="Calibri"/>
                <a:ea typeface="Microsoft YaHei"/>
                <a:cs typeface="Calibri"/>
              </a:rPr>
              <a:t>主旨大转折，与前文的 curse（诅咒）形成直接交锋。</a:t>
            </a:r>
          </a:p>
        </p:txBody>
      </p:sp>
      <p:sp>
        <p:nvSpPr>
          <p:cNvPr id="47" name="Rounded Rectangle 46"/>
          <p:cNvSpPr/>
          <p:nvPr/>
        </p:nvSpPr>
        <p:spPr>
          <a:xfrm>
            <a:off x="4315968" y="4745736"/>
            <a:ext cx="3611880" cy="1444752"/>
          </a:xfrm>
          <a:prstGeom prst="roundRect">
            <a:avLst>
              <a:gd name="adj" fmla="val 3000"/>
            </a:avLst>
          </a:prstGeom>
          <a:solidFill>
            <a:srgbClr val="FFFFFF"/>
          </a:solidFill>
          <a:ln w="10160">
            <a:solidFill>
              <a:srgbClr val="DFD7CB"/>
            </a:solidFill>
          </a:ln>
          <a:effectLst>
            <a:outerShdw blurRad="152400" dist="38100" dir="5400000" algn="ctr" rotWithShape="0">
              <a:srgbClr val="1B365D">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Rectangle 47"/>
          <p:cNvSpPr/>
          <p:nvPr/>
        </p:nvSpPr>
        <p:spPr>
          <a:xfrm>
            <a:off x="4315968" y="4745736"/>
            <a:ext cx="3611880" cy="4754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9" name="TextBox 48"/>
          <p:cNvSpPr txBox="1"/>
          <p:nvPr/>
        </p:nvSpPr>
        <p:spPr>
          <a:xfrm>
            <a:off x="4535424" y="4882896"/>
            <a:ext cx="3163824" cy="274320"/>
          </a:xfrm>
          <a:prstGeom prst="rect">
            <a:avLst/>
          </a:prstGeom>
          <a:noFill/>
        </p:spPr>
        <p:txBody>
          <a:bodyPr wrap="square" anchor="t" lIns="0" tIns="0" rIns="0" bIns="0">
            <a:spAutoFit/>
          </a:bodyPr>
          <a:lstStyle/>
          <a:p>
            <a:pPr algn="l">
              <a:lnSpc>
                <a:spcPct val="102000"/>
              </a:lnSpc>
              <a:spcBef>
                <a:spcPts val="0"/>
              </a:spcBef>
              <a:spcAft>
                <a:spcPts val="0"/>
              </a:spcAft>
            </a:pPr>
            <a:r>
              <a:rPr sz="1400" b="1" i="0">
                <a:solidFill>
                  <a:srgbClr val="1B365D"/>
                </a:solidFill>
                <a:latin typeface="Georgia"/>
                <a:ea typeface="Microsoft YaHei"/>
                <a:cs typeface="Georgia"/>
              </a:rPr>
              <a:t>leave aside</a:t>
            </a:r>
          </a:p>
        </p:txBody>
      </p:sp>
      <p:sp>
        <p:nvSpPr>
          <p:cNvPr id="50" name="TextBox 49"/>
          <p:cNvSpPr txBox="1"/>
          <p:nvPr/>
        </p:nvSpPr>
        <p:spPr>
          <a:xfrm>
            <a:off x="4535424" y="5157216"/>
            <a:ext cx="3154680" cy="146304"/>
          </a:xfrm>
          <a:prstGeom prst="rect">
            <a:avLst/>
          </a:prstGeom>
          <a:noFill/>
        </p:spPr>
        <p:txBody>
          <a:bodyPr wrap="square" anchor="t" lIns="0" tIns="0" rIns="0" bIns="0">
            <a:spAutoFit/>
          </a:bodyPr>
          <a:lstStyle/>
          <a:p>
            <a:pPr algn="l">
              <a:lnSpc>
                <a:spcPct val="102000"/>
              </a:lnSpc>
              <a:spcBef>
                <a:spcPts val="0"/>
              </a:spcBef>
              <a:spcAft>
                <a:spcPts val="0"/>
              </a:spcAft>
            </a:pPr>
            <a:r>
              <a:rPr sz="690" b="1" i="0" spc="80">
                <a:solidFill>
                  <a:srgbClr val="C84B31"/>
                </a:solidFill>
                <a:latin typeface="Calibri"/>
                <a:ea typeface="Microsoft YaHei"/>
                <a:cs typeface="Calibri"/>
              </a:rPr>
              <a:t>动词短语 · PHRASAL VERB</a:t>
            </a:r>
          </a:p>
        </p:txBody>
      </p:sp>
      <p:sp>
        <p:nvSpPr>
          <p:cNvPr id="51" name="Rectangle 50"/>
          <p:cNvSpPr/>
          <p:nvPr/>
        </p:nvSpPr>
        <p:spPr>
          <a:xfrm>
            <a:off x="4535424" y="5358384"/>
            <a:ext cx="3127248" cy="10972"/>
          </a:xfrm>
          <a:prstGeom prst="rect">
            <a:avLst/>
          </a:prstGeom>
          <a:solidFill>
            <a:srgbClr val="DFD7CB"/>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TextBox 51"/>
          <p:cNvSpPr txBox="1"/>
          <p:nvPr/>
        </p:nvSpPr>
        <p:spPr>
          <a:xfrm>
            <a:off x="4535424" y="5440680"/>
            <a:ext cx="3127248" cy="621792"/>
          </a:xfrm>
          <a:prstGeom prst="rect">
            <a:avLst/>
          </a:prstGeom>
          <a:noFill/>
        </p:spPr>
        <p:txBody>
          <a:bodyPr wrap="square" anchor="t" lIns="0" tIns="0" rIns="0" bIns="0">
            <a:spAutoFit/>
          </a:bodyPr>
          <a:lstStyle/>
          <a:p>
            <a:pPr algn="l">
              <a:lnSpc>
                <a:spcPct val="110000"/>
              </a:lnSpc>
              <a:spcBef>
                <a:spcPts val="0"/>
              </a:spcBef>
              <a:spcAft>
                <a:spcPts val="0"/>
              </a:spcAft>
            </a:pPr>
            <a:r>
              <a:rPr sz="930" b="0" i="0">
                <a:solidFill>
                  <a:srgbClr val="2C3E50"/>
                </a:solidFill>
                <a:latin typeface="Calibri"/>
                <a:ea typeface="Microsoft YaHei"/>
                <a:cs typeface="Calibri"/>
              </a:rPr>
              <a:t>搁置、撇开不谈；欲扬先抑，主动排除常识性优势。</a:t>
            </a:r>
          </a:p>
        </p:txBody>
      </p:sp>
      <p:sp>
        <p:nvSpPr>
          <p:cNvPr id="53" name="Rounded Rectangle 52"/>
          <p:cNvSpPr/>
          <p:nvPr/>
        </p:nvSpPr>
        <p:spPr>
          <a:xfrm>
            <a:off x="8129016" y="4745736"/>
            <a:ext cx="3611880" cy="1444752"/>
          </a:xfrm>
          <a:prstGeom prst="roundRect">
            <a:avLst>
              <a:gd name="adj" fmla="val 3000"/>
            </a:avLst>
          </a:prstGeom>
          <a:solidFill>
            <a:srgbClr val="FFFFFF"/>
          </a:solidFill>
          <a:ln w="10160">
            <a:solidFill>
              <a:srgbClr val="DFD7CB"/>
            </a:solidFill>
          </a:ln>
          <a:effectLst>
            <a:outerShdw blurRad="152400" dist="38100" dir="5400000" algn="ctr" rotWithShape="0">
              <a:srgbClr val="1B365D">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Rectangle 53"/>
          <p:cNvSpPr/>
          <p:nvPr/>
        </p:nvSpPr>
        <p:spPr>
          <a:xfrm>
            <a:off x="8129016" y="4745736"/>
            <a:ext cx="3611880" cy="47548"/>
          </a:xfrm>
          <a:prstGeom prst="rect">
            <a:avLst/>
          </a:prstGeom>
          <a:solidFill>
            <a:srgbClr val="B78B5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5" name="TextBox 54"/>
          <p:cNvSpPr txBox="1"/>
          <p:nvPr/>
        </p:nvSpPr>
        <p:spPr>
          <a:xfrm>
            <a:off x="8348472" y="4882896"/>
            <a:ext cx="3163824" cy="274320"/>
          </a:xfrm>
          <a:prstGeom prst="rect">
            <a:avLst/>
          </a:prstGeom>
          <a:noFill/>
        </p:spPr>
        <p:txBody>
          <a:bodyPr wrap="square" anchor="t" lIns="0" tIns="0" rIns="0" bIns="0">
            <a:spAutoFit/>
          </a:bodyPr>
          <a:lstStyle/>
          <a:p>
            <a:pPr algn="l">
              <a:lnSpc>
                <a:spcPct val="102000"/>
              </a:lnSpc>
              <a:spcBef>
                <a:spcPts val="0"/>
              </a:spcBef>
              <a:spcAft>
                <a:spcPts val="0"/>
              </a:spcAft>
            </a:pPr>
            <a:r>
              <a:rPr sz="1400" b="1" i="0">
                <a:solidFill>
                  <a:srgbClr val="1B365D"/>
                </a:solidFill>
                <a:latin typeface="Georgia"/>
                <a:ea typeface="Microsoft YaHei"/>
                <a:cs typeface="Georgia"/>
              </a:rPr>
              <a:t>possessed by...</a:t>
            </a:r>
          </a:p>
        </p:txBody>
      </p:sp>
      <p:sp>
        <p:nvSpPr>
          <p:cNvPr id="56" name="TextBox 55"/>
          <p:cNvSpPr txBox="1"/>
          <p:nvPr/>
        </p:nvSpPr>
        <p:spPr>
          <a:xfrm>
            <a:off x="8348472" y="5157216"/>
            <a:ext cx="3154680" cy="146304"/>
          </a:xfrm>
          <a:prstGeom prst="rect">
            <a:avLst/>
          </a:prstGeom>
          <a:noFill/>
        </p:spPr>
        <p:txBody>
          <a:bodyPr wrap="square" anchor="t" lIns="0" tIns="0" rIns="0" bIns="0">
            <a:spAutoFit/>
          </a:bodyPr>
          <a:lstStyle/>
          <a:p>
            <a:pPr algn="l">
              <a:lnSpc>
                <a:spcPct val="102000"/>
              </a:lnSpc>
              <a:spcBef>
                <a:spcPts val="0"/>
              </a:spcBef>
              <a:spcAft>
                <a:spcPts val="0"/>
              </a:spcAft>
            </a:pPr>
            <a:r>
              <a:rPr sz="690" b="1" i="0" spc="80">
                <a:solidFill>
                  <a:srgbClr val="C84B31"/>
                </a:solidFill>
                <a:latin typeface="Calibri"/>
                <a:ea typeface="Microsoft YaHei"/>
                <a:cs typeface="Calibri"/>
              </a:rPr>
              <a:t>语法结构 · PARTICIPLE PHRASE</a:t>
            </a:r>
          </a:p>
        </p:txBody>
      </p:sp>
      <p:sp>
        <p:nvSpPr>
          <p:cNvPr id="57" name="Rectangle 56"/>
          <p:cNvSpPr/>
          <p:nvPr/>
        </p:nvSpPr>
        <p:spPr>
          <a:xfrm>
            <a:off x="8348472" y="5358384"/>
            <a:ext cx="3127248" cy="10972"/>
          </a:xfrm>
          <a:prstGeom prst="rect">
            <a:avLst/>
          </a:prstGeom>
          <a:solidFill>
            <a:srgbClr val="DFD7CB"/>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TextBox 57"/>
          <p:cNvSpPr txBox="1"/>
          <p:nvPr/>
        </p:nvSpPr>
        <p:spPr>
          <a:xfrm>
            <a:off x="8348472" y="5440680"/>
            <a:ext cx="3127248" cy="621792"/>
          </a:xfrm>
          <a:prstGeom prst="rect">
            <a:avLst/>
          </a:prstGeom>
          <a:noFill/>
        </p:spPr>
        <p:txBody>
          <a:bodyPr wrap="square" anchor="t" lIns="0" tIns="0" rIns="0" bIns="0">
            <a:spAutoFit/>
          </a:bodyPr>
          <a:lstStyle/>
          <a:p>
            <a:pPr algn="l">
              <a:lnSpc>
                <a:spcPct val="110000"/>
              </a:lnSpc>
              <a:spcBef>
                <a:spcPts val="0"/>
              </a:spcBef>
              <a:spcAft>
                <a:spcPts val="0"/>
              </a:spcAft>
            </a:pPr>
            <a:r>
              <a:rPr sz="930" b="0" i="0">
                <a:solidFill>
                  <a:srgbClr val="2C3E50"/>
                </a:solidFill>
                <a:latin typeface="Calibri"/>
                <a:ea typeface="Microsoft YaHei"/>
                <a:cs typeface="Calibri"/>
              </a:rPr>
              <a:t>过去分词短语作后置定语，修饰 advantages。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8F5"/>
        </a:solidFill>
        <a:effectLst/>
      </p:bgPr>
    </p:bg>
    <p:spTree>
      <p:nvGrpSpPr>
        <p:cNvPr id="1" name=""/>
        <p:cNvGrpSpPr/>
        <p:nvPr/>
      </p:nvGrpSpPr>
      <p:grpSpPr/>
      <p:sp>
        <p:nvSpPr>
          <p:cNvPr id="2" name="Rectangle 1"/>
          <p:cNvSpPr/>
          <p:nvPr/>
        </p:nvSpPr>
        <p:spPr>
          <a:xfrm>
            <a:off x="0" y="0"/>
            <a:ext cx="12191695" cy="402336"/>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Rectangle 2"/>
          <p:cNvSpPr/>
          <p:nvPr/>
        </p:nvSpPr>
        <p:spPr>
          <a:xfrm>
            <a:off x="502920" y="137160"/>
            <a:ext cx="77724" cy="128016"/>
          </a:xfrm>
          <a:prstGeom prst="rect">
            <a:avLst/>
          </a:prstGeom>
          <a:solidFill>
            <a:srgbClr val="C84B3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extBox 3"/>
          <p:cNvSpPr txBox="1"/>
          <p:nvPr/>
        </p:nvSpPr>
        <p:spPr>
          <a:xfrm>
            <a:off x="685800" y="123444"/>
            <a:ext cx="6400800" cy="164592"/>
          </a:xfrm>
          <a:prstGeom prst="rect">
            <a:avLst/>
          </a:prstGeom>
          <a:noFill/>
        </p:spPr>
        <p:txBody>
          <a:bodyPr wrap="square" anchor="t" lIns="0" tIns="0" rIns="0" bIns="0">
            <a:spAutoFit/>
          </a:bodyPr>
          <a:lstStyle/>
          <a:p>
            <a:pPr algn="l">
              <a:lnSpc>
                <a:spcPct val="102000"/>
              </a:lnSpc>
              <a:spcBef>
                <a:spcPts val="0"/>
              </a:spcBef>
              <a:spcAft>
                <a:spcPts val="0"/>
              </a:spcAft>
            </a:pPr>
            <a:r>
              <a:rPr sz="780" b="1" i="0" spc="110">
                <a:solidFill>
                  <a:srgbClr val="FFFFFF"/>
                </a:solidFill>
                <a:latin typeface="Calibri"/>
                <a:ea typeface="Microsoft YaHei"/>
                <a:cs typeface="Calibri"/>
              </a:rPr>
              <a:t>LANGUAGE &amp; CULTURE   /   PARAGRAPHS 7–8</a:t>
            </a:r>
          </a:p>
        </p:txBody>
      </p:sp>
      <p:sp>
        <p:nvSpPr>
          <p:cNvPr id="5" name="Rectangle 4"/>
          <p:cNvSpPr/>
          <p:nvPr/>
        </p:nvSpPr>
        <p:spPr>
          <a:xfrm>
            <a:off x="9710928" y="185623"/>
            <a:ext cx="96012" cy="31089"/>
          </a:xfrm>
          <a:prstGeom prst="rect">
            <a:avLst/>
          </a:prstGeom>
          <a:solidFill>
            <a:srgbClr val="6C7F9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Rectangle 5"/>
          <p:cNvSpPr/>
          <p:nvPr/>
        </p:nvSpPr>
        <p:spPr>
          <a:xfrm>
            <a:off x="9852659" y="185623"/>
            <a:ext cx="96012" cy="31089"/>
          </a:xfrm>
          <a:prstGeom prst="rect">
            <a:avLst/>
          </a:prstGeom>
          <a:solidFill>
            <a:srgbClr val="6C7F9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 name="Rectangle 6"/>
          <p:cNvSpPr/>
          <p:nvPr/>
        </p:nvSpPr>
        <p:spPr>
          <a:xfrm>
            <a:off x="9994392" y="185623"/>
            <a:ext cx="96012" cy="31089"/>
          </a:xfrm>
          <a:prstGeom prst="rect">
            <a:avLst/>
          </a:prstGeom>
          <a:solidFill>
            <a:srgbClr val="6C7F9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ectangle 7"/>
          <p:cNvSpPr/>
          <p:nvPr/>
        </p:nvSpPr>
        <p:spPr>
          <a:xfrm>
            <a:off x="10136124" y="185623"/>
            <a:ext cx="96012" cy="31089"/>
          </a:xfrm>
          <a:prstGeom prst="rect">
            <a:avLst/>
          </a:prstGeom>
          <a:solidFill>
            <a:srgbClr val="C84B3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ectangle 8"/>
          <p:cNvSpPr/>
          <p:nvPr/>
        </p:nvSpPr>
        <p:spPr>
          <a:xfrm>
            <a:off x="10277855" y="185623"/>
            <a:ext cx="96012" cy="31089"/>
          </a:xfrm>
          <a:prstGeom prst="rect">
            <a:avLst/>
          </a:prstGeom>
          <a:solidFill>
            <a:srgbClr val="6C7F9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Rectangle 9"/>
          <p:cNvSpPr/>
          <p:nvPr/>
        </p:nvSpPr>
        <p:spPr>
          <a:xfrm>
            <a:off x="10419588" y="185623"/>
            <a:ext cx="96012" cy="31089"/>
          </a:xfrm>
          <a:prstGeom prst="rect">
            <a:avLst/>
          </a:prstGeom>
          <a:solidFill>
            <a:srgbClr val="6C7F9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ectangle 10"/>
          <p:cNvSpPr/>
          <p:nvPr/>
        </p:nvSpPr>
        <p:spPr>
          <a:xfrm>
            <a:off x="10561319" y="185623"/>
            <a:ext cx="96012" cy="31089"/>
          </a:xfrm>
          <a:prstGeom prst="rect">
            <a:avLst/>
          </a:prstGeom>
          <a:solidFill>
            <a:srgbClr val="6C7F9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Rectangle 11"/>
          <p:cNvSpPr/>
          <p:nvPr/>
        </p:nvSpPr>
        <p:spPr>
          <a:xfrm>
            <a:off x="10703051" y="185623"/>
            <a:ext cx="96012" cy="31089"/>
          </a:xfrm>
          <a:prstGeom prst="rect">
            <a:avLst/>
          </a:prstGeom>
          <a:solidFill>
            <a:srgbClr val="6C7F9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TextBox 12"/>
          <p:cNvSpPr txBox="1"/>
          <p:nvPr/>
        </p:nvSpPr>
        <p:spPr>
          <a:xfrm>
            <a:off x="10917936" y="118872"/>
            <a:ext cx="777240" cy="164592"/>
          </a:xfrm>
          <a:prstGeom prst="rect">
            <a:avLst/>
          </a:prstGeom>
          <a:noFill/>
        </p:spPr>
        <p:txBody>
          <a:bodyPr wrap="square" anchor="t" lIns="0" tIns="0" rIns="0" bIns="0">
            <a:spAutoFit/>
          </a:bodyPr>
          <a:lstStyle/>
          <a:p>
            <a:pPr algn="r">
              <a:lnSpc>
                <a:spcPct val="102000"/>
              </a:lnSpc>
              <a:spcBef>
                <a:spcPts val="0"/>
              </a:spcBef>
              <a:spcAft>
                <a:spcPts val="0"/>
              </a:spcAft>
            </a:pPr>
            <a:r>
              <a:rPr sz="760" b="1" i="0" spc="50">
                <a:solidFill>
                  <a:srgbClr val="FFFFFF"/>
                </a:solidFill>
                <a:latin typeface="Calibri"/>
                <a:ea typeface="Microsoft YaHei"/>
                <a:cs typeface="Calibri"/>
              </a:rPr>
              <a:t>04 / 08</a:t>
            </a:r>
          </a:p>
        </p:txBody>
      </p:sp>
      <p:sp>
        <p:nvSpPr>
          <p:cNvPr id="14" name="TextBox 13"/>
          <p:cNvSpPr txBox="1"/>
          <p:nvPr/>
        </p:nvSpPr>
        <p:spPr>
          <a:xfrm>
            <a:off x="502920" y="576072"/>
            <a:ext cx="10972800" cy="438912"/>
          </a:xfrm>
          <a:prstGeom prst="rect">
            <a:avLst/>
          </a:prstGeom>
          <a:noFill/>
        </p:spPr>
        <p:txBody>
          <a:bodyPr wrap="square" anchor="t" lIns="0" tIns="0" rIns="0" bIns="0">
            <a:spAutoFit/>
          </a:bodyPr>
          <a:lstStyle/>
          <a:p>
            <a:pPr algn="l">
              <a:lnSpc>
                <a:spcPct val="102000"/>
              </a:lnSpc>
              <a:spcBef>
                <a:spcPts val="0"/>
              </a:spcBef>
              <a:spcAft>
                <a:spcPts val="0"/>
              </a:spcAft>
            </a:pPr>
            <a:r>
              <a:rPr sz="2350" b="1" i="0">
                <a:solidFill>
                  <a:srgbClr val="1B365D"/>
                </a:solidFill>
                <a:latin typeface="Georgia"/>
                <a:ea typeface="Microsoft YaHei"/>
                <a:cs typeface="Georgia"/>
              </a:rPr>
              <a:t>第7段精讲（二）｜南非实例与种族隔离背景</a:t>
            </a:r>
          </a:p>
        </p:txBody>
      </p:sp>
      <p:sp>
        <p:nvSpPr>
          <p:cNvPr id="15" name="TextBox 14"/>
          <p:cNvSpPr txBox="1"/>
          <p:nvPr/>
        </p:nvSpPr>
        <p:spPr>
          <a:xfrm>
            <a:off x="502920" y="1042415"/>
            <a:ext cx="10789920" cy="173736"/>
          </a:xfrm>
          <a:prstGeom prst="rect">
            <a:avLst/>
          </a:prstGeom>
          <a:noFill/>
        </p:spPr>
        <p:txBody>
          <a:bodyPr wrap="square" anchor="t" lIns="0" tIns="0" rIns="0" bIns="0">
            <a:spAutoFit/>
          </a:bodyPr>
          <a:lstStyle/>
          <a:p>
            <a:pPr algn="l">
              <a:lnSpc>
                <a:spcPct val="102000"/>
              </a:lnSpc>
              <a:spcBef>
                <a:spcPts val="0"/>
              </a:spcBef>
              <a:spcAft>
                <a:spcPts val="0"/>
              </a:spcAft>
            </a:pPr>
            <a:r>
              <a:rPr sz="780" b="1" i="0" spc="110">
                <a:solidFill>
                  <a:srgbClr val="707984"/>
                </a:solidFill>
                <a:latin typeface="Calibri"/>
                <a:ea typeface="Microsoft YaHei"/>
                <a:cs typeface="Calibri"/>
              </a:rPr>
              <a:t>PARAGRAPH 7  ·  A SOUTH AFRICAN OBJECT LESSON</a:t>
            </a:r>
          </a:p>
        </p:txBody>
      </p:sp>
      <p:sp>
        <p:nvSpPr>
          <p:cNvPr id="16" name="Rectangle 15"/>
          <p:cNvSpPr/>
          <p:nvPr/>
        </p:nvSpPr>
        <p:spPr>
          <a:xfrm>
            <a:off x="502920" y="1243584"/>
            <a:ext cx="987552" cy="32004"/>
          </a:xfrm>
          <a:prstGeom prst="rect">
            <a:avLst/>
          </a:prstGeom>
          <a:solidFill>
            <a:srgbClr val="C84B3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ounded Rectangle 16"/>
          <p:cNvSpPr/>
          <p:nvPr/>
        </p:nvSpPr>
        <p:spPr>
          <a:xfrm>
            <a:off x="502920" y="1389888"/>
            <a:ext cx="6693408" cy="804672"/>
          </a:xfrm>
          <a:prstGeom prst="roundRect">
            <a:avLst>
              <a:gd name="adj" fmla="val 2500"/>
            </a:avLst>
          </a:prstGeom>
          <a:solidFill>
            <a:srgbClr val="FFFDF9"/>
          </a:solidFill>
          <a:ln w="10160">
            <a:solidFill>
              <a:srgbClr val="DFD7CB"/>
            </a:solidFill>
          </a:ln>
          <a:effectLst>
            <a:outerShdw blurRad="152400" dist="38100" dir="5400000" algn="ctr" rotWithShape="0">
              <a:srgbClr val="1B365D">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Rectangle 17"/>
          <p:cNvSpPr/>
          <p:nvPr/>
        </p:nvSpPr>
        <p:spPr>
          <a:xfrm>
            <a:off x="502920" y="1389888"/>
            <a:ext cx="45720" cy="804672"/>
          </a:xfrm>
          <a:prstGeom prst="rect">
            <a:avLst/>
          </a:prstGeom>
          <a:solidFill>
            <a:srgbClr val="C84B3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TextBox 18"/>
          <p:cNvSpPr txBox="1"/>
          <p:nvPr/>
        </p:nvSpPr>
        <p:spPr>
          <a:xfrm>
            <a:off x="667512" y="1517904"/>
            <a:ext cx="329184" cy="155448"/>
          </a:xfrm>
          <a:prstGeom prst="rect">
            <a:avLst/>
          </a:prstGeom>
          <a:noFill/>
        </p:spPr>
        <p:txBody>
          <a:bodyPr wrap="square" anchor="t" lIns="0" tIns="0" rIns="0" bIns="0">
            <a:spAutoFit/>
          </a:bodyPr>
          <a:lstStyle/>
          <a:p>
            <a:pPr algn="l">
              <a:lnSpc>
                <a:spcPct val="102000"/>
              </a:lnSpc>
              <a:spcBef>
                <a:spcPts val="0"/>
              </a:spcBef>
              <a:spcAft>
                <a:spcPts val="0"/>
              </a:spcAft>
            </a:pPr>
            <a:r>
              <a:rPr sz="770" b="1" i="0">
                <a:solidFill>
                  <a:srgbClr val="C84B31"/>
                </a:solidFill>
                <a:latin typeface="Calibri"/>
                <a:ea typeface="Microsoft YaHei"/>
                <a:cs typeface="Calibri"/>
              </a:rPr>
              <a:t>01</a:t>
            </a:r>
          </a:p>
        </p:txBody>
      </p:sp>
      <p:sp>
        <p:nvSpPr>
          <p:cNvPr id="20" name="TextBox 19"/>
          <p:cNvSpPr txBox="1"/>
          <p:nvPr/>
        </p:nvSpPr>
        <p:spPr>
          <a:xfrm>
            <a:off x="1060704" y="1517904"/>
            <a:ext cx="5897880" cy="576072"/>
          </a:xfrm>
          <a:prstGeom prst="rect">
            <a:avLst/>
          </a:prstGeom>
          <a:noFill/>
        </p:spPr>
        <p:txBody>
          <a:bodyPr wrap="square" anchor="t" lIns="0" tIns="0" rIns="0" bIns="0">
            <a:spAutoFit/>
          </a:bodyPr>
          <a:lstStyle/>
          <a:p>
            <a:pPr algn="l">
              <a:lnSpc>
                <a:spcPct val="105500"/>
              </a:lnSpc>
              <a:spcBef>
                <a:spcPts val="0"/>
              </a:spcBef>
              <a:spcAft>
                <a:spcPts val="400"/>
              </a:spcAft>
            </a:pPr>
            <a:r>
              <a:rPr sz="1180" b="0" i="0">
                <a:solidFill>
                  <a:srgbClr val="2C3E50"/>
                </a:solidFill>
                <a:latin typeface="Georgia"/>
                <a:ea typeface="Microsoft YaHei"/>
                <a:cs typeface="Georgia"/>
              </a:rPr>
              <a:t>My </a:t>
            </a:r>
            <a:r>
              <a:rPr sz="1180" b="1" i="0">
                <a:solidFill>
                  <a:srgbClr val="C84B31"/>
                </a:solidFill>
                <a:latin typeface="Georgia"/>
                <a:ea typeface="Microsoft YaHei"/>
                <a:cs typeface="Georgia"/>
              </a:rPr>
              <a:t>object lesson</a:t>
            </a:r>
            <a:r>
              <a:rPr sz="1180" b="0" i="0">
                <a:solidFill>
                  <a:srgbClr val="2C3E50"/>
                </a:solidFill>
                <a:latin typeface="Georgia"/>
                <a:ea typeface="Microsoft YaHei"/>
                <a:cs typeface="Georgia"/>
              </a:rPr>
              <a:t> this time is </a:t>
            </a:r>
            <a:r>
              <a:rPr sz="1180" b="1" i="0">
                <a:solidFill>
                  <a:srgbClr val="1B365D"/>
                </a:solidFill>
                <a:latin typeface="Georgia"/>
                <a:ea typeface="Microsoft YaHei"/>
                <a:cs typeface="Georgia"/>
              </a:rPr>
              <a:t>South Africa</a:t>
            </a:r>
            <a:r>
              <a:rPr sz="1180" b="0" i="0">
                <a:solidFill>
                  <a:srgbClr val="2C3E50"/>
                </a:solidFill>
                <a:latin typeface="Georgia"/>
                <a:ea typeface="Microsoft YaHei"/>
                <a:cs typeface="Georgia"/>
              </a:rPr>
              <a:t>.</a:t>
            </a:r>
          </a:p>
          <a:p>
            <a:pPr algn="l">
              <a:lnSpc>
                <a:spcPct val="110000"/>
              </a:lnSpc>
              <a:spcBef>
                <a:spcPts val="0"/>
              </a:spcBef>
              <a:spcAft>
                <a:spcPts val="0"/>
              </a:spcAft>
            </a:pPr>
            <a:r>
              <a:rPr sz="1050" b="0" i="0">
                <a:solidFill>
                  <a:srgbClr val="2C3E50"/>
                </a:solidFill>
                <a:latin typeface="Calibri"/>
                <a:ea typeface="Microsoft YaHei"/>
                <a:cs typeface="Calibri"/>
              </a:rPr>
              <a:t>我这次用来说明问题的实例是南非。</a:t>
            </a:r>
          </a:p>
        </p:txBody>
      </p:sp>
      <p:sp>
        <p:nvSpPr>
          <p:cNvPr id="21" name="Rounded Rectangle 20"/>
          <p:cNvSpPr/>
          <p:nvPr/>
        </p:nvSpPr>
        <p:spPr>
          <a:xfrm>
            <a:off x="502920" y="2304288"/>
            <a:ext cx="6693408" cy="1335024"/>
          </a:xfrm>
          <a:prstGeom prst="roundRect">
            <a:avLst>
              <a:gd name="adj" fmla="val 2500"/>
            </a:avLst>
          </a:prstGeom>
          <a:solidFill>
            <a:srgbClr val="FFFDF9"/>
          </a:solidFill>
          <a:ln w="10160">
            <a:solidFill>
              <a:srgbClr val="DFD7CB"/>
            </a:solidFill>
          </a:ln>
          <a:effectLst>
            <a:outerShdw blurRad="152400" dist="38100" dir="5400000" algn="ctr" rotWithShape="0">
              <a:srgbClr val="1B365D">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Rectangle 21"/>
          <p:cNvSpPr/>
          <p:nvPr/>
        </p:nvSpPr>
        <p:spPr>
          <a:xfrm>
            <a:off x="502920" y="2304288"/>
            <a:ext cx="45720" cy="1335024"/>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xtBox 22"/>
          <p:cNvSpPr txBox="1"/>
          <p:nvPr/>
        </p:nvSpPr>
        <p:spPr>
          <a:xfrm>
            <a:off x="667512" y="2432304"/>
            <a:ext cx="329184" cy="155448"/>
          </a:xfrm>
          <a:prstGeom prst="rect">
            <a:avLst/>
          </a:prstGeom>
          <a:noFill/>
        </p:spPr>
        <p:txBody>
          <a:bodyPr wrap="square" anchor="t" lIns="0" tIns="0" rIns="0" bIns="0">
            <a:spAutoFit/>
          </a:bodyPr>
          <a:lstStyle/>
          <a:p>
            <a:pPr algn="l">
              <a:lnSpc>
                <a:spcPct val="102000"/>
              </a:lnSpc>
              <a:spcBef>
                <a:spcPts val="0"/>
              </a:spcBef>
              <a:spcAft>
                <a:spcPts val="0"/>
              </a:spcAft>
            </a:pPr>
            <a:r>
              <a:rPr sz="770" b="1" i="0">
                <a:solidFill>
                  <a:srgbClr val="C84B31"/>
                </a:solidFill>
                <a:latin typeface="Calibri"/>
                <a:ea typeface="Microsoft YaHei"/>
                <a:cs typeface="Calibri"/>
              </a:rPr>
              <a:t>02</a:t>
            </a:r>
          </a:p>
        </p:txBody>
      </p:sp>
      <p:sp>
        <p:nvSpPr>
          <p:cNvPr id="24" name="TextBox 23"/>
          <p:cNvSpPr txBox="1"/>
          <p:nvPr/>
        </p:nvSpPr>
        <p:spPr>
          <a:xfrm>
            <a:off x="1060704" y="2432304"/>
            <a:ext cx="5897880" cy="1106424"/>
          </a:xfrm>
          <a:prstGeom prst="rect">
            <a:avLst/>
          </a:prstGeom>
          <a:noFill/>
        </p:spPr>
        <p:txBody>
          <a:bodyPr wrap="square" anchor="t" lIns="0" tIns="0" rIns="0" bIns="0">
            <a:spAutoFit/>
          </a:bodyPr>
          <a:lstStyle/>
          <a:p>
            <a:pPr algn="l">
              <a:lnSpc>
                <a:spcPct val="105500"/>
              </a:lnSpc>
              <a:spcBef>
                <a:spcPts val="0"/>
              </a:spcBef>
              <a:spcAft>
                <a:spcPts val="400"/>
              </a:spcAft>
            </a:pPr>
            <a:r>
              <a:rPr sz="1140" b="0" i="0">
                <a:solidFill>
                  <a:srgbClr val="2C3E50"/>
                </a:solidFill>
                <a:latin typeface="Georgia"/>
                <a:ea typeface="Microsoft YaHei"/>
                <a:cs typeface="Georgia"/>
              </a:rPr>
              <a:t>Ten years ago, South Africa </a:t>
            </a:r>
            <a:r>
              <a:rPr sz="1140" b="1" i="0">
                <a:solidFill>
                  <a:srgbClr val="1B365D"/>
                </a:solidFill>
                <a:latin typeface="Georgia"/>
                <a:ea typeface="Microsoft YaHei"/>
                <a:cs typeface="Georgia"/>
              </a:rPr>
              <a:t>ceased to be governed</a:t>
            </a:r>
            <a:r>
              <a:rPr sz="1140" b="0" i="0">
                <a:solidFill>
                  <a:srgbClr val="2C3E50"/>
                </a:solidFill>
                <a:latin typeface="Georgia"/>
                <a:ea typeface="Microsoft YaHei"/>
                <a:cs typeface="Georgia"/>
              </a:rPr>
              <a:t> on principles of </a:t>
            </a:r>
            <a:r>
              <a:rPr sz="1140" b="1" i="0">
                <a:solidFill>
                  <a:srgbClr val="C84B31"/>
                </a:solidFill>
                <a:latin typeface="Georgia"/>
                <a:ea typeface="Microsoft YaHei"/>
                <a:cs typeface="Georgia"/>
              </a:rPr>
              <a:t>racial separateness</a:t>
            </a:r>
            <a:r>
              <a:rPr sz="1140" b="0" i="0">
                <a:solidFill>
                  <a:srgbClr val="2C3E50"/>
                </a:solidFill>
                <a:latin typeface="Georgia"/>
                <a:ea typeface="Microsoft YaHei"/>
                <a:cs typeface="Georgia"/>
              </a:rPr>
              <a:t>, a system known in Afrikaans (a language derived from Dutch) as </a:t>
            </a:r>
            <a:r>
              <a:rPr sz="1140" b="1" i="0">
                <a:solidFill>
                  <a:srgbClr val="C84B31"/>
                </a:solidFill>
                <a:latin typeface="Georgia"/>
                <a:ea typeface="Microsoft YaHei"/>
                <a:cs typeface="Georgia"/>
              </a:rPr>
              <a:t>apartheid</a:t>
            </a:r>
            <a:r>
              <a:rPr sz="1140" b="0" i="0">
                <a:solidFill>
                  <a:srgbClr val="2C3E50"/>
                </a:solidFill>
                <a:latin typeface="Georgia"/>
                <a:ea typeface="Microsoft YaHei"/>
                <a:cs typeface="Georgia"/>
              </a:rPr>
              <a:t>.</a:t>
            </a:r>
          </a:p>
          <a:p>
            <a:pPr algn="l">
              <a:lnSpc>
                <a:spcPct val="110000"/>
              </a:lnSpc>
              <a:spcBef>
                <a:spcPts val="0"/>
              </a:spcBef>
              <a:spcAft>
                <a:spcPts val="0"/>
              </a:spcAft>
            </a:pPr>
            <a:r>
              <a:rPr sz="1030" b="0" i="0">
                <a:solidFill>
                  <a:srgbClr val="2C3E50"/>
                </a:solidFill>
                <a:latin typeface="Calibri"/>
                <a:ea typeface="Microsoft YaHei"/>
                <a:cs typeface="Calibri"/>
              </a:rPr>
              <a:t>十年前，南非停止了以种族隔离原则进行统治，这一制度在阿非利卡语（一种源于荷兰语的语言）中被称为“apartheid”（种族隔离制度）。</a:t>
            </a:r>
          </a:p>
        </p:txBody>
      </p:sp>
      <p:sp>
        <p:nvSpPr>
          <p:cNvPr id="25" name="Rounded Rectangle 24"/>
          <p:cNvSpPr/>
          <p:nvPr/>
        </p:nvSpPr>
        <p:spPr>
          <a:xfrm>
            <a:off x="502920" y="3749039"/>
            <a:ext cx="6693408" cy="1444752"/>
          </a:xfrm>
          <a:prstGeom prst="roundRect">
            <a:avLst>
              <a:gd name="adj" fmla="val 2500"/>
            </a:avLst>
          </a:prstGeom>
          <a:solidFill>
            <a:srgbClr val="FFFDF9"/>
          </a:solidFill>
          <a:ln w="10160">
            <a:solidFill>
              <a:srgbClr val="DFD7CB"/>
            </a:solidFill>
          </a:ln>
          <a:effectLst>
            <a:outerShdw blurRad="152400" dist="38100" dir="5400000" algn="ctr" rotWithShape="0">
              <a:srgbClr val="1B365D">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Rectangle 25"/>
          <p:cNvSpPr/>
          <p:nvPr/>
        </p:nvSpPr>
        <p:spPr>
          <a:xfrm>
            <a:off x="502920" y="3749039"/>
            <a:ext cx="45720" cy="1444752"/>
          </a:xfrm>
          <a:prstGeom prst="rect">
            <a:avLst/>
          </a:prstGeom>
          <a:solidFill>
            <a:srgbClr val="C84B3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xtBox 26"/>
          <p:cNvSpPr txBox="1"/>
          <p:nvPr/>
        </p:nvSpPr>
        <p:spPr>
          <a:xfrm>
            <a:off x="667512" y="3877055"/>
            <a:ext cx="329184" cy="155448"/>
          </a:xfrm>
          <a:prstGeom prst="rect">
            <a:avLst/>
          </a:prstGeom>
          <a:noFill/>
        </p:spPr>
        <p:txBody>
          <a:bodyPr wrap="square" anchor="t" lIns="0" tIns="0" rIns="0" bIns="0">
            <a:spAutoFit/>
          </a:bodyPr>
          <a:lstStyle/>
          <a:p>
            <a:pPr algn="l">
              <a:lnSpc>
                <a:spcPct val="102000"/>
              </a:lnSpc>
              <a:spcBef>
                <a:spcPts val="0"/>
              </a:spcBef>
              <a:spcAft>
                <a:spcPts val="0"/>
              </a:spcAft>
            </a:pPr>
            <a:r>
              <a:rPr sz="770" b="1" i="0">
                <a:solidFill>
                  <a:srgbClr val="C84B31"/>
                </a:solidFill>
                <a:latin typeface="Calibri"/>
                <a:ea typeface="Microsoft YaHei"/>
                <a:cs typeface="Calibri"/>
              </a:rPr>
              <a:t>03</a:t>
            </a:r>
          </a:p>
        </p:txBody>
      </p:sp>
      <p:sp>
        <p:nvSpPr>
          <p:cNvPr id="28" name="TextBox 27"/>
          <p:cNvSpPr txBox="1"/>
          <p:nvPr/>
        </p:nvSpPr>
        <p:spPr>
          <a:xfrm>
            <a:off x="1060704" y="3877055"/>
            <a:ext cx="5897880" cy="1216152"/>
          </a:xfrm>
          <a:prstGeom prst="rect">
            <a:avLst/>
          </a:prstGeom>
          <a:noFill/>
        </p:spPr>
        <p:txBody>
          <a:bodyPr wrap="square" anchor="t" lIns="0" tIns="0" rIns="0" bIns="0">
            <a:spAutoFit/>
          </a:bodyPr>
          <a:lstStyle/>
          <a:p>
            <a:pPr algn="l">
              <a:lnSpc>
                <a:spcPct val="105500"/>
              </a:lnSpc>
              <a:spcBef>
                <a:spcPts val="0"/>
              </a:spcBef>
              <a:spcAft>
                <a:spcPts val="400"/>
              </a:spcAft>
            </a:pPr>
            <a:r>
              <a:rPr sz="1120" b="0" i="0">
                <a:solidFill>
                  <a:srgbClr val="2C3E50"/>
                </a:solidFill>
                <a:latin typeface="Georgia"/>
                <a:ea typeface="Microsoft YaHei"/>
                <a:cs typeface="Georgia"/>
              </a:rPr>
              <a:t>The system arose because the Afrikaner community—European settlers of mainly </a:t>
            </a:r>
            <a:r>
              <a:rPr sz="1120" b="1" i="0">
                <a:solidFill>
                  <a:srgbClr val="C84B31"/>
                </a:solidFill>
                <a:latin typeface="Georgia"/>
                <a:ea typeface="Microsoft YaHei"/>
                <a:cs typeface="Georgia"/>
              </a:rPr>
              <a:t>Dutch descent</a:t>
            </a:r>
            <a:r>
              <a:rPr sz="1120" b="0" i="0">
                <a:solidFill>
                  <a:srgbClr val="2C3E50"/>
                </a:solidFill>
                <a:latin typeface="Georgia"/>
                <a:ea typeface="Microsoft YaHei"/>
                <a:cs typeface="Georgia"/>
              </a:rPr>
              <a:t>—saw themselves as </a:t>
            </a:r>
            <a:r>
              <a:rPr sz="1120" b="1" i="0">
                <a:solidFill>
                  <a:srgbClr val="C84B31"/>
                </a:solidFill>
                <a:latin typeface="Georgia"/>
                <a:ea typeface="Microsoft YaHei"/>
                <a:cs typeface="Georgia"/>
              </a:rPr>
              <a:t>superior to</a:t>
            </a:r>
            <a:r>
              <a:rPr sz="1120" b="0" i="0">
                <a:solidFill>
                  <a:srgbClr val="2C3E50"/>
                </a:solidFill>
                <a:latin typeface="Georgia"/>
                <a:ea typeface="Microsoft YaHei"/>
                <a:cs typeface="Georgia"/>
              </a:rPr>
              <a:t> the </a:t>
            </a:r>
            <a:r>
              <a:rPr sz="1120" b="1" i="0">
                <a:solidFill>
                  <a:srgbClr val="1B365D"/>
                </a:solidFill>
                <a:latin typeface="Georgia"/>
                <a:ea typeface="Microsoft YaHei"/>
                <a:cs typeface="Georgia"/>
              </a:rPr>
              <a:t>indigenous people</a:t>
            </a:r>
            <a:r>
              <a:rPr sz="1120" b="0" i="0">
                <a:solidFill>
                  <a:srgbClr val="2C3E50"/>
                </a:solidFill>
                <a:latin typeface="Georgia"/>
                <a:ea typeface="Microsoft YaHei"/>
                <a:cs typeface="Georgia"/>
              </a:rPr>
              <a:t> of the land they had colonized.</a:t>
            </a:r>
          </a:p>
          <a:p>
            <a:pPr algn="l">
              <a:lnSpc>
                <a:spcPct val="110000"/>
              </a:lnSpc>
              <a:spcBef>
                <a:spcPts val="0"/>
              </a:spcBef>
              <a:spcAft>
                <a:spcPts val="0"/>
              </a:spcAft>
            </a:pPr>
            <a:r>
              <a:rPr sz="1025" b="0" i="0">
                <a:solidFill>
                  <a:srgbClr val="2C3E50"/>
                </a:solidFill>
                <a:latin typeface="Calibri"/>
                <a:ea typeface="Microsoft YaHei"/>
                <a:cs typeface="Calibri"/>
              </a:rPr>
              <a:t>这一制度之所以产生，是因为阿非利卡人群体——主要是荷兰血统的欧洲定居者——认为自己比他们所殖民土地上的土著居民更加优越。</a:t>
            </a:r>
          </a:p>
        </p:txBody>
      </p:sp>
      <p:sp>
        <p:nvSpPr>
          <p:cNvPr id="29" name="Rounded Rectangle 28"/>
          <p:cNvSpPr/>
          <p:nvPr/>
        </p:nvSpPr>
        <p:spPr>
          <a:xfrm>
            <a:off x="502920" y="5413248"/>
            <a:ext cx="6693408" cy="768096"/>
          </a:xfrm>
          <a:prstGeom prst="roundRect">
            <a:avLst>
              <a:gd name="adj" fmla="val 3500"/>
            </a:avLst>
          </a:prstGeom>
          <a:solidFill>
            <a:srgbClr val="F2E9DB"/>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Rectangle 29"/>
          <p:cNvSpPr/>
          <p:nvPr/>
        </p:nvSpPr>
        <p:spPr>
          <a:xfrm>
            <a:off x="502920" y="5413248"/>
            <a:ext cx="45720" cy="768096"/>
          </a:xfrm>
          <a:prstGeom prst="rect">
            <a:avLst/>
          </a:prstGeom>
          <a:solidFill>
            <a:srgbClr val="B78B5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1" name="TextBox 30"/>
          <p:cNvSpPr txBox="1"/>
          <p:nvPr/>
        </p:nvSpPr>
        <p:spPr>
          <a:xfrm>
            <a:off x="713232" y="5504688"/>
            <a:ext cx="1664208" cy="182880"/>
          </a:xfrm>
          <a:prstGeom prst="rect">
            <a:avLst/>
          </a:prstGeom>
          <a:noFill/>
        </p:spPr>
        <p:txBody>
          <a:bodyPr wrap="square" anchor="t" lIns="0" tIns="0" rIns="0" bIns="0">
            <a:spAutoFit/>
          </a:bodyPr>
          <a:lstStyle/>
          <a:p>
            <a:pPr algn="l">
              <a:lnSpc>
                <a:spcPct val="102000"/>
              </a:lnSpc>
              <a:spcBef>
                <a:spcPts val="0"/>
              </a:spcBef>
              <a:spcAft>
                <a:spcPts val="0"/>
              </a:spcAft>
            </a:pPr>
            <a:r>
              <a:rPr sz="680" b="1" i="0" spc="110">
                <a:solidFill>
                  <a:srgbClr val="B78B51"/>
                </a:solidFill>
                <a:latin typeface="Calibri"/>
                <a:ea typeface="Microsoft YaHei"/>
                <a:cs typeface="Calibri"/>
              </a:rPr>
              <a:t>ETYMOLOGY NOTE</a:t>
            </a:r>
          </a:p>
        </p:txBody>
      </p:sp>
      <p:sp>
        <p:nvSpPr>
          <p:cNvPr id="32" name="TextBox 31"/>
          <p:cNvSpPr txBox="1"/>
          <p:nvPr/>
        </p:nvSpPr>
        <p:spPr>
          <a:xfrm>
            <a:off x="713232" y="5687568"/>
            <a:ext cx="6263640" cy="365760"/>
          </a:xfrm>
          <a:prstGeom prst="rect">
            <a:avLst/>
          </a:prstGeom>
          <a:noFill/>
        </p:spPr>
        <p:txBody>
          <a:bodyPr wrap="square" anchor="t" lIns="0" tIns="0" rIns="0" bIns="0">
            <a:spAutoFit/>
          </a:bodyPr>
          <a:lstStyle/>
          <a:p>
            <a:pPr algn="l">
              <a:lnSpc>
                <a:spcPct val="100000"/>
              </a:lnSpc>
              <a:spcBef>
                <a:spcPts val="0"/>
              </a:spcBef>
              <a:spcAft>
                <a:spcPts val="0"/>
              </a:spcAft>
            </a:pPr>
            <a:r>
              <a:rPr sz="1130" b="1" i="0">
                <a:solidFill>
                  <a:srgbClr val="C84B31"/>
                </a:solidFill>
                <a:latin typeface="Georgia"/>
                <a:ea typeface="Microsoft YaHei"/>
                <a:cs typeface="Georgia"/>
              </a:rPr>
              <a:t>apartheid</a:t>
            </a:r>
            <a:r>
              <a:rPr sz="960" b="1" i="0">
                <a:solidFill>
                  <a:srgbClr val="1B365D"/>
                </a:solidFill>
                <a:latin typeface="Calibri"/>
                <a:ea typeface="Microsoft YaHei"/>
                <a:cs typeface="Calibri"/>
              </a:rPr>
              <a:t>  =  racial separateness</a:t>
            </a:r>
            <a:r>
              <a:rPr sz="850" b="0" i="0">
                <a:solidFill>
                  <a:srgbClr val="2C3E50"/>
                </a:solidFill>
                <a:latin typeface="Calibri"/>
                <a:ea typeface="Microsoft YaHei"/>
                <a:cs typeface="Calibri"/>
              </a:rPr>
              <a:t>   ·   阿非利卡语中的“分离”</a:t>
            </a:r>
          </a:p>
        </p:txBody>
      </p:sp>
      <p:pic>
        <p:nvPicPr>
          <p:cNvPr id="33" name="Picture 32" descr="南非从种族隔离走向团结的历史插画"/>
          <p:cNvPicPr>
            <a:picLocks noChangeAspect="1"/>
          </p:cNvPicPr>
          <p:nvPr/>
        </p:nvPicPr>
        <p:blipFill>
          <a:blip r:embed="rId2"/>
          <a:stretch>
            <a:fillRect/>
          </a:stretch>
        </p:blipFill>
        <p:spPr>
          <a:xfrm>
            <a:off x="7379208" y="1389888"/>
            <a:ext cx="4306824" cy="2423160"/>
          </a:xfrm>
          <a:prstGeom prst="rect">
            <a:avLst/>
          </a:prstGeom>
          <a:ln w="10160">
            <a:solidFill>
              <a:srgbClr val="DFD7CB"/>
            </a:solidFill>
          </a:ln>
        </p:spPr>
      </p:pic>
      <p:sp>
        <p:nvSpPr>
          <p:cNvPr id="34" name="Rectangle 33"/>
          <p:cNvSpPr/>
          <p:nvPr/>
        </p:nvSpPr>
        <p:spPr>
          <a:xfrm>
            <a:off x="7379208" y="3493008"/>
            <a:ext cx="4306824" cy="320040"/>
          </a:xfrm>
          <a:prstGeom prst="rect">
            <a:avLst/>
          </a:prstGeom>
          <a:solidFill>
            <a:srgbClr val="1B365D">
              <a:alpha val="88000"/>
            </a:srgbClr>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xtBox 34"/>
          <p:cNvSpPr txBox="1"/>
          <p:nvPr/>
        </p:nvSpPr>
        <p:spPr>
          <a:xfrm>
            <a:off x="7507224" y="3570732"/>
            <a:ext cx="4059936" cy="137160"/>
          </a:xfrm>
          <a:prstGeom prst="rect">
            <a:avLst/>
          </a:prstGeom>
          <a:noFill/>
        </p:spPr>
        <p:txBody>
          <a:bodyPr wrap="square" anchor="t" lIns="0" tIns="0" rIns="0" bIns="0">
            <a:spAutoFit/>
          </a:bodyPr>
          <a:lstStyle/>
          <a:p>
            <a:pPr algn="ctr">
              <a:lnSpc>
                <a:spcPct val="102000"/>
              </a:lnSpc>
              <a:spcBef>
                <a:spcPts val="0"/>
              </a:spcBef>
              <a:spcAft>
                <a:spcPts val="0"/>
              </a:spcAft>
            </a:pPr>
            <a:r>
              <a:rPr sz="670" b="1" i="0" spc="85">
                <a:solidFill>
                  <a:srgbClr val="FFFFFF"/>
                </a:solidFill>
                <a:latin typeface="Calibri"/>
                <a:ea typeface="Microsoft YaHei"/>
                <a:cs typeface="Calibri"/>
              </a:rPr>
              <a:t>SOUTH AFRICA  ·  FROM APARTHEID TO UNITY</a:t>
            </a:r>
          </a:p>
        </p:txBody>
      </p:sp>
      <p:sp>
        <p:nvSpPr>
          <p:cNvPr id="36" name="Rounded Rectangle 35"/>
          <p:cNvSpPr/>
          <p:nvPr/>
        </p:nvSpPr>
        <p:spPr>
          <a:xfrm>
            <a:off x="7379208" y="3986784"/>
            <a:ext cx="4306824" cy="2194560"/>
          </a:xfrm>
          <a:prstGeom prst="roundRect">
            <a:avLst>
              <a:gd name="adj" fmla="val 3000"/>
            </a:avLst>
          </a:prstGeom>
          <a:solidFill>
            <a:srgbClr val="FFFDF9"/>
          </a:solidFill>
          <a:ln w="10160">
            <a:solidFill>
              <a:srgbClr val="DFD7CB"/>
            </a:solidFill>
          </a:ln>
          <a:effectLst>
            <a:outerShdw blurRad="152400" dist="38100" dir="5400000" algn="ctr" rotWithShape="0">
              <a:srgbClr val="1B365D">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7" name="TextBox 36"/>
          <p:cNvSpPr txBox="1"/>
          <p:nvPr/>
        </p:nvSpPr>
        <p:spPr>
          <a:xfrm>
            <a:off x="7598664" y="4114800"/>
            <a:ext cx="3566160" cy="155448"/>
          </a:xfrm>
          <a:prstGeom prst="rect">
            <a:avLst/>
          </a:prstGeom>
          <a:noFill/>
        </p:spPr>
        <p:txBody>
          <a:bodyPr wrap="square" anchor="t" lIns="0" tIns="0" rIns="0" bIns="0">
            <a:spAutoFit/>
          </a:bodyPr>
          <a:lstStyle/>
          <a:p>
            <a:pPr algn="l">
              <a:lnSpc>
                <a:spcPct val="102000"/>
              </a:lnSpc>
              <a:spcBef>
                <a:spcPts val="0"/>
              </a:spcBef>
              <a:spcAft>
                <a:spcPts val="0"/>
              </a:spcAft>
            </a:pPr>
            <a:r>
              <a:rPr sz="720" b="1" i="0" spc="100">
                <a:solidFill>
                  <a:srgbClr val="C84B31"/>
                </a:solidFill>
                <a:latin typeface="Calibri"/>
                <a:ea typeface="Microsoft YaHei"/>
                <a:cs typeface="Calibri"/>
              </a:rPr>
              <a:t>KEY CHUNKS  /  重点词块</a:t>
            </a:r>
          </a:p>
        </p:txBody>
      </p:sp>
      <p:sp>
        <p:nvSpPr>
          <p:cNvPr id="38" name="TextBox 37"/>
          <p:cNvSpPr txBox="1"/>
          <p:nvPr/>
        </p:nvSpPr>
        <p:spPr>
          <a:xfrm>
            <a:off x="7598664" y="4389120"/>
            <a:ext cx="1828800" cy="146304"/>
          </a:xfrm>
          <a:prstGeom prst="rect">
            <a:avLst/>
          </a:prstGeom>
          <a:noFill/>
        </p:spPr>
        <p:txBody>
          <a:bodyPr wrap="square" anchor="t" lIns="0" tIns="0" rIns="0" bIns="0">
            <a:spAutoFit/>
          </a:bodyPr>
          <a:lstStyle/>
          <a:p>
            <a:pPr algn="l">
              <a:lnSpc>
                <a:spcPct val="102000"/>
              </a:lnSpc>
              <a:spcBef>
                <a:spcPts val="0"/>
              </a:spcBef>
              <a:spcAft>
                <a:spcPts val="0"/>
              </a:spcAft>
            </a:pPr>
            <a:r>
              <a:rPr sz="940" b="1" i="0">
                <a:solidFill>
                  <a:srgbClr val="1B365D"/>
                </a:solidFill>
                <a:latin typeface="Georgia"/>
                <a:ea typeface="Microsoft YaHei"/>
                <a:cs typeface="Georgia"/>
              </a:rPr>
              <a:t>object lesson</a:t>
            </a:r>
          </a:p>
        </p:txBody>
      </p:sp>
      <p:sp>
        <p:nvSpPr>
          <p:cNvPr id="39" name="TextBox 38"/>
          <p:cNvSpPr txBox="1"/>
          <p:nvPr/>
        </p:nvSpPr>
        <p:spPr>
          <a:xfrm>
            <a:off x="7598664" y="4617720"/>
            <a:ext cx="1828800" cy="164592"/>
          </a:xfrm>
          <a:prstGeom prst="rect">
            <a:avLst/>
          </a:prstGeom>
          <a:noFill/>
        </p:spPr>
        <p:txBody>
          <a:bodyPr wrap="square" anchor="t" lIns="0" tIns="0" rIns="0" bIns="0">
            <a:spAutoFit/>
          </a:bodyPr>
          <a:lstStyle/>
          <a:p>
            <a:pPr algn="l">
              <a:lnSpc>
                <a:spcPct val="102000"/>
              </a:lnSpc>
              <a:spcBef>
                <a:spcPts val="0"/>
              </a:spcBef>
              <a:spcAft>
                <a:spcPts val="0"/>
              </a:spcAft>
            </a:pPr>
            <a:r>
              <a:rPr sz="840" b="0" i="0">
                <a:solidFill>
                  <a:srgbClr val="2C3E50"/>
                </a:solidFill>
                <a:latin typeface="Calibri"/>
                <a:ea typeface="Microsoft YaHei"/>
                <a:cs typeface="Calibri"/>
              </a:rPr>
              <a:t>说明道理的实际例子</a:t>
            </a:r>
          </a:p>
        </p:txBody>
      </p:sp>
      <p:sp>
        <p:nvSpPr>
          <p:cNvPr id="40" name="Rectangle 39"/>
          <p:cNvSpPr/>
          <p:nvPr/>
        </p:nvSpPr>
        <p:spPr>
          <a:xfrm>
            <a:off x="7598664" y="4992624"/>
            <a:ext cx="1764792" cy="9144"/>
          </a:xfrm>
          <a:prstGeom prst="rect">
            <a:avLst/>
          </a:prstGeom>
          <a:solidFill>
            <a:srgbClr val="DFD7CB"/>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xtBox 40"/>
          <p:cNvSpPr txBox="1"/>
          <p:nvPr/>
        </p:nvSpPr>
        <p:spPr>
          <a:xfrm>
            <a:off x="9592056" y="4389120"/>
            <a:ext cx="1828800" cy="146304"/>
          </a:xfrm>
          <a:prstGeom prst="rect">
            <a:avLst/>
          </a:prstGeom>
          <a:noFill/>
        </p:spPr>
        <p:txBody>
          <a:bodyPr wrap="square" anchor="t" lIns="0" tIns="0" rIns="0" bIns="0">
            <a:spAutoFit/>
          </a:bodyPr>
          <a:lstStyle/>
          <a:p>
            <a:pPr algn="l">
              <a:lnSpc>
                <a:spcPct val="102000"/>
              </a:lnSpc>
              <a:spcBef>
                <a:spcPts val="0"/>
              </a:spcBef>
              <a:spcAft>
                <a:spcPts val="0"/>
              </a:spcAft>
            </a:pPr>
            <a:r>
              <a:rPr sz="940" b="1" i="0">
                <a:solidFill>
                  <a:srgbClr val="1B365D"/>
                </a:solidFill>
                <a:latin typeface="Georgia"/>
                <a:ea typeface="Microsoft YaHei"/>
                <a:cs typeface="Georgia"/>
              </a:rPr>
              <a:t>cease to do sth.</a:t>
            </a:r>
          </a:p>
        </p:txBody>
      </p:sp>
      <p:sp>
        <p:nvSpPr>
          <p:cNvPr id="42" name="TextBox 41"/>
          <p:cNvSpPr txBox="1"/>
          <p:nvPr/>
        </p:nvSpPr>
        <p:spPr>
          <a:xfrm>
            <a:off x="9592056" y="4617720"/>
            <a:ext cx="1828800" cy="164592"/>
          </a:xfrm>
          <a:prstGeom prst="rect">
            <a:avLst/>
          </a:prstGeom>
          <a:noFill/>
        </p:spPr>
        <p:txBody>
          <a:bodyPr wrap="square" anchor="t" lIns="0" tIns="0" rIns="0" bIns="0">
            <a:spAutoFit/>
          </a:bodyPr>
          <a:lstStyle/>
          <a:p>
            <a:pPr algn="l">
              <a:lnSpc>
                <a:spcPct val="102000"/>
              </a:lnSpc>
              <a:spcBef>
                <a:spcPts val="0"/>
              </a:spcBef>
              <a:spcAft>
                <a:spcPts val="0"/>
              </a:spcAft>
            </a:pPr>
            <a:r>
              <a:rPr sz="840" b="0" i="0">
                <a:solidFill>
                  <a:srgbClr val="2C3E50"/>
                </a:solidFill>
                <a:latin typeface="Calibri"/>
                <a:ea typeface="Microsoft YaHei"/>
                <a:cs typeface="Calibri"/>
              </a:rPr>
              <a:t>停止做某事</a:t>
            </a:r>
          </a:p>
        </p:txBody>
      </p:sp>
      <p:sp>
        <p:nvSpPr>
          <p:cNvPr id="43" name="Rectangle 42"/>
          <p:cNvSpPr/>
          <p:nvPr/>
        </p:nvSpPr>
        <p:spPr>
          <a:xfrm>
            <a:off x="9592056" y="4992624"/>
            <a:ext cx="1764792" cy="9144"/>
          </a:xfrm>
          <a:prstGeom prst="rect">
            <a:avLst/>
          </a:prstGeom>
          <a:solidFill>
            <a:srgbClr val="DFD7CB"/>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xtBox 43"/>
          <p:cNvSpPr txBox="1"/>
          <p:nvPr/>
        </p:nvSpPr>
        <p:spPr>
          <a:xfrm>
            <a:off x="7598664" y="5248656"/>
            <a:ext cx="1828800" cy="146304"/>
          </a:xfrm>
          <a:prstGeom prst="rect">
            <a:avLst/>
          </a:prstGeom>
          <a:noFill/>
        </p:spPr>
        <p:txBody>
          <a:bodyPr wrap="square" anchor="t" lIns="0" tIns="0" rIns="0" bIns="0">
            <a:spAutoFit/>
          </a:bodyPr>
          <a:lstStyle/>
          <a:p>
            <a:pPr algn="l">
              <a:lnSpc>
                <a:spcPct val="102000"/>
              </a:lnSpc>
              <a:spcBef>
                <a:spcPts val="0"/>
              </a:spcBef>
              <a:spcAft>
                <a:spcPts val="0"/>
              </a:spcAft>
            </a:pPr>
            <a:r>
              <a:rPr sz="940" b="1" i="0">
                <a:solidFill>
                  <a:srgbClr val="1B365D"/>
                </a:solidFill>
                <a:latin typeface="Georgia"/>
                <a:ea typeface="Microsoft YaHei"/>
                <a:cs typeface="Georgia"/>
              </a:rPr>
              <a:t>of Dutch descent</a:t>
            </a:r>
          </a:p>
        </p:txBody>
      </p:sp>
      <p:sp>
        <p:nvSpPr>
          <p:cNvPr id="45" name="TextBox 44"/>
          <p:cNvSpPr txBox="1"/>
          <p:nvPr/>
        </p:nvSpPr>
        <p:spPr>
          <a:xfrm>
            <a:off x="7598664" y="5477256"/>
            <a:ext cx="1828800" cy="164592"/>
          </a:xfrm>
          <a:prstGeom prst="rect">
            <a:avLst/>
          </a:prstGeom>
          <a:noFill/>
        </p:spPr>
        <p:txBody>
          <a:bodyPr wrap="square" anchor="t" lIns="0" tIns="0" rIns="0" bIns="0">
            <a:spAutoFit/>
          </a:bodyPr>
          <a:lstStyle/>
          <a:p>
            <a:pPr algn="l">
              <a:lnSpc>
                <a:spcPct val="102000"/>
              </a:lnSpc>
              <a:spcBef>
                <a:spcPts val="0"/>
              </a:spcBef>
              <a:spcAft>
                <a:spcPts val="0"/>
              </a:spcAft>
            </a:pPr>
            <a:r>
              <a:rPr sz="840" b="0" i="0">
                <a:solidFill>
                  <a:srgbClr val="2C3E50"/>
                </a:solidFill>
                <a:latin typeface="Calibri"/>
                <a:ea typeface="Microsoft YaHei"/>
                <a:cs typeface="Calibri"/>
              </a:rPr>
              <a:t>荷兰血统的</a:t>
            </a:r>
          </a:p>
        </p:txBody>
      </p:sp>
      <p:sp>
        <p:nvSpPr>
          <p:cNvPr id="46" name="TextBox 45"/>
          <p:cNvSpPr txBox="1"/>
          <p:nvPr/>
        </p:nvSpPr>
        <p:spPr>
          <a:xfrm>
            <a:off x="9592056" y="5248656"/>
            <a:ext cx="1828800" cy="146304"/>
          </a:xfrm>
          <a:prstGeom prst="rect">
            <a:avLst/>
          </a:prstGeom>
          <a:noFill/>
        </p:spPr>
        <p:txBody>
          <a:bodyPr wrap="square" anchor="t" lIns="0" tIns="0" rIns="0" bIns="0">
            <a:spAutoFit/>
          </a:bodyPr>
          <a:lstStyle/>
          <a:p>
            <a:pPr algn="l">
              <a:lnSpc>
                <a:spcPct val="102000"/>
              </a:lnSpc>
              <a:spcBef>
                <a:spcPts val="0"/>
              </a:spcBef>
              <a:spcAft>
                <a:spcPts val="0"/>
              </a:spcAft>
            </a:pPr>
            <a:r>
              <a:rPr sz="940" b="1" i="0">
                <a:solidFill>
                  <a:srgbClr val="1B365D"/>
                </a:solidFill>
                <a:latin typeface="Georgia"/>
                <a:ea typeface="Microsoft YaHei"/>
                <a:cs typeface="Georgia"/>
              </a:rPr>
              <a:t>see ... as superior to ...</a:t>
            </a:r>
          </a:p>
        </p:txBody>
      </p:sp>
      <p:sp>
        <p:nvSpPr>
          <p:cNvPr id="47" name="TextBox 46"/>
          <p:cNvSpPr txBox="1"/>
          <p:nvPr/>
        </p:nvSpPr>
        <p:spPr>
          <a:xfrm>
            <a:off x="9592056" y="5477256"/>
            <a:ext cx="1828800" cy="164592"/>
          </a:xfrm>
          <a:prstGeom prst="rect">
            <a:avLst/>
          </a:prstGeom>
          <a:noFill/>
        </p:spPr>
        <p:txBody>
          <a:bodyPr wrap="square" anchor="t" lIns="0" tIns="0" rIns="0" bIns="0">
            <a:spAutoFit/>
          </a:bodyPr>
          <a:lstStyle/>
          <a:p>
            <a:pPr algn="l">
              <a:lnSpc>
                <a:spcPct val="102000"/>
              </a:lnSpc>
              <a:spcBef>
                <a:spcPts val="0"/>
              </a:spcBef>
              <a:spcAft>
                <a:spcPts val="0"/>
              </a:spcAft>
            </a:pPr>
            <a:r>
              <a:rPr sz="840" b="0" i="0">
                <a:solidFill>
                  <a:srgbClr val="2C3E50"/>
                </a:solidFill>
                <a:latin typeface="Calibri"/>
                <a:ea typeface="Microsoft YaHei"/>
                <a:cs typeface="Calibri"/>
              </a:rPr>
              <a:t>认为……比……优越</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8F5"/>
        </a:solidFill>
        <a:effectLst/>
      </p:bgPr>
    </p:bg>
    <p:spTree>
      <p:nvGrpSpPr>
        <p:cNvPr id="1" name=""/>
        <p:cNvGrpSpPr/>
        <p:nvPr/>
      </p:nvGrpSpPr>
      <p:grpSpPr/>
      <p:sp>
        <p:nvSpPr>
          <p:cNvPr id="2" name="Rectangle 1"/>
          <p:cNvSpPr/>
          <p:nvPr/>
        </p:nvSpPr>
        <p:spPr>
          <a:xfrm>
            <a:off x="0" y="0"/>
            <a:ext cx="12191695" cy="402336"/>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Rectangle 2"/>
          <p:cNvSpPr/>
          <p:nvPr/>
        </p:nvSpPr>
        <p:spPr>
          <a:xfrm>
            <a:off x="502920" y="137160"/>
            <a:ext cx="77724" cy="128016"/>
          </a:xfrm>
          <a:prstGeom prst="rect">
            <a:avLst/>
          </a:prstGeom>
          <a:solidFill>
            <a:srgbClr val="C84B3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extBox 3"/>
          <p:cNvSpPr txBox="1"/>
          <p:nvPr/>
        </p:nvSpPr>
        <p:spPr>
          <a:xfrm>
            <a:off x="685800" y="123444"/>
            <a:ext cx="6400800" cy="164592"/>
          </a:xfrm>
          <a:prstGeom prst="rect">
            <a:avLst/>
          </a:prstGeom>
          <a:noFill/>
        </p:spPr>
        <p:txBody>
          <a:bodyPr wrap="square" anchor="t" lIns="0" tIns="0" rIns="0" bIns="0">
            <a:spAutoFit/>
          </a:bodyPr>
          <a:lstStyle/>
          <a:p>
            <a:pPr algn="l">
              <a:lnSpc>
                <a:spcPct val="102000"/>
              </a:lnSpc>
              <a:spcBef>
                <a:spcPts val="0"/>
              </a:spcBef>
              <a:spcAft>
                <a:spcPts val="0"/>
              </a:spcAft>
            </a:pPr>
            <a:r>
              <a:rPr sz="780" b="1" i="0" spc="110">
                <a:solidFill>
                  <a:srgbClr val="FFFFFF"/>
                </a:solidFill>
                <a:latin typeface="Calibri"/>
                <a:ea typeface="Microsoft YaHei"/>
                <a:cs typeface="Calibri"/>
              </a:rPr>
              <a:t>LANGUAGE &amp; CULTURE   /   PARAGRAPHS 7–8</a:t>
            </a:r>
          </a:p>
        </p:txBody>
      </p:sp>
      <p:sp>
        <p:nvSpPr>
          <p:cNvPr id="5" name="Rectangle 4"/>
          <p:cNvSpPr/>
          <p:nvPr/>
        </p:nvSpPr>
        <p:spPr>
          <a:xfrm>
            <a:off x="9710928" y="185623"/>
            <a:ext cx="96012" cy="31089"/>
          </a:xfrm>
          <a:prstGeom prst="rect">
            <a:avLst/>
          </a:prstGeom>
          <a:solidFill>
            <a:srgbClr val="6C7F9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Rectangle 5"/>
          <p:cNvSpPr/>
          <p:nvPr/>
        </p:nvSpPr>
        <p:spPr>
          <a:xfrm>
            <a:off x="9852659" y="185623"/>
            <a:ext cx="96012" cy="31089"/>
          </a:xfrm>
          <a:prstGeom prst="rect">
            <a:avLst/>
          </a:prstGeom>
          <a:solidFill>
            <a:srgbClr val="6C7F9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 name="Rectangle 6"/>
          <p:cNvSpPr/>
          <p:nvPr/>
        </p:nvSpPr>
        <p:spPr>
          <a:xfrm>
            <a:off x="9994392" y="185623"/>
            <a:ext cx="96012" cy="31089"/>
          </a:xfrm>
          <a:prstGeom prst="rect">
            <a:avLst/>
          </a:prstGeom>
          <a:solidFill>
            <a:srgbClr val="6C7F9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ectangle 7"/>
          <p:cNvSpPr/>
          <p:nvPr/>
        </p:nvSpPr>
        <p:spPr>
          <a:xfrm>
            <a:off x="10136124" y="185623"/>
            <a:ext cx="96012" cy="31089"/>
          </a:xfrm>
          <a:prstGeom prst="rect">
            <a:avLst/>
          </a:prstGeom>
          <a:solidFill>
            <a:srgbClr val="6C7F9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ectangle 8"/>
          <p:cNvSpPr/>
          <p:nvPr/>
        </p:nvSpPr>
        <p:spPr>
          <a:xfrm>
            <a:off x="10277855" y="185623"/>
            <a:ext cx="96012" cy="31089"/>
          </a:xfrm>
          <a:prstGeom prst="rect">
            <a:avLst/>
          </a:prstGeom>
          <a:solidFill>
            <a:srgbClr val="C84B3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Rectangle 9"/>
          <p:cNvSpPr/>
          <p:nvPr/>
        </p:nvSpPr>
        <p:spPr>
          <a:xfrm>
            <a:off x="10419588" y="185623"/>
            <a:ext cx="96012" cy="31089"/>
          </a:xfrm>
          <a:prstGeom prst="rect">
            <a:avLst/>
          </a:prstGeom>
          <a:solidFill>
            <a:srgbClr val="6C7F9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ectangle 10"/>
          <p:cNvSpPr/>
          <p:nvPr/>
        </p:nvSpPr>
        <p:spPr>
          <a:xfrm>
            <a:off x="10561319" y="185623"/>
            <a:ext cx="96012" cy="31089"/>
          </a:xfrm>
          <a:prstGeom prst="rect">
            <a:avLst/>
          </a:prstGeom>
          <a:solidFill>
            <a:srgbClr val="6C7F9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Rectangle 11"/>
          <p:cNvSpPr/>
          <p:nvPr/>
        </p:nvSpPr>
        <p:spPr>
          <a:xfrm>
            <a:off x="10703051" y="185623"/>
            <a:ext cx="96012" cy="31089"/>
          </a:xfrm>
          <a:prstGeom prst="rect">
            <a:avLst/>
          </a:prstGeom>
          <a:solidFill>
            <a:srgbClr val="6C7F9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TextBox 12"/>
          <p:cNvSpPr txBox="1"/>
          <p:nvPr/>
        </p:nvSpPr>
        <p:spPr>
          <a:xfrm>
            <a:off x="10917936" y="118872"/>
            <a:ext cx="777240" cy="164592"/>
          </a:xfrm>
          <a:prstGeom prst="rect">
            <a:avLst/>
          </a:prstGeom>
          <a:noFill/>
        </p:spPr>
        <p:txBody>
          <a:bodyPr wrap="square" anchor="t" lIns="0" tIns="0" rIns="0" bIns="0">
            <a:spAutoFit/>
          </a:bodyPr>
          <a:lstStyle/>
          <a:p>
            <a:pPr algn="r">
              <a:lnSpc>
                <a:spcPct val="102000"/>
              </a:lnSpc>
              <a:spcBef>
                <a:spcPts val="0"/>
              </a:spcBef>
              <a:spcAft>
                <a:spcPts val="0"/>
              </a:spcAft>
            </a:pPr>
            <a:r>
              <a:rPr sz="760" b="1" i="0" spc="50">
                <a:solidFill>
                  <a:srgbClr val="FFFFFF"/>
                </a:solidFill>
                <a:latin typeface="Calibri"/>
                <a:ea typeface="Microsoft YaHei"/>
                <a:cs typeface="Calibri"/>
              </a:rPr>
              <a:t>05 / 08</a:t>
            </a:r>
          </a:p>
        </p:txBody>
      </p:sp>
      <p:sp>
        <p:nvSpPr>
          <p:cNvPr id="14" name="TextBox 13"/>
          <p:cNvSpPr txBox="1"/>
          <p:nvPr/>
        </p:nvSpPr>
        <p:spPr>
          <a:xfrm>
            <a:off x="502920" y="576072"/>
            <a:ext cx="10972800" cy="438912"/>
          </a:xfrm>
          <a:prstGeom prst="rect">
            <a:avLst/>
          </a:prstGeom>
          <a:noFill/>
        </p:spPr>
        <p:txBody>
          <a:bodyPr wrap="square" anchor="t" lIns="0" tIns="0" rIns="0" bIns="0">
            <a:spAutoFit/>
          </a:bodyPr>
          <a:lstStyle/>
          <a:p>
            <a:pPr algn="l">
              <a:lnSpc>
                <a:spcPct val="102000"/>
              </a:lnSpc>
              <a:spcBef>
                <a:spcPts val="0"/>
              </a:spcBef>
              <a:spcAft>
                <a:spcPts val="0"/>
              </a:spcAft>
            </a:pPr>
            <a:r>
              <a:rPr sz="2350" b="1" i="0">
                <a:solidFill>
                  <a:srgbClr val="1B365D"/>
                </a:solidFill>
                <a:latin typeface="Georgia"/>
                <a:ea typeface="Microsoft YaHei"/>
                <a:cs typeface="Georgia"/>
              </a:rPr>
              <a:t>第7段精讲（三）｜核心长难句拆解</a:t>
            </a:r>
          </a:p>
        </p:txBody>
      </p:sp>
      <p:sp>
        <p:nvSpPr>
          <p:cNvPr id="15" name="TextBox 14"/>
          <p:cNvSpPr txBox="1"/>
          <p:nvPr/>
        </p:nvSpPr>
        <p:spPr>
          <a:xfrm>
            <a:off x="502920" y="1042415"/>
            <a:ext cx="10789920" cy="173736"/>
          </a:xfrm>
          <a:prstGeom prst="rect">
            <a:avLst/>
          </a:prstGeom>
          <a:noFill/>
        </p:spPr>
        <p:txBody>
          <a:bodyPr wrap="square" anchor="t" lIns="0" tIns="0" rIns="0" bIns="0">
            <a:spAutoFit/>
          </a:bodyPr>
          <a:lstStyle/>
          <a:p>
            <a:pPr algn="l">
              <a:lnSpc>
                <a:spcPct val="102000"/>
              </a:lnSpc>
              <a:spcBef>
                <a:spcPts val="0"/>
              </a:spcBef>
              <a:spcAft>
                <a:spcPts val="0"/>
              </a:spcAft>
            </a:pPr>
            <a:r>
              <a:rPr sz="780" b="1" i="0" spc="110">
                <a:solidFill>
                  <a:srgbClr val="707984"/>
                </a:solidFill>
                <a:latin typeface="Calibri"/>
                <a:ea typeface="Microsoft YaHei"/>
                <a:cs typeface="Calibri"/>
              </a:rPr>
              <a:t>PARAGRAPH 7  ·  SYNTAX IN CONTEXT  /  THE LANGUAGE OF FREEDOM AND UNITY</a:t>
            </a:r>
          </a:p>
        </p:txBody>
      </p:sp>
      <p:sp>
        <p:nvSpPr>
          <p:cNvPr id="16" name="Rectangle 15"/>
          <p:cNvSpPr/>
          <p:nvPr/>
        </p:nvSpPr>
        <p:spPr>
          <a:xfrm>
            <a:off x="502920" y="1243584"/>
            <a:ext cx="987552" cy="32004"/>
          </a:xfrm>
          <a:prstGeom prst="rect">
            <a:avLst/>
          </a:prstGeom>
          <a:solidFill>
            <a:srgbClr val="C84B3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ounded Rectangle 16"/>
          <p:cNvSpPr/>
          <p:nvPr/>
        </p:nvSpPr>
        <p:spPr>
          <a:xfrm>
            <a:off x="502920" y="1389888"/>
            <a:ext cx="11183112" cy="2258568"/>
          </a:xfrm>
          <a:prstGeom prst="roundRect">
            <a:avLst>
              <a:gd name="adj" fmla="val 2000"/>
            </a:avLst>
          </a:prstGeom>
          <a:solidFill>
            <a:srgbClr val="FFFDF9"/>
          </a:solidFill>
          <a:ln w="10160">
            <a:solidFill>
              <a:srgbClr val="DFD7CB"/>
            </a:solidFill>
          </a:ln>
          <a:effectLst>
            <a:outerShdw blurRad="152400" dist="38100" dir="5400000" algn="ctr" rotWithShape="0">
              <a:srgbClr val="1B365D">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Rectangle 17"/>
          <p:cNvSpPr/>
          <p:nvPr/>
        </p:nvSpPr>
        <p:spPr>
          <a:xfrm>
            <a:off x="502920" y="1389888"/>
            <a:ext cx="45720" cy="225856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TextBox 18"/>
          <p:cNvSpPr txBox="1"/>
          <p:nvPr/>
        </p:nvSpPr>
        <p:spPr>
          <a:xfrm>
            <a:off x="749808" y="1481328"/>
            <a:ext cx="5943600" cy="137160"/>
          </a:xfrm>
          <a:prstGeom prst="rect">
            <a:avLst/>
          </a:prstGeom>
          <a:noFill/>
        </p:spPr>
        <p:txBody>
          <a:bodyPr wrap="square" anchor="t" lIns="0" tIns="0" rIns="0" bIns="0">
            <a:spAutoFit/>
          </a:bodyPr>
          <a:lstStyle/>
          <a:p>
            <a:pPr algn="l">
              <a:lnSpc>
                <a:spcPct val="102000"/>
              </a:lnSpc>
              <a:spcBef>
                <a:spcPts val="0"/>
              </a:spcBef>
              <a:spcAft>
                <a:spcPts val="0"/>
              </a:spcAft>
            </a:pPr>
            <a:r>
              <a:rPr sz="650" b="1" i="0" spc="110">
                <a:solidFill>
                  <a:srgbClr val="707984"/>
                </a:solidFill>
                <a:latin typeface="Calibri"/>
                <a:ea typeface="Microsoft YaHei"/>
                <a:cs typeface="Calibri"/>
              </a:rPr>
              <a:t>ORIGINAL  /  SOURCE TEXT</a:t>
            </a:r>
          </a:p>
        </p:txBody>
      </p:sp>
      <p:sp>
        <p:nvSpPr>
          <p:cNvPr id="20" name="TextBox 19"/>
          <p:cNvSpPr txBox="1"/>
          <p:nvPr/>
        </p:nvSpPr>
        <p:spPr>
          <a:xfrm>
            <a:off x="7269480" y="1481328"/>
            <a:ext cx="4023360" cy="137160"/>
          </a:xfrm>
          <a:prstGeom prst="rect">
            <a:avLst/>
          </a:prstGeom>
          <a:noFill/>
        </p:spPr>
        <p:txBody>
          <a:bodyPr wrap="square" anchor="t" lIns="0" tIns="0" rIns="0" bIns="0">
            <a:spAutoFit/>
          </a:bodyPr>
          <a:lstStyle/>
          <a:p>
            <a:pPr algn="l">
              <a:lnSpc>
                <a:spcPct val="102000"/>
              </a:lnSpc>
              <a:spcBef>
                <a:spcPts val="0"/>
              </a:spcBef>
              <a:spcAft>
                <a:spcPts val="0"/>
              </a:spcAft>
            </a:pPr>
            <a:r>
              <a:rPr sz="650" b="1" i="0" spc="80">
                <a:solidFill>
                  <a:srgbClr val="707984"/>
                </a:solidFill>
                <a:latin typeface="Calibri"/>
                <a:ea typeface="Microsoft YaHei"/>
                <a:cs typeface="Calibri"/>
              </a:rPr>
              <a:t>译文  /  CHINESE</a:t>
            </a:r>
          </a:p>
        </p:txBody>
      </p:sp>
      <p:sp>
        <p:nvSpPr>
          <p:cNvPr id="21" name="Rectangle 20"/>
          <p:cNvSpPr/>
          <p:nvPr/>
        </p:nvSpPr>
        <p:spPr>
          <a:xfrm>
            <a:off x="7022592" y="1645920"/>
            <a:ext cx="10972" cy="1810512"/>
          </a:xfrm>
          <a:prstGeom prst="rect">
            <a:avLst/>
          </a:prstGeom>
          <a:solidFill>
            <a:srgbClr val="DFD7CB"/>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TextBox 21"/>
          <p:cNvSpPr txBox="1"/>
          <p:nvPr/>
        </p:nvSpPr>
        <p:spPr>
          <a:xfrm>
            <a:off x="749808" y="1682496"/>
            <a:ext cx="6053328" cy="713232"/>
          </a:xfrm>
          <a:prstGeom prst="rect">
            <a:avLst/>
          </a:prstGeom>
          <a:noFill/>
        </p:spPr>
        <p:txBody>
          <a:bodyPr wrap="square" anchor="t" lIns="0" tIns="0" rIns="0" bIns="0">
            <a:spAutoFit/>
          </a:bodyPr>
          <a:lstStyle/>
          <a:p>
            <a:pPr algn="l">
              <a:lnSpc>
                <a:spcPct val="104000"/>
              </a:lnSpc>
              <a:spcBef>
                <a:spcPts val="0"/>
              </a:spcBef>
              <a:spcAft>
                <a:spcPts val="0"/>
              </a:spcAft>
            </a:pPr>
            <a:r>
              <a:rPr sz="1090" b="0" i="0">
                <a:solidFill>
                  <a:srgbClr val="2C3E50"/>
                </a:solidFill>
                <a:latin typeface="Georgia"/>
                <a:ea typeface="Microsoft YaHei"/>
                <a:cs typeface="Georgia"/>
              </a:rPr>
              <a:t>English-speaking South Africans of British descent were not particularly strong in opposing the </a:t>
            </a:r>
            <a:r>
              <a:rPr sz="1090" b="1" i="0">
                <a:solidFill>
                  <a:srgbClr val="C84B31"/>
                </a:solidFill>
                <a:latin typeface="Georgia"/>
                <a:ea typeface="Microsoft YaHei"/>
                <a:cs typeface="Georgia"/>
              </a:rPr>
              <a:t>apartheid regime</a:t>
            </a:r>
            <a:r>
              <a:rPr sz="1090" b="0" i="0">
                <a:solidFill>
                  <a:srgbClr val="2C3E50"/>
                </a:solidFill>
                <a:latin typeface="Georgia"/>
                <a:ea typeface="Microsoft YaHei"/>
                <a:cs typeface="Georgia"/>
              </a:rPr>
              <a:t>, and the black opposition, </a:t>
            </a:r>
            <a:r>
              <a:rPr sz="1090" b="1" i="0">
                <a:solidFill>
                  <a:srgbClr val="1B365D"/>
                </a:solidFill>
                <a:latin typeface="Georgia"/>
                <a:ea typeface="Microsoft YaHei"/>
                <a:cs typeface="Georgia"/>
              </a:rPr>
              <a:t>whose members had many languages</a:t>
            </a:r>
            <a:r>
              <a:rPr sz="1090" b="0" i="0">
                <a:solidFill>
                  <a:srgbClr val="2C3E50"/>
                </a:solidFill>
                <a:latin typeface="Georgia"/>
                <a:ea typeface="Microsoft YaHei"/>
                <a:cs typeface="Georgia"/>
              </a:rPr>
              <a:t>, was at first weak and disorganized.</a:t>
            </a:r>
          </a:p>
        </p:txBody>
      </p:sp>
      <p:sp>
        <p:nvSpPr>
          <p:cNvPr id="23" name="TextBox 22"/>
          <p:cNvSpPr txBox="1"/>
          <p:nvPr/>
        </p:nvSpPr>
        <p:spPr>
          <a:xfrm>
            <a:off x="7269480" y="1682496"/>
            <a:ext cx="4041648" cy="713232"/>
          </a:xfrm>
          <a:prstGeom prst="rect">
            <a:avLst/>
          </a:prstGeom>
          <a:noFill/>
        </p:spPr>
        <p:txBody>
          <a:bodyPr wrap="square" anchor="t" lIns="0" tIns="0" rIns="0" bIns="0">
            <a:spAutoFit/>
          </a:bodyPr>
          <a:lstStyle/>
          <a:p>
            <a:pPr algn="l">
              <a:lnSpc>
                <a:spcPct val="108000"/>
              </a:lnSpc>
              <a:spcBef>
                <a:spcPts val="0"/>
              </a:spcBef>
              <a:spcAft>
                <a:spcPts val="0"/>
              </a:spcAft>
            </a:pPr>
            <a:r>
              <a:rPr sz="980" b="0" i="0">
                <a:solidFill>
                  <a:srgbClr val="2C3E50"/>
                </a:solidFill>
                <a:latin typeface="Calibri"/>
                <a:ea typeface="Microsoft YaHei"/>
                <a:cs typeface="Calibri"/>
              </a:rPr>
              <a:t>讲英语的英国血统的南非人在反对种族隔离政权方面并不是特别坚决，而其成员使用多种语言的黑人反对派，起初既薄弱又缺乏组织。</a:t>
            </a:r>
          </a:p>
        </p:txBody>
      </p:sp>
      <p:sp>
        <p:nvSpPr>
          <p:cNvPr id="24" name="Rectangle 23"/>
          <p:cNvSpPr/>
          <p:nvPr/>
        </p:nvSpPr>
        <p:spPr>
          <a:xfrm>
            <a:off x="749808" y="2478024"/>
            <a:ext cx="10588752" cy="9144"/>
          </a:xfrm>
          <a:prstGeom prst="rect">
            <a:avLst/>
          </a:prstGeom>
          <a:solidFill>
            <a:srgbClr val="DFD7CB"/>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TextBox 24"/>
          <p:cNvSpPr txBox="1"/>
          <p:nvPr/>
        </p:nvSpPr>
        <p:spPr>
          <a:xfrm>
            <a:off x="749808" y="2560320"/>
            <a:ext cx="6053328" cy="932688"/>
          </a:xfrm>
          <a:prstGeom prst="rect">
            <a:avLst/>
          </a:prstGeom>
          <a:noFill/>
        </p:spPr>
        <p:txBody>
          <a:bodyPr wrap="square" anchor="t" lIns="0" tIns="0" rIns="0" bIns="0">
            <a:spAutoFit/>
          </a:bodyPr>
          <a:lstStyle/>
          <a:p>
            <a:pPr algn="l">
              <a:lnSpc>
                <a:spcPct val="104000"/>
              </a:lnSpc>
              <a:spcBef>
                <a:spcPts val="0"/>
              </a:spcBef>
              <a:spcAft>
                <a:spcPts val="0"/>
              </a:spcAft>
            </a:pPr>
            <a:r>
              <a:rPr sz="1090" b="0" i="0">
                <a:solidFill>
                  <a:srgbClr val="2C3E50"/>
                </a:solidFill>
                <a:latin typeface="Georgia"/>
                <a:ea typeface="Microsoft YaHei"/>
                <a:cs typeface="Georgia"/>
              </a:rPr>
              <a:t>However, the language </a:t>
            </a:r>
            <a:r>
              <a:rPr sz="1090" b="1" i="0">
                <a:solidFill>
                  <a:srgbClr val="C84B31"/>
                </a:solidFill>
                <a:latin typeface="Georgia"/>
                <a:ea typeface="Microsoft YaHei"/>
                <a:cs typeface="Georgia"/>
              </a:rPr>
              <a:t>through which this opposition gained strength and organization</a:t>
            </a:r>
            <a:r>
              <a:rPr sz="1090" b="0" i="0">
                <a:solidFill>
                  <a:srgbClr val="2C3E50"/>
                </a:solidFill>
                <a:latin typeface="Georgia"/>
                <a:ea typeface="Microsoft YaHei"/>
                <a:cs typeface="Georgia"/>
              </a:rPr>
              <a:t> was English, </a:t>
            </a:r>
            <a:r>
              <a:rPr sz="1090" b="1" i="0">
                <a:solidFill>
                  <a:srgbClr val="1B365D"/>
                </a:solidFill>
                <a:latin typeface="Georgia"/>
                <a:ea typeface="Microsoft YaHei"/>
                <a:cs typeface="Georgia"/>
              </a:rPr>
              <a:t>which became for them the key language of freedom and unity, not of oppression</a:t>
            </a:r>
            <a:r>
              <a:rPr sz="1090" b="0" i="0">
                <a:solidFill>
                  <a:srgbClr val="2C3E50"/>
                </a:solidFill>
                <a:latin typeface="Georgia"/>
                <a:ea typeface="Microsoft YaHei"/>
                <a:cs typeface="Georgia"/>
              </a:rPr>
              <a:t>.</a:t>
            </a:r>
          </a:p>
        </p:txBody>
      </p:sp>
      <p:sp>
        <p:nvSpPr>
          <p:cNvPr id="26" name="TextBox 25"/>
          <p:cNvSpPr txBox="1"/>
          <p:nvPr/>
        </p:nvSpPr>
        <p:spPr>
          <a:xfrm>
            <a:off x="7269480" y="2560320"/>
            <a:ext cx="4041648" cy="932688"/>
          </a:xfrm>
          <a:prstGeom prst="rect">
            <a:avLst/>
          </a:prstGeom>
          <a:noFill/>
        </p:spPr>
        <p:txBody>
          <a:bodyPr wrap="square" anchor="t" lIns="0" tIns="0" rIns="0" bIns="0">
            <a:spAutoFit/>
          </a:bodyPr>
          <a:lstStyle/>
          <a:p>
            <a:pPr algn="l">
              <a:lnSpc>
                <a:spcPct val="108000"/>
              </a:lnSpc>
              <a:spcBef>
                <a:spcPts val="0"/>
              </a:spcBef>
              <a:spcAft>
                <a:spcPts val="0"/>
              </a:spcAft>
            </a:pPr>
            <a:r>
              <a:rPr sz="980" b="0" i="0">
                <a:solidFill>
                  <a:srgbClr val="2C3E50"/>
                </a:solidFill>
                <a:latin typeface="Calibri"/>
                <a:ea typeface="Microsoft YaHei"/>
                <a:cs typeface="Calibri"/>
              </a:rPr>
              <a:t>然而，让这一反对派获得力量并组织起来的语言正是英语；对他们来说，英语成为了自由与团结的关键语言，而不是压迫的语言。</a:t>
            </a:r>
          </a:p>
        </p:txBody>
      </p:sp>
      <p:sp>
        <p:nvSpPr>
          <p:cNvPr id="27" name="Rounded Rectangle 26"/>
          <p:cNvSpPr/>
          <p:nvPr/>
        </p:nvSpPr>
        <p:spPr>
          <a:xfrm>
            <a:off x="502920" y="3794760"/>
            <a:ext cx="5449824" cy="1938528"/>
          </a:xfrm>
          <a:prstGeom prst="roundRect">
            <a:avLst>
              <a:gd name="adj" fmla="val 2500"/>
            </a:avLst>
          </a:prstGeom>
          <a:solidFill>
            <a:srgbClr val="ECF0F5"/>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TextBox 27"/>
          <p:cNvSpPr txBox="1"/>
          <p:nvPr/>
        </p:nvSpPr>
        <p:spPr>
          <a:xfrm>
            <a:off x="694944" y="3904487"/>
            <a:ext cx="5074920" cy="173736"/>
          </a:xfrm>
          <a:prstGeom prst="rect">
            <a:avLst/>
          </a:prstGeom>
          <a:noFill/>
        </p:spPr>
        <p:txBody>
          <a:bodyPr wrap="square" anchor="t" lIns="0" tIns="0" rIns="0" bIns="0">
            <a:spAutoFit/>
          </a:bodyPr>
          <a:lstStyle/>
          <a:p>
            <a:pPr algn="l">
              <a:lnSpc>
                <a:spcPct val="102000"/>
              </a:lnSpc>
              <a:spcBef>
                <a:spcPts val="0"/>
              </a:spcBef>
              <a:spcAft>
                <a:spcPts val="0"/>
              </a:spcAft>
            </a:pPr>
            <a:r>
              <a:rPr sz="869" b="1" i="0">
                <a:solidFill>
                  <a:srgbClr val="1B365D"/>
                </a:solidFill>
                <a:latin typeface="Calibri"/>
                <a:ea typeface="Microsoft YaHei"/>
                <a:cs typeface="Calibri"/>
              </a:rPr>
              <a:t>句法 1  ·  并列句 + 非限制性定语从句</a:t>
            </a:r>
          </a:p>
        </p:txBody>
      </p:sp>
      <p:sp>
        <p:nvSpPr>
          <p:cNvPr id="29" name="Rounded Rectangle 28"/>
          <p:cNvSpPr/>
          <p:nvPr/>
        </p:nvSpPr>
        <p:spPr>
          <a:xfrm>
            <a:off x="667512" y="4197096"/>
            <a:ext cx="1874519" cy="640080"/>
          </a:xfrm>
          <a:prstGeom prst="roundRect">
            <a:avLst>
              <a:gd name="adj" fmla="val 4000"/>
            </a:avLst>
          </a:prstGeom>
          <a:solidFill>
            <a:srgbClr val="FFFFFF"/>
          </a:solidFill>
          <a:ln w="8890">
            <a:solidFill>
              <a:srgbClr val="3A5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xtBox 29"/>
          <p:cNvSpPr txBox="1"/>
          <p:nvPr/>
        </p:nvSpPr>
        <p:spPr>
          <a:xfrm>
            <a:off x="758952" y="4261104"/>
            <a:ext cx="1700784" cy="502920"/>
          </a:xfrm>
          <a:prstGeom prst="rect">
            <a:avLst/>
          </a:prstGeom>
          <a:noFill/>
        </p:spPr>
        <p:txBody>
          <a:bodyPr wrap="square" anchor="t" lIns="0" tIns="0" rIns="0" bIns="0">
            <a:spAutoFit/>
          </a:bodyPr>
          <a:lstStyle/>
          <a:p>
            <a:pPr algn="l">
              <a:lnSpc>
                <a:spcPct val="102000"/>
              </a:lnSpc>
              <a:spcBef>
                <a:spcPts val="0"/>
              </a:spcBef>
              <a:spcAft>
                <a:spcPts val="0"/>
              </a:spcAft>
            </a:pPr>
            <a:r>
              <a:rPr sz="740" b="0" i="0">
                <a:solidFill>
                  <a:srgbClr val="2C3E50"/>
                </a:solidFill>
                <a:latin typeface="Calibri"/>
                <a:ea typeface="Microsoft YaHei"/>
                <a:cs typeface="Calibri"/>
              </a:rPr>
              <a:t>English-speaking</a:t>
            </a:r>
          </a:p>
          <a:p>
            <a:pPr algn="l">
              <a:lnSpc>
                <a:spcPct val="102000"/>
              </a:lnSpc>
              <a:spcBef>
                <a:spcPts val="0"/>
              </a:spcBef>
              <a:spcAft>
                <a:spcPts val="0"/>
              </a:spcAft>
            </a:pPr>
            <a:r>
              <a:rPr sz="740" b="0" i="0">
                <a:solidFill>
                  <a:srgbClr val="2C3E50"/>
                </a:solidFill>
                <a:latin typeface="Calibri"/>
                <a:ea typeface="Microsoft YaHei"/>
                <a:cs typeface="Calibri"/>
              </a:rPr>
              <a:t>South Africans ...</a:t>
            </a:r>
          </a:p>
          <a:p>
            <a:pPr algn="l">
              <a:lnSpc>
                <a:spcPct val="102000"/>
              </a:lnSpc>
              <a:spcBef>
                <a:spcPts val="0"/>
              </a:spcBef>
              <a:spcAft>
                <a:spcPts val="0"/>
              </a:spcAft>
            </a:pPr>
            <a:r>
              <a:rPr sz="740" b="0" i="0">
                <a:solidFill>
                  <a:srgbClr val="2C3E50"/>
                </a:solidFill>
                <a:latin typeface="Calibri"/>
                <a:ea typeface="Microsoft YaHei"/>
                <a:cs typeface="Calibri"/>
              </a:rPr>
              <a:t>were not particularly strong</a:t>
            </a:r>
          </a:p>
        </p:txBody>
      </p:sp>
      <p:sp>
        <p:nvSpPr>
          <p:cNvPr id="31" name="Rounded Rectangle 30"/>
          <p:cNvSpPr/>
          <p:nvPr/>
        </p:nvSpPr>
        <p:spPr>
          <a:xfrm>
            <a:off x="2670048" y="4398264"/>
            <a:ext cx="320040" cy="228600"/>
          </a:xfrm>
          <a:prstGeom prst="roundRect">
            <a:avLst>
              <a:gd name="adj" fmla="val 50000"/>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xtBox 31"/>
          <p:cNvSpPr txBox="1"/>
          <p:nvPr/>
        </p:nvSpPr>
        <p:spPr>
          <a:xfrm>
            <a:off x="2670048" y="4448556"/>
            <a:ext cx="320040" cy="91440"/>
          </a:xfrm>
          <a:prstGeom prst="rect">
            <a:avLst/>
          </a:prstGeom>
          <a:noFill/>
        </p:spPr>
        <p:txBody>
          <a:bodyPr wrap="square" anchor="t" lIns="0" tIns="0" rIns="0" bIns="0">
            <a:spAutoFit/>
          </a:bodyPr>
          <a:lstStyle/>
          <a:p>
            <a:pPr algn="ctr">
              <a:lnSpc>
                <a:spcPct val="102000"/>
              </a:lnSpc>
              <a:spcBef>
                <a:spcPts val="0"/>
              </a:spcBef>
              <a:spcAft>
                <a:spcPts val="0"/>
              </a:spcAft>
            </a:pPr>
            <a:r>
              <a:rPr sz="540" b="1" i="0" spc="30">
                <a:solidFill>
                  <a:srgbClr val="FFFFFF"/>
                </a:solidFill>
                <a:latin typeface="Calibri"/>
                <a:ea typeface="Microsoft YaHei"/>
                <a:cs typeface="Calibri"/>
              </a:rPr>
              <a:t>AND</a:t>
            </a:r>
          </a:p>
        </p:txBody>
      </p:sp>
      <p:sp>
        <p:nvSpPr>
          <p:cNvPr id="33" name="Rounded Rectangle 32"/>
          <p:cNvSpPr/>
          <p:nvPr/>
        </p:nvSpPr>
        <p:spPr>
          <a:xfrm>
            <a:off x="3099816" y="4197096"/>
            <a:ext cx="2670048" cy="640080"/>
          </a:xfrm>
          <a:prstGeom prst="roundRect">
            <a:avLst>
              <a:gd name="adj" fmla="val 4000"/>
            </a:avLst>
          </a:prstGeom>
          <a:solidFill>
            <a:srgbClr val="FFFFFF"/>
          </a:solidFill>
          <a:ln w="10160">
            <a:solidFill>
              <a:srgbClr val="C84B31"/>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TextBox 33"/>
          <p:cNvSpPr txBox="1"/>
          <p:nvPr/>
        </p:nvSpPr>
        <p:spPr>
          <a:xfrm>
            <a:off x="3200400" y="4261104"/>
            <a:ext cx="2459736" cy="502920"/>
          </a:xfrm>
          <a:prstGeom prst="rect">
            <a:avLst/>
          </a:prstGeom>
          <a:noFill/>
        </p:spPr>
        <p:txBody>
          <a:bodyPr wrap="square" anchor="t" lIns="0" tIns="0" rIns="0" bIns="0">
            <a:spAutoFit/>
          </a:bodyPr>
          <a:lstStyle/>
          <a:p>
            <a:pPr algn="l">
              <a:lnSpc>
                <a:spcPct val="102000"/>
              </a:lnSpc>
              <a:spcBef>
                <a:spcPts val="0"/>
              </a:spcBef>
              <a:spcAft>
                <a:spcPts val="0"/>
              </a:spcAft>
            </a:pPr>
            <a:r>
              <a:rPr sz="740" b="0" i="0">
                <a:solidFill>
                  <a:srgbClr val="2C3E50"/>
                </a:solidFill>
                <a:latin typeface="Calibri"/>
                <a:ea typeface="Microsoft YaHei"/>
                <a:cs typeface="Calibri"/>
              </a:rPr>
              <a:t>the black opposition ...</a:t>
            </a:r>
          </a:p>
          <a:p>
            <a:pPr algn="l">
              <a:lnSpc>
                <a:spcPct val="102000"/>
              </a:lnSpc>
              <a:spcBef>
                <a:spcPts val="0"/>
              </a:spcBef>
              <a:spcAft>
                <a:spcPts val="0"/>
              </a:spcAft>
            </a:pPr>
            <a:r>
              <a:rPr sz="740" b="0" i="0">
                <a:solidFill>
                  <a:srgbClr val="2C3E50"/>
                </a:solidFill>
                <a:latin typeface="Calibri"/>
                <a:ea typeface="Microsoft YaHei"/>
                <a:cs typeface="Calibri"/>
              </a:rPr>
              <a:t>was at first weak</a:t>
            </a:r>
          </a:p>
          <a:p>
            <a:pPr algn="l">
              <a:lnSpc>
                <a:spcPct val="102000"/>
              </a:lnSpc>
              <a:spcBef>
                <a:spcPts val="0"/>
              </a:spcBef>
              <a:spcAft>
                <a:spcPts val="0"/>
              </a:spcAft>
            </a:pPr>
            <a:r>
              <a:rPr sz="740" b="0" i="0">
                <a:solidFill>
                  <a:srgbClr val="2C3E50"/>
                </a:solidFill>
                <a:latin typeface="Calibri"/>
                <a:ea typeface="Microsoft YaHei"/>
                <a:cs typeface="Calibri"/>
              </a:rPr>
              <a:t>and disorganized</a:t>
            </a:r>
          </a:p>
        </p:txBody>
      </p:sp>
      <p:sp>
        <p:nvSpPr>
          <p:cNvPr id="35" name="TextBox 34"/>
          <p:cNvSpPr txBox="1"/>
          <p:nvPr/>
        </p:nvSpPr>
        <p:spPr>
          <a:xfrm>
            <a:off x="713232" y="4965192"/>
            <a:ext cx="5047488" cy="621792"/>
          </a:xfrm>
          <a:prstGeom prst="rect">
            <a:avLst/>
          </a:prstGeom>
          <a:noFill/>
        </p:spPr>
        <p:txBody>
          <a:bodyPr wrap="square" anchor="t" lIns="0" tIns="0" rIns="0" bIns="0">
            <a:spAutoFit/>
          </a:bodyPr>
          <a:lstStyle/>
          <a:p>
            <a:pPr algn="l">
              <a:lnSpc>
                <a:spcPct val="102000"/>
              </a:lnSpc>
              <a:spcBef>
                <a:spcPts val="0"/>
              </a:spcBef>
              <a:spcAft>
                <a:spcPts val="0"/>
              </a:spcAft>
            </a:pPr>
            <a:r>
              <a:rPr sz="1700" b="1" i="0">
                <a:solidFill>
                  <a:srgbClr val="C84B31"/>
                </a:solidFill>
                <a:latin typeface="Calibri"/>
                <a:ea typeface="Microsoft YaHei"/>
                <a:cs typeface="Calibri"/>
              </a:rPr>
              <a:t>↳</a:t>
            </a:r>
          </a:p>
        </p:txBody>
      </p:sp>
      <p:sp>
        <p:nvSpPr>
          <p:cNvPr id="36" name="TextBox 35"/>
          <p:cNvSpPr txBox="1"/>
          <p:nvPr/>
        </p:nvSpPr>
        <p:spPr>
          <a:xfrm>
            <a:off x="1005840" y="4974336"/>
            <a:ext cx="4736592" cy="621792"/>
          </a:xfrm>
          <a:prstGeom prst="rect">
            <a:avLst/>
          </a:prstGeom>
          <a:noFill/>
        </p:spPr>
        <p:txBody>
          <a:bodyPr wrap="square" anchor="t" lIns="0" tIns="0" rIns="0" bIns="0">
            <a:spAutoFit/>
          </a:bodyPr>
          <a:lstStyle/>
          <a:p>
            <a:pPr algn="l">
              <a:lnSpc>
                <a:spcPct val="100000"/>
              </a:lnSpc>
              <a:spcBef>
                <a:spcPts val="0"/>
              </a:spcBef>
              <a:spcAft>
                <a:spcPts val="100"/>
              </a:spcAft>
            </a:pPr>
            <a:r>
              <a:rPr sz="840" b="1" i="0">
                <a:solidFill>
                  <a:srgbClr val="C84B31"/>
                </a:solidFill>
                <a:latin typeface="Georgia"/>
                <a:ea typeface="Microsoft YaHei"/>
                <a:cs typeface="Georgia"/>
              </a:rPr>
              <a:t>whose members had many languages</a:t>
            </a:r>
          </a:p>
          <a:p>
            <a:pPr algn="l">
              <a:lnSpc>
                <a:spcPct val="105000"/>
              </a:lnSpc>
              <a:spcBef>
                <a:spcPts val="0"/>
              </a:spcBef>
              <a:spcAft>
                <a:spcPts val="0"/>
              </a:spcAft>
            </a:pPr>
            <a:r>
              <a:rPr sz="790" b="0" i="0">
                <a:solidFill>
                  <a:srgbClr val="2C3E50"/>
                </a:solidFill>
                <a:latin typeface="Calibri"/>
                <a:ea typeface="Microsoft YaHei"/>
                <a:cs typeface="Calibri"/>
              </a:rPr>
              <a:t>非限制性定语从句 → 修饰 the black opposition；解释“语言繁杂 → 力量薄弱、组织松散”的背景。</a:t>
            </a:r>
          </a:p>
        </p:txBody>
      </p:sp>
      <p:sp>
        <p:nvSpPr>
          <p:cNvPr id="37" name="Rounded Rectangle 36"/>
          <p:cNvSpPr/>
          <p:nvPr/>
        </p:nvSpPr>
        <p:spPr>
          <a:xfrm>
            <a:off x="6199632" y="3794760"/>
            <a:ext cx="5486400" cy="1938528"/>
          </a:xfrm>
          <a:prstGeom prst="roundRect">
            <a:avLst>
              <a:gd name="adj" fmla="val 2500"/>
            </a:avLst>
          </a:prstGeom>
          <a:solidFill>
            <a:srgbClr val="F8ECE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xtBox 37"/>
          <p:cNvSpPr txBox="1"/>
          <p:nvPr/>
        </p:nvSpPr>
        <p:spPr>
          <a:xfrm>
            <a:off x="6391656" y="3904487"/>
            <a:ext cx="5074920" cy="173736"/>
          </a:xfrm>
          <a:prstGeom prst="rect">
            <a:avLst/>
          </a:prstGeom>
          <a:noFill/>
        </p:spPr>
        <p:txBody>
          <a:bodyPr wrap="square" anchor="t" lIns="0" tIns="0" rIns="0" bIns="0">
            <a:spAutoFit/>
          </a:bodyPr>
          <a:lstStyle/>
          <a:p>
            <a:pPr algn="l">
              <a:lnSpc>
                <a:spcPct val="102000"/>
              </a:lnSpc>
              <a:spcBef>
                <a:spcPts val="0"/>
              </a:spcBef>
              <a:spcAft>
                <a:spcPts val="0"/>
              </a:spcAft>
            </a:pPr>
            <a:r>
              <a:rPr sz="869" b="1" i="0">
                <a:solidFill>
                  <a:srgbClr val="C84B31"/>
                </a:solidFill>
                <a:latin typeface="Calibri"/>
                <a:ea typeface="Microsoft YaHei"/>
                <a:cs typeface="Calibri"/>
              </a:rPr>
              <a:t>句法 2  ·  介词 + which / 非限制性定语从句</a:t>
            </a:r>
          </a:p>
        </p:txBody>
      </p:sp>
      <p:sp>
        <p:nvSpPr>
          <p:cNvPr id="39" name="Rounded Rectangle 38"/>
          <p:cNvSpPr/>
          <p:nvPr/>
        </p:nvSpPr>
        <p:spPr>
          <a:xfrm>
            <a:off x="6382512" y="4197096"/>
            <a:ext cx="859536" cy="658368"/>
          </a:xfrm>
          <a:prstGeom prst="roundRect">
            <a:avLst>
              <a:gd name="adj" fmla="val 4000"/>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TextBox 39"/>
          <p:cNvSpPr txBox="1"/>
          <p:nvPr/>
        </p:nvSpPr>
        <p:spPr>
          <a:xfrm>
            <a:off x="6446520" y="4370832"/>
            <a:ext cx="740664" cy="182880"/>
          </a:xfrm>
          <a:prstGeom prst="rect">
            <a:avLst/>
          </a:prstGeom>
          <a:noFill/>
        </p:spPr>
        <p:txBody>
          <a:bodyPr wrap="square" anchor="t" lIns="0" tIns="0" rIns="0" bIns="0">
            <a:spAutoFit/>
          </a:bodyPr>
          <a:lstStyle/>
          <a:p>
            <a:pPr algn="ctr">
              <a:lnSpc>
                <a:spcPct val="102000"/>
              </a:lnSpc>
              <a:spcBef>
                <a:spcPts val="0"/>
              </a:spcBef>
              <a:spcAft>
                <a:spcPts val="0"/>
              </a:spcAft>
            </a:pPr>
            <a:r>
              <a:rPr sz="750" b="1" i="0">
                <a:solidFill>
                  <a:srgbClr val="FFFFFF"/>
                </a:solidFill>
                <a:latin typeface="Calibri"/>
                <a:ea typeface="Microsoft YaHei"/>
                <a:cs typeface="Calibri"/>
              </a:rPr>
              <a:t>the</a:t>
            </a:r>
          </a:p>
          <a:p>
            <a:pPr algn="ctr">
              <a:lnSpc>
                <a:spcPct val="102000"/>
              </a:lnSpc>
              <a:spcBef>
                <a:spcPts val="0"/>
              </a:spcBef>
              <a:spcAft>
                <a:spcPts val="0"/>
              </a:spcAft>
            </a:pPr>
            <a:r>
              <a:rPr sz="750" b="1" i="0">
                <a:solidFill>
                  <a:srgbClr val="FFFFFF"/>
                </a:solidFill>
                <a:latin typeface="Calibri"/>
                <a:ea typeface="Microsoft YaHei"/>
                <a:cs typeface="Calibri"/>
              </a:rPr>
              <a:t>language</a:t>
            </a:r>
          </a:p>
        </p:txBody>
      </p:sp>
      <p:sp>
        <p:nvSpPr>
          <p:cNvPr id="41" name="Right Arrow 40"/>
          <p:cNvSpPr/>
          <p:nvPr/>
        </p:nvSpPr>
        <p:spPr>
          <a:xfrm>
            <a:off x="7296912" y="4434840"/>
            <a:ext cx="182880" cy="155448"/>
          </a:xfrm>
          <a:prstGeom prst="rightArrow">
            <a:avLst/>
          </a:prstGeom>
          <a:solidFill>
            <a:srgbClr val="C84B3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Rounded Rectangle 41"/>
          <p:cNvSpPr/>
          <p:nvPr/>
        </p:nvSpPr>
        <p:spPr>
          <a:xfrm>
            <a:off x="7552944" y="4169663"/>
            <a:ext cx="2487168" cy="713232"/>
          </a:xfrm>
          <a:prstGeom prst="roundRect">
            <a:avLst>
              <a:gd name="adj" fmla="val 4000"/>
            </a:avLst>
          </a:prstGeom>
          <a:solidFill>
            <a:srgbClr val="FFFFFF"/>
          </a:solidFill>
          <a:ln w="10160">
            <a:solidFill>
              <a:srgbClr val="C84B31"/>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3" name="TextBox 42"/>
          <p:cNvSpPr txBox="1"/>
          <p:nvPr/>
        </p:nvSpPr>
        <p:spPr>
          <a:xfrm>
            <a:off x="7644383" y="4233672"/>
            <a:ext cx="2304288" cy="146304"/>
          </a:xfrm>
          <a:prstGeom prst="rect">
            <a:avLst/>
          </a:prstGeom>
          <a:noFill/>
        </p:spPr>
        <p:txBody>
          <a:bodyPr wrap="square" anchor="t" lIns="0" tIns="0" rIns="0" bIns="0">
            <a:spAutoFit/>
          </a:bodyPr>
          <a:lstStyle/>
          <a:p>
            <a:pPr algn="l">
              <a:lnSpc>
                <a:spcPct val="102000"/>
              </a:lnSpc>
              <a:spcBef>
                <a:spcPts val="0"/>
              </a:spcBef>
              <a:spcAft>
                <a:spcPts val="0"/>
              </a:spcAft>
            </a:pPr>
            <a:r>
              <a:rPr sz="790" b="1" i="0">
                <a:solidFill>
                  <a:srgbClr val="C84B31"/>
                </a:solidFill>
                <a:latin typeface="Georgia"/>
                <a:ea typeface="Microsoft YaHei"/>
                <a:cs typeface="Georgia"/>
              </a:rPr>
              <a:t>through which ...</a:t>
            </a:r>
          </a:p>
        </p:txBody>
      </p:sp>
      <p:sp>
        <p:nvSpPr>
          <p:cNvPr id="44" name="TextBox 43"/>
          <p:cNvSpPr txBox="1"/>
          <p:nvPr/>
        </p:nvSpPr>
        <p:spPr>
          <a:xfrm>
            <a:off x="7644383" y="4434840"/>
            <a:ext cx="2304288" cy="329184"/>
          </a:xfrm>
          <a:prstGeom prst="rect">
            <a:avLst/>
          </a:prstGeom>
          <a:noFill/>
        </p:spPr>
        <p:txBody>
          <a:bodyPr wrap="square" anchor="t" lIns="0" tIns="0" rIns="0" bIns="0">
            <a:spAutoFit/>
          </a:bodyPr>
          <a:lstStyle/>
          <a:p>
            <a:pPr algn="l">
              <a:lnSpc>
                <a:spcPct val="102000"/>
              </a:lnSpc>
              <a:spcBef>
                <a:spcPts val="0"/>
              </a:spcBef>
              <a:spcAft>
                <a:spcPts val="0"/>
              </a:spcAft>
            </a:pPr>
            <a:r>
              <a:rPr sz="710" b="0" i="0">
                <a:solidFill>
                  <a:srgbClr val="2C3E50"/>
                </a:solidFill>
                <a:latin typeface="Calibri"/>
                <a:ea typeface="Microsoft YaHei"/>
                <a:cs typeface="Calibri"/>
              </a:rPr>
              <a:t>this opposition gained</a:t>
            </a:r>
          </a:p>
          <a:p>
            <a:pPr algn="l">
              <a:lnSpc>
                <a:spcPct val="102000"/>
              </a:lnSpc>
              <a:spcBef>
                <a:spcPts val="0"/>
              </a:spcBef>
              <a:spcAft>
                <a:spcPts val="0"/>
              </a:spcAft>
            </a:pPr>
            <a:r>
              <a:rPr sz="710" b="0" i="0">
                <a:solidFill>
                  <a:srgbClr val="2C3E50"/>
                </a:solidFill>
                <a:latin typeface="Calibri"/>
                <a:ea typeface="Microsoft YaHei"/>
                <a:cs typeface="Calibri"/>
              </a:rPr>
              <a:t>strength and organization</a:t>
            </a:r>
          </a:p>
        </p:txBody>
      </p:sp>
      <p:sp>
        <p:nvSpPr>
          <p:cNvPr id="45" name="Right Arrow 44"/>
          <p:cNvSpPr/>
          <p:nvPr/>
        </p:nvSpPr>
        <p:spPr>
          <a:xfrm>
            <a:off x="10085832" y="4434840"/>
            <a:ext cx="201168" cy="155448"/>
          </a:xfrm>
          <a:prstGeom prst="rightArrow">
            <a:avLst/>
          </a:prstGeom>
          <a:solidFill>
            <a:srgbClr val="C84B3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Rounded Rectangle 45"/>
          <p:cNvSpPr/>
          <p:nvPr/>
        </p:nvSpPr>
        <p:spPr>
          <a:xfrm>
            <a:off x="10351008" y="4197096"/>
            <a:ext cx="1060704" cy="658368"/>
          </a:xfrm>
          <a:prstGeom prst="roundRect">
            <a:avLst>
              <a:gd name="adj" fmla="val 4000"/>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xtBox 46"/>
          <p:cNvSpPr txBox="1"/>
          <p:nvPr/>
        </p:nvSpPr>
        <p:spPr>
          <a:xfrm>
            <a:off x="10378440" y="4379976"/>
            <a:ext cx="1005840" cy="182880"/>
          </a:xfrm>
          <a:prstGeom prst="rect">
            <a:avLst/>
          </a:prstGeom>
          <a:noFill/>
        </p:spPr>
        <p:txBody>
          <a:bodyPr wrap="square" anchor="t" lIns="0" tIns="0" rIns="0" bIns="0">
            <a:spAutoFit/>
          </a:bodyPr>
          <a:lstStyle/>
          <a:p>
            <a:pPr algn="ctr">
              <a:lnSpc>
                <a:spcPct val="102000"/>
              </a:lnSpc>
              <a:spcBef>
                <a:spcPts val="0"/>
              </a:spcBef>
              <a:spcAft>
                <a:spcPts val="0"/>
              </a:spcAft>
            </a:pPr>
            <a:r>
              <a:rPr sz="760" b="1" i="0">
                <a:solidFill>
                  <a:srgbClr val="FFFFFF"/>
                </a:solidFill>
                <a:latin typeface="Georgia"/>
                <a:ea typeface="Microsoft YaHei"/>
                <a:cs typeface="Georgia"/>
              </a:rPr>
              <a:t>was English</a:t>
            </a:r>
          </a:p>
        </p:txBody>
      </p:sp>
      <p:sp>
        <p:nvSpPr>
          <p:cNvPr id="48" name="Rounded Rectangle 47"/>
          <p:cNvSpPr/>
          <p:nvPr/>
        </p:nvSpPr>
        <p:spPr>
          <a:xfrm>
            <a:off x="6382512" y="5038344"/>
            <a:ext cx="5074920" cy="548640"/>
          </a:xfrm>
          <a:prstGeom prst="roundRect">
            <a:avLst>
              <a:gd name="adj" fmla="val 4000"/>
            </a:avLst>
          </a:prstGeom>
          <a:solidFill>
            <a:srgbClr val="FFFFFF">
              <a:alpha val="80000"/>
            </a:srgbClr>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9" name="TextBox 48"/>
          <p:cNvSpPr txBox="1"/>
          <p:nvPr/>
        </p:nvSpPr>
        <p:spPr>
          <a:xfrm>
            <a:off x="6510528" y="5093208"/>
            <a:ext cx="4800600" cy="164592"/>
          </a:xfrm>
          <a:prstGeom prst="rect">
            <a:avLst/>
          </a:prstGeom>
          <a:noFill/>
        </p:spPr>
        <p:txBody>
          <a:bodyPr wrap="square" anchor="t" lIns="0" tIns="0" rIns="0" bIns="0">
            <a:spAutoFit/>
          </a:bodyPr>
          <a:lstStyle/>
          <a:p>
            <a:pPr algn="l">
              <a:lnSpc>
                <a:spcPct val="102000"/>
              </a:lnSpc>
              <a:spcBef>
                <a:spcPts val="0"/>
              </a:spcBef>
              <a:spcAft>
                <a:spcPts val="0"/>
              </a:spcAft>
            </a:pPr>
            <a:r>
              <a:rPr sz="770" b="1" i="0">
                <a:solidFill>
                  <a:srgbClr val="1B365D"/>
                </a:solidFill>
                <a:latin typeface="Georgia"/>
                <a:ea typeface="Microsoft YaHei"/>
                <a:cs typeface="Georgia"/>
              </a:rPr>
              <a:t>which became for them the key language of freedom and unity, not of oppression.</a:t>
            </a:r>
          </a:p>
        </p:txBody>
      </p:sp>
      <p:sp>
        <p:nvSpPr>
          <p:cNvPr id="50" name="TextBox 49"/>
          <p:cNvSpPr txBox="1"/>
          <p:nvPr/>
        </p:nvSpPr>
        <p:spPr>
          <a:xfrm>
            <a:off x="6510528" y="5285232"/>
            <a:ext cx="4800600" cy="146304"/>
          </a:xfrm>
          <a:prstGeom prst="rect">
            <a:avLst/>
          </a:prstGeom>
          <a:noFill/>
        </p:spPr>
        <p:txBody>
          <a:bodyPr wrap="square" anchor="t" lIns="0" tIns="0" rIns="0" bIns="0">
            <a:spAutoFit/>
          </a:bodyPr>
          <a:lstStyle/>
          <a:p>
            <a:pPr algn="l">
              <a:lnSpc>
                <a:spcPct val="102000"/>
              </a:lnSpc>
              <a:spcBef>
                <a:spcPts val="0"/>
              </a:spcBef>
              <a:spcAft>
                <a:spcPts val="0"/>
              </a:spcAft>
            </a:pPr>
            <a:r>
              <a:rPr sz="760" b="0" i="0">
                <a:solidFill>
                  <a:srgbClr val="2C3E50"/>
                </a:solidFill>
                <a:latin typeface="Calibri"/>
                <a:ea typeface="Microsoft YaHei"/>
                <a:cs typeface="Calibri"/>
              </a:rPr>
              <a:t>非限制性定语从句 → 补充说明并升华 English 的历史意义。</a:t>
            </a:r>
          </a:p>
        </p:txBody>
      </p:sp>
      <p:sp>
        <p:nvSpPr>
          <p:cNvPr id="51" name="Rounded Rectangle 50"/>
          <p:cNvSpPr/>
          <p:nvPr/>
        </p:nvSpPr>
        <p:spPr>
          <a:xfrm>
            <a:off x="502920" y="5870448"/>
            <a:ext cx="3611880" cy="420624"/>
          </a:xfrm>
          <a:prstGeom prst="roundRect">
            <a:avLst>
              <a:gd name="adj" fmla="val 22000"/>
            </a:avLst>
          </a:prstGeom>
          <a:solidFill>
            <a:srgbClr val="FFFDF9"/>
          </a:solidFill>
          <a:ln w="10160">
            <a:solidFill>
              <a:srgbClr val="DFD7CB"/>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TextBox 51"/>
          <p:cNvSpPr txBox="1"/>
          <p:nvPr/>
        </p:nvSpPr>
        <p:spPr>
          <a:xfrm>
            <a:off x="704088" y="5957316"/>
            <a:ext cx="1417320" cy="137160"/>
          </a:xfrm>
          <a:prstGeom prst="rect">
            <a:avLst/>
          </a:prstGeom>
          <a:noFill/>
        </p:spPr>
        <p:txBody>
          <a:bodyPr wrap="square" anchor="t" lIns="0" tIns="0" rIns="0" bIns="0">
            <a:spAutoFit/>
          </a:bodyPr>
          <a:lstStyle/>
          <a:p>
            <a:pPr algn="l">
              <a:lnSpc>
                <a:spcPct val="102000"/>
              </a:lnSpc>
              <a:spcBef>
                <a:spcPts val="0"/>
              </a:spcBef>
              <a:spcAft>
                <a:spcPts val="0"/>
              </a:spcAft>
            </a:pPr>
            <a:r>
              <a:rPr sz="880" b="1" i="0">
                <a:solidFill>
                  <a:srgbClr val="1B365D"/>
                </a:solidFill>
                <a:latin typeface="Georgia"/>
                <a:ea typeface="Microsoft YaHei"/>
                <a:cs typeface="Georgia"/>
              </a:rPr>
              <a:t>apartheid regime</a:t>
            </a:r>
          </a:p>
        </p:txBody>
      </p:sp>
      <p:sp>
        <p:nvSpPr>
          <p:cNvPr id="53" name="TextBox 52"/>
          <p:cNvSpPr txBox="1"/>
          <p:nvPr/>
        </p:nvSpPr>
        <p:spPr>
          <a:xfrm>
            <a:off x="2057400" y="5971032"/>
            <a:ext cx="1874519" cy="128016"/>
          </a:xfrm>
          <a:prstGeom prst="rect">
            <a:avLst/>
          </a:prstGeom>
          <a:noFill/>
        </p:spPr>
        <p:txBody>
          <a:bodyPr wrap="square" anchor="t" lIns="0" tIns="0" rIns="0" bIns="0">
            <a:spAutoFit/>
          </a:bodyPr>
          <a:lstStyle/>
          <a:p>
            <a:pPr algn="r">
              <a:lnSpc>
                <a:spcPct val="102000"/>
              </a:lnSpc>
              <a:spcBef>
                <a:spcPts val="0"/>
              </a:spcBef>
              <a:spcAft>
                <a:spcPts val="0"/>
              </a:spcAft>
            </a:pPr>
            <a:r>
              <a:rPr sz="770" b="0" i="0">
                <a:solidFill>
                  <a:srgbClr val="2C3E50"/>
                </a:solidFill>
                <a:latin typeface="Calibri"/>
                <a:ea typeface="Microsoft YaHei"/>
                <a:cs typeface="Calibri"/>
              </a:rPr>
              <a:t>种族隔离政权</a:t>
            </a:r>
          </a:p>
        </p:txBody>
      </p:sp>
      <p:sp>
        <p:nvSpPr>
          <p:cNvPr id="54" name="Rounded Rectangle 53"/>
          <p:cNvSpPr/>
          <p:nvPr/>
        </p:nvSpPr>
        <p:spPr>
          <a:xfrm>
            <a:off x="4315968" y="5870448"/>
            <a:ext cx="3611880" cy="420624"/>
          </a:xfrm>
          <a:prstGeom prst="roundRect">
            <a:avLst>
              <a:gd name="adj" fmla="val 22000"/>
            </a:avLst>
          </a:prstGeom>
          <a:solidFill>
            <a:srgbClr val="FFFDF9"/>
          </a:solidFill>
          <a:ln w="10160">
            <a:solidFill>
              <a:srgbClr val="DFD7CB"/>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5" name="TextBox 54"/>
          <p:cNvSpPr txBox="1"/>
          <p:nvPr/>
        </p:nvSpPr>
        <p:spPr>
          <a:xfrm>
            <a:off x="4517136" y="5957316"/>
            <a:ext cx="1417320" cy="137160"/>
          </a:xfrm>
          <a:prstGeom prst="rect">
            <a:avLst/>
          </a:prstGeom>
          <a:noFill/>
        </p:spPr>
        <p:txBody>
          <a:bodyPr wrap="square" anchor="t" lIns="0" tIns="0" rIns="0" bIns="0">
            <a:spAutoFit/>
          </a:bodyPr>
          <a:lstStyle/>
          <a:p>
            <a:pPr algn="l">
              <a:lnSpc>
                <a:spcPct val="102000"/>
              </a:lnSpc>
              <a:spcBef>
                <a:spcPts val="0"/>
              </a:spcBef>
              <a:spcAft>
                <a:spcPts val="0"/>
              </a:spcAft>
            </a:pPr>
            <a:r>
              <a:rPr sz="880" b="1" i="0">
                <a:solidFill>
                  <a:srgbClr val="1B365D"/>
                </a:solidFill>
                <a:latin typeface="Georgia"/>
                <a:ea typeface="Microsoft YaHei"/>
                <a:cs typeface="Georgia"/>
              </a:rPr>
              <a:t>opposition</a:t>
            </a:r>
          </a:p>
        </p:txBody>
      </p:sp>
      <p:sp>
        <p:nvSpPr>
          <p:cNvPr id="56" name="TextBox 55"/>
          <p:cNvSpPr txBox="1"/>
          <p:nvPr/>
        </p:nvSpPr>
        <p:spPr>
          <a:xfrm>
            <a:off x="5870448" y="5971032"/>
            <a:ext cx="1874519" cy="128016"/>
          </a:xfrm>
          <a:prstGeom prst="rect">
            <a:avLst/>
          </a:prstGeom>
          <a:noFill/>
        </p:spPr>
        <p:txBody>
          <a:bodyPr wrap="square" anchor="t" lIns="0" tIns="0" rIns="0" bIns="0">
            <a:spAutoFit/>
          </a:bodyPr>
          <a:lstStyle/>
          <a:p>
            <a:pPr algn="r">
              <a:lnSpc>
                <a:spcPct val="102000"/>
              </a:lnSpc>
              <a:spcBef>
                <a:spcPts val="0"/>
              </a:spcBef>
              <a:spcAft>
                <a:spcPts val="0"/>
              </a:spcAft>
            </a:pPr>
            <a:r>
              <a:rPr sz="770" b="0" i="0">
                <a:solidFill>
                  <a:srgbClr val="2C3E50"/>
                </a:solidFill>
                <a:latin typeface="Calibri"/>
                <a:ea typeface="Microsoft YaHei"/>
                <a:cs typeface="Calibri"/>
              </a:rPr>
              <a:t>反对派</a:t>
            </a:r>
          </a:p>
        </p:txBody>
      </p:sp>
      <p:sp>
        <p:nvSpPr>
          <p:cNvPr id="57" name="Rounded Rectangle 56"/>
          <p:cNvSpPr/>
          <p:nvPr/>
        </p:nvSpPr>
        <p:spPr>
          <a:xfrm>
            <a:off x="8129016" y="5870448"/>
            <a:ext cx="3611880" cy="420624"/>
          </a:xfrm>
          <a:prstGeom prst="roundRect">
            <a:avLst>
              <a:gd name="adj" fmla="val 22000"/>
            </a:avLst>
          </a:prstGeom>
          <a:solidFill>
            <a:srgbClr val="FFFDF9"/>
          </a:solidFill>
          <a:ln w="10160">
            <a:solidFill>
              <a:srgbClr val="DFD7CB"/>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TextBox 57"/>
          <p:cNvSpPr txBox="1"/>
          <p:nvPr/>
        </p:nvSpPr>
        <p:spPr>
          <a:xfrm>
            <a:off x="8330184" y="5957316"/>
            <a:ext cx="1417320" cy="137160"/>
          </a:xfrm>
          <a:prstGeom prst="rect">
            <a:avLst/>
          </a:prstGeom>
          <a:noFill/>
        </p:spPr>
        <p:txBody>
          <a:bodyPr wrap="square" anchor="t" lIns="0" tIns="0" rIns="0" bIns="0">
            <a:spAutoFit/>
          </a:bodyPr>
          <a:lstStyle/>
          <a:p>
            <a:pPr algn="l">
              <a:lnSpc>
                <a:spcPct val="102000"/>
              </a:lnSpc>
              <a:spcBef>
                <a:spcPts val="0"/>
              </a:spcBef>
              <a:spcAft>
                <a:spcPts val="0"/>
              </a:spcAft>
            </a:pPr>
            <a:r>
              <a:rPr sz="880" b="1" i="0">
                <a:solidFill>
                  <a:srgbClr val="1B365D"/>
                </a:solidFill>
                <a:latin typeface="Georgia"/>
                <a:ea typeface="Microsoft YaHei"/>
                <a:cs typeface="Georgia"/>
              </a:rPr>
              <a:t>disorganized</a:t>
            </a:r>
          </a:p>
        </p:txBody>
      </p:sp>
      <p:sp>
        <p:nvSpPr>
          <p:cNvPr id="59" name="TextBox 58"/>
          <p:cNvSpPr txBox="1"/>
          <p:nvPr/>
        </p:nvSpPr>
        <p:spPr>
          <a:xfrm>
            <a:off x="9683496" y="5971032"/>
            <a:ext cx="1874519" cy="128016"/>
          </a:xfrm>
          <a:prstGeom prst="rect">
            <a:avLst/>
          </a:prstGeom>
          <a:noFill/>
        </p:spPr>
        <p:txBody>
          <a:bodyPr wrap="square" anchor="t" lIns="0" tIns="0" rIns="0" bIns="0">
            <a:spAutoFit/>
          </a:bodyPr>
          <a:lstStyle/>
          <a:p>
            <a:pPr algn="r">
              <a:lnSpc>
                <a:spcPct val="102000"/>
              </a:lnSpc>
              <a:spcBef>
                <a:spcPts val="0"/>
              </a:spcBef>
              <a:spcAft>
                <a:spcPts val="0"/>
              </a:spcAft>
            </a:pPr>
            <a:r>
              <a:rPr sz="770" b="0" i="0">
                <a:solidFill>
                  <a:srgbClr val="2C3E50"/>
                </a:solidFill>
                <a:latin typeface="Calibri"/>
                <a:ea typeface="Microsoft YaHei"/>
                <a:cs typeface="Calibri"/>
              </a:rPr>
              <a:t>缺乏组织的；一盘散沙的</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8F5"/>
        </a:solidFill>
        <a:effectLst/>
      </p:bgPr>
    </p:bg>
    <p:spTree>
      <p:nvGrpSpPr>
        <p:cNvPr id="1" name=""/>
        <p:cNvGrpSpPr/>
        <p:nvPr/>
      </p:nvGrpSpPr>
      <p:grpSpPr/>
      <p:sp>
        <p:nvSpPr>
          <p:cNvPr id="2" name="Rectangle 1"/>
          <p:cNvSpPr/>
          <p:nvPr/>
        </p:nvSpPr>
        <p:spPr>
          <a:xfrm>
            <a:off x="0" y="0"/>
            <a:ext cx="12191695" cy="402336"/>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Rectangle 2"/>
          <p:cNvSpPr/>
          <p:nvPr/>
        </p:nvSpPr>
        <p:spPr>
          <a:xfrm>
            <a:off x="502920" y="137160"/>
            <a:ext cx="77724" cy="128016"/>
          </a:xfrm>
          <a:prstGeom prst="rect">
            <a:avLst/>
          </a:prstGeom>
          <a:solidFill>
            <a:srgbClr val="C84B3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extBox 3"/>
          <p:cNvSpPr txBox="1"/>
          <p:nvPr/>
        </p:nvSpPr>
        <p:spPr>
          <a:xfrm>
            <a:off x="685800" y="123444"/>
            <a:ext cx="6400800" cy="164592"/>
          </a:xfrm>
          <a:prstGeom prst="rect">
            <a:avLst/>
          </a:prstGeom>
          <a:noFill/>
        </p:spPr>
        <p:txBody>
          <a:bodyPr wrap="square" anchor="t" lIns="0" tIns="0" rIns="0" bIns="0">
            <a:spAutoFit/>
          </a:bodyPr>
          <a:lstStyle/>
          <a:p>
            <a:pPr algn="l">
              <a:lnSpc>
                <a:spcPct val="102000"/>
              </a:lnSpc>
              <a:spcBef>
                <a:spcPts val="0"/>
              </a:spcBef>
              <a:spcAft>
                <a:spcPts val="0"/>
              </a:spcAft>
            </a:pPr>
            <a:r>
              <a:rPr sz="780" b="1" i="0" spc="110">
                <a:solidFill>
                  <a:srgbClr val="FFFFFF"/>
                </a:solidFill>
                <a:latin typeface="Calibri"/>
                <a:ea typeface="Microsoft YaHei"/>
                <a:cs typeface="Calibri"/>
              </a:rPr>
              <a:t>LANGUAGE &amp; CULTURE   /   PARAGRAPHS 7–8</a:t>
            </a:r>
          </a:p>
        </p:txBody>
      </p:sp>
      <p:sp>
        <p:nvSpPr>
          <p:cNvPr id="5" name="Rectangle 4"/>
          <p:cNvSpPr/>
          <p:nvPr/>
        </p:nvSpPr>
        <p:spPr>
          <a:xfrm>
            <a:off x="9710928" y="185623"/>
            <a:ext cx="96012" cy="31089"/>
          </a:xfrm>
          <a:prstGeom prst="rect">
            <a:avLst/>
          </a:prstGeom>
          <a:solidFill>
            <a:srgbClr val="6C7F9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Rectangle 5"/>
          <p:cNvSpPr/>
          <p:nvPr/>
        </p:nvSpPr>
        <p:spPr>
          <a:xfrm>
            <a:off x="9852659" y="185623"/>
            <a:ext cx="96012" cy="31089"/>
          </a:xfrm>
          <a:prstGeom prst="rect">
            <a:avLst/>
          </a:prstGeom>
          <a:solidFill>
            <a:srgbClr val="6C7F9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 name="Rectangle 6"/>
          <p:cNvSpPr/>
          <p:nvPr/>
        </p:nvSpPr>
        <p:spPr>
          <a:xfrm>
            <a:off x="9994392" y="185623"/>
            <a:ext cx="96012" cy="31089"/>
          </a:xfrm>
          <a:prstGeom prst="rect">
            <a:avLst/>
          </a:prstGeom>
          <a:solidFill>
            <a:srgbClr val="6C7F9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ectangle 7"/>
          <p:cNvSpPr/>
          <p:nvPr/>
        </p:nvSpPr>
        <p:spPr>
          <a:xfrm>
            <a:off x="10136124" y="185623"/>
            <a:ext cx="96012" cy="31089"/>
          </a:xfrm>
          <a:prstGeom prst="rect">
            <a:avLst/>
          </a:prstGeom>
          <a:solidFill>
            <a:srgbClr val="6C7F9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ectangle 8"/>
          <p:cNvSpPr/>
          <p:nvPr/>
        </p:nvSpPr>
        <p:spPr>
          <a:xfrm>
            <a:off x="10277855" y="185623"/>
            <a:ext cx="96012" cy="31089"/>
          </a:xfrm>
          <a:prstGeom prst="rect">
            <a:avLst/>
          </a:prstGeom>
          <a:solidFill>
            <a:srgbClr val="6C7F9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Rectangle 9"/>
          <p:cNvSpPr/>
          <p:nvPr/>
        </p:nvSpPr>
        <p:spPr>
          <a:xfrm>
            <a:off x="10419588" y="185623"/>
            <a:ext cx="96012" cy="31089"/>
          </a:xfrm>
          <a:prstGeom prst="rect">
            <a:avLst/>
          </a:prstGeom>
          <a:solidFill>
            <a:srgbClr val="C84B3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ectangle 10"/>
          <p:cNvSpPr/>
          <p:nvPr/>
        </p:nvSpPr>
        <p:spPr>
          <a:xfrm>
            <a:off x="10561319" y="185623"/>
            <a:ext cx="96012" cy="31089"/>
          </a:xfrm>
          <a:prstGeom prst="rect">
            <a:avLst/>
          </a:prstGeom>
          <a:solidFill>
            <a:srgbClr val="6C7F9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Rectangle 11"/>
          <p:cNvSpPr/>
          <p:nvPr/>
        </p:nvSpPr>
        <p:spPr>
          <a:xfrm>
            <a:off x="10703051" y="185623"/>
            <a:ext cx="96012" cy="31089"/>
          </a:xfrm>
          <a:prstGeom prst="rect">
            <a:avLst/>
          </a:prstGeom>
          <a:solidFill>
            <a:srgbClr val="6C7F9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TextBox 12"/>
          <p:cNvSpPr txBox="1"/>
          <p:nvPr/>
        </p:nvSpPr>
        <p:spPr>
          <a:xfrm>
            <a:off x="10917936" y="118872"/>
            <a:ext cx="777240" cy="164592"/>
          </a:xfrm>
          <a:prstGeom prst="rect">
            <a:avLst/>
          </a:prstGeom>
          <a:noFill/>
        </p:spPr>
        <p:txBody>
          <a:bodyPr wrap="square" anchor="t" lIns="0" tIns="0" rIns="0" bIns="0">
            <a:spAutoFit/>
          </a:bodyPr>
          <a:lstStyle/>
          <a:p>
            <a:pPr algn="r">
              <a:lnSpc>
                <a:spcPct val="102000"/>
              </a:lnSpc>
              <a:spcBef>
                <a:spcPts val="0"/>
              </a:spcBef>
              <a:spcAft>
                <a:spcPts val="0"/>
              </a:spcAft>
            </a:pPr>
            <a:r>
              <a:rPr sz="760" b="1" i="0" spc="50">
                <a:solidFill>
                  <a:srgbClr val="FFFFFF"/>
                </a:solidFill>
                <a:latin typeface="Calibri"/>
                <a:ea typeface="Microsoft YaHei"/>
                <a:cs typeface="Calibri"/>
              </a:rPr>
              <a:t>06 / 08</a:t>
            </a:r>
          </a:p>
        </p:txBody>
      </p:sp>
      <p:sp>
        <p:nvSpPr>
          <p:cNvPr id="14" name="TextBox 13"/>
          <p:cNvSpPr txBox="1"/>
          <p:nvPr/>
        </p:nvSpPr>
        <p:spPr>
          <a:xfrm>
            <a:off x="502920" y="576072"/>
            <a:ext cx="10972800" cy="438912"/>
          </a:xfrm>
          <a:prstGeom prst="rect">
            <a:avLst/>
          </a:prstGeom>
          <a:noFill/>
        </p:spPr>
        <p:txBody>
          <a:bodyPr wrap="square" anchor="t" lIns="0" tIns="0" rIns="0" bIns="0">
            <a:spAutoFit/>
          </a:bodyPr>
          <a:lstStyle/>
          <a:p>
            <a:pPr algn="l">
              <a:lnSpc>
                <a:spcPct val="102000"/>
              </a:lnSpc>
              <a:spcBef>
                <a:spcPts val="0"/>
              </a:spcBef>
              <a:spcAft>
                <a:spcPts val="0"/>
              </a:spcAft>
            </a:pPr>
            <a:r>
              <a:rPr sz="2350" b="1" i="0">
                <a:solidFill>
                  <a:srgbClr val="1B365D"/>
                </a:solidFill>
                <a:latin typeface="Georgia"/>
                <a:ea typeface="Microsoft YaHei"/>
                <a:cs typeface="Georgia"/>
              </a:rPr>
              <a:t>第7段精讲（四）｜官方语言与全国通用语选择</a:t>
            </a:r>
          </a:p>
        </p:txBody>
      </p:sp>
      <p:sp>
        <p:nvSpPr>
          <p:cNvPr id="15" name="TextBox 14"/>
          <p:cNvSpPr txBox="1"/>
          <p:nvPr/>
        </p:nvSpPr>
        <p:spPr>
          <a:xfrm>
            <a:off x="502920" y="1042415"/>
            <a:ext cx="10789920" cy="173736"/>
          </a:xfrm>
          <a:prstGeom prst="rect">
            <a:avLst/>
          </a:prstGeom>
          <a:noFill/>
        </p:spPr>
        <p:txBody>
          <a:bodyPr wrap="square" anchor="t" lIns="0" tIns="0" rIns="0" bIns="0">
            <a:spAutoFit/>
          </a:bodyPr>
          <a:lstStyle/>
          <a:p>
            <a:pPr algn="l">
              <a:lnSpc>
                <a:spcPct val="102000"/>
              </a:lnSpc>
              <a:spcBef>
                <a:spcPts val="0"/>
              </a:spcBef>
              <a:spcAft>
                <a:spcPts val="0"/>
              </a:spcAft>
            </a:pPr>
            <a:r>
              <a:rPr sz="780" b="1" i="0" spc="110">
                <a:solidFill>
                  <a:srgbClr val="707984"/>
                </a:solidFill>
                <a:latin typeface="Calibri"/>
                <a:ea typeface="Microsoft YaHei"/>
                <a:cs typeface="Calibri"/>
              </a:rPr>
              <a:t>PARAGRAPH 7  ·  ELEVEN LANGUAGES, ONE CHOSEN LINGUA FRANCA</a:t>
            </a:r>
          </a:p>
        </p:txBody>
      </p:sp>
      <p:sp>
        <p:nvSpPr>
          <p:cNvPr id="16" name="Rectangle 15"/>
          <p:cNvSpPr/>
          <p:nvPr/>
        </p:nvSpPr>
        <p:spPr>
          <a:xfrm>
            <a:off x="502920" y="1243584"/>
            <a:ext cx="987552" cy="32004"/>
          </a:xfrm>
          <a:prstGeom prst="rect">
            <a:avLst/>
          </a:prstGeom>
          <a:solidFill>
            <a:srgbClr val="C84B3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7" name="Picture 16" descr="由书本与文字搭成的桥梁连接非洲社群"/>
          <p:cNvPicPr>
            <a:picLocks noChangeAspect="1"/>
          </p:cNvPicPr>
          <p:nvPr/>
        </p:nvPicPr>
        <p:blipFill>
          <a:blip r:embed="rId2"/>
          <a:stretch>
            <a:fillRect/>
          </a:stretch>
        </p:blipFill>
        <p:spPr>
          <a:xfrm>
            <a:off x="502920" y="1389888"/>
            <a:ext cx="4005072" cy="2249424"/>
          </a:xfrm>
          <a:prstGeom prst="rect">
            <a:avLst/>
          </a:prstGeom>
          <a:ln w="10160">
            <a:solidFill>
              <a:srgbClr val="DFD7CB"/>
            </a:solidFill>
          </a:ln>
        </p:spPr>
      </p:pic>
      <p:sp>
        <p:nvSpPr>
          <p:cNvPr id="18" name="Rectangle 17"/>
          <p:cNvSpPr/>
          <p:nvPr/>
        </p:nvSpPr>
        <p:spPr>
          <a:xfrm>
            <a:off x="502920" y="3319272"/>
            <a:ext cx="4005072" cy="320040"/>
          </a:xfrm>
          <a:prstGeom prst="rect">
            <a:avLst/>
          </a:prstGeom>
          <a:solidFill>
            <a:srgbClr val="1B365D">
              <a:alpha val="88000"/>
            </a:srgbClr>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TextBox 18"/>
          <p:cNvSpPr txBox="1"/>
          <p:nvPr/>
        </p:nvSpPr>
        <p:spPr>
          <a:xfrm>
            <a:off x="640080" y="3396996"/>
            <a:ext cx="3730752" cy="128016"/>
          </a:xfrm>
          <a:prstGeom prst="rect">
            <a:avLst/>
          </a:prstGeom>
          <a:noFill/>
        </p:spPr>
        <p:txBody>
          <a:bodyPr wrap="square" anchor="t" lIns="0" tIns="0" rIns="0" bIns="0">
            <a:spAutoFit/>
          </a:bodyPr>
          <a:lstStyle/>
          <a:p>
            <a:pPr algn="ctr">
              <a:lnSpc>
                <a:spcPct val="102000"/>
              </a:lnSpc>
              <a:spcBef>
                <a:spcPts val="0"/>
              </a:spcBef>
              <a:spcAft>
                <a:spcPts val="0"/>
              </a:spcAft>
            </a:pPr>
            <a:r>
              <a:rPr sz="660" b="1" i="0" spc="80">
                <a:solidFill>
                  <a:srgbClr val="FFFFFF"/>
                </a:solidFill>
                <a:latin typeface="Calibri"/>
                <a:ea typeface="Microsoft YaHei"/>
                <a:cs typeface="Calibri"/>
              </a:rPr>
              <a:t>A BRIDGE ACROSS COMMUNITIES</a:t>
            </a:r>
          </a:p>
        </p:txBody>
      </p:sp>
      <p:sp>
        <p:nvSpPr>
          <p:cNvPr id="20" name="Rounded Rectangle 19"/>
          <p:cNvSpPr/>
          <p:nvPr/>
        </p:nvSpPr>
        <p:spPr>
          <a:xfrm>
            <a:off x="502920" y="3758184"/>
            <a:ext cx="4005072" cy="1024128"/>
          </a:xfrm>
          <a:prstGeom prst="roundRect">
            <a:avLst>
              <a:gd name="adj" fmla="val 3000"/>
            </a:avLst>
          </a:prstGeom>
          <a:solidFill>
            <a:srgbClr val="1B365D"/>
          </a:solidFill>
          <a:ln>
            <a:noFill/>
          </a:ln>
          <a:effectLst>
            <a:outerShdw blurRad="152400" dist="38100" dir="5400000" algn="ctr" rotWithShape="0">
              <a:srgbClr val="1B365D">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xtBox 20"/>
          <p:cNvSpPr txBox="1"/>
          <p:nvPr/>
        </p:nvSpPr>
        <p:spPr>
          <a:xfrm>
            <a:off x="713232" y="3886200"/>
            <a:ext cx="749808" cy="493776"/>
          </a:xfrm>
          <a:prstGeom prst="rect">
            <a:avLst/>
          </a:prstGeom>
          <a:noFill/>
        </p:spPr>
        <p:txBody>
          <a:bodyPr wrap="square" anchor="t" lIns="0" tIns="0" rIns="0" bIns="0">
            <a:spAutoFit/>
          </a:bodyPr>
          <a:lstStyle/>
          <a:p>
            <a:pPr algn="l">
              <a:lnSpc>
                <a:spcPct val="102000"/>
              </a:lnSpc>
              <a:spcBef>
                <a:spcPts val="0"/>
              </a:spcBef>
              <a:spcAft>
                <a:spcPts val="0"/>
              </a:spcAft>
            </a:pPr>
            <a:r>
              <a:rPr sz="3100" b="1" i="0">
                <a:solidFill>
                  <a:srgbClr val="FFFFFF"/>
                </a:solidFill>
                <a:latin typeface="Georgia"/>
                <a:ea typeface="Microsoft YaHei"/>
                <a:cs typeface="Georgia"/>
              </a:rPr>
              <a:t>11</a:t>
            </a:r>
          </a:p>
        </p:txBody>
      </p:sp>
      <p:sp>
        <p:nvSpPr>
          <p:cNvPr id="22" name="TextBox 21"/>
          <p:cNvSpPr txBox="1"/>
          <p:nvPr/>
        </p:nvSpPr>
        <p:spPr>
          <a:xfrm>
            <a:off x="1444752" y="3922776"/>
            <a:ext cx="1828800" cy="146304"/>
          </a:xfrm>
          <a:prstGeom prst="rect">
            <a:avLst/>
          </a:prstGeom>
          <a:noFill/>
        </p:spPr>
        <p:txBody>
          <a:bodyPr wrap="square" anchor="t" lIns="0" tIns="0" rIns="0" bIns="0">
            <a:spAutoFit/>
          </a:bodyPr>
          <a:lstStyle/>
          <a:p>
            <a:pPr algn="l">
              <a:lnSpc>
                <a:spcPct val="102000"/>
              </a:lnSpc>
              <a:spcBef>
                <a:spcPts val="0"/>
              </a:spcBef>
              <a:spcAft>
                <a:spcPts val="0"/>
              </a:spcAft>
            </a:pPr>
            <a:r>
              <a:rPr sz="700" b="1" i="0" spc="80">
                <a:solidFill>
                  <a:srgbClr val="B78B51"/>
                </a:solidFill>
                <a:latin typeface="Calibri"/>
                <a:ea typeface="Microsoft YaHei"/>
                <a:cs typeface="Calibri"/>
              </a:rPr>
              <a:t>OFFICIAL LANGUAGES</a:t>
            </a:r>
          </a:p>
        </p:txBody>
      </p:sp>
      <p:sp>
        <p:nvSpPr>
          <p:cNvPr id="23" name="TextBox 22"/>
          <p:cNvSpPr txBox="1"/>
          <p:nvPr/>
        </p:nvSpPr>
        <p:spPr>
          <a:xfrm>
            <a:off x="1444752" y="4105656"/>
            <a:ext cx="2834640" cy="137160"/>
          </a:xfrm>
          <a:prstGeom prst="rect">
            <a:avLst/>
          </a:prstGeom>
          <a:noFill/>
        </p:spPr>
        <p:txBody>
          <a:bodyPr wrap="square" anchor="t" lIns="0" tIns="0" rIns="0" bIns="0">
            <a:spAutoFit/>
          </a:bodyPr>
          <a:lstStyle/>
          <a:p>
            <a:pPr algn="l">
              <a:lnSpc>
                <a:spcPct val="102000"/>
              </a:lnSpc>
              <a:spcBef>
                <a:spcPts val="0"/>
              </a:spcBef>
              <a:spcAft>
                <a:spcPts val="0"/>
              </a:spcAft>
            </a:pPr>
            <a:r>
              <a:rPr sz="780" b="0" i="0">
                <a:solidFill>
                  <a:srgbClr val="FFFFFF"/>
                </a:solidFill>
                <a:latin typeface="Calibri"/>
                <a:ea typeface="Microsoft YaHei"/>
                <a:cs typeface="Calibri"/>
              </a:rPr>
              <a:t>English</a:t>
            </a:r>
          </a:p>
        </p:txBody>
      </p:sp>
      <p:sp>
        <p:nvSpPr>
          <p:cNvPr id="24" name="TextBox 23"/>
          <p:cNvSpPr txBox="1"/>
          <p:nvPr/>
        </p:nvSpPr>
        <p:spPr>
          <a:xfrm>
            <a:off x="1444752" y="4270248"/>
            <a:ext cx="2834640" cy="137160"/>
          </a:xfrm>
          <a:prstGeom prst="rect">
            <a:avLst/>
          </a:prstGeom>
          <a:noFill/>
        </p:spPr>
        <p:txBody>
          <a:bodyPr wrap="square" anchor="t" lIns="0" tIns="0" rIns="0" bIns="0">
            <a:spAutoFit/>
          </a:bodyPr>
          <a:lstStyle/>
          <a:p>
            <a:pPr algn="l">
              <a:lnSpc>
                <a:spcPct val="102000"/>
              </a:lnSpc>
              <a:spcBef>
                <a:spcPts val="0"/>
              </a:spcBef>
              <a:spcAft>
                <a:spcPts val="0"/>
              </a:spcAft>
            </a:pPr>
            <a:r>
              <a:rPr sz="780" b="0" i="0">
                <a:solidFill>
                  <a:srgbClr val="FFFFFF"/>
                </a:solidFill>
                <a:latin typeface="Calibri"/>
                <a:ea typeface="Microsoft YaHei"/>
                <a:cs typeface="Calibri"/>
              </a:rPr>
              <a:t>Afrikaans</a:t>
            </a:r>
          </a:p>
        </p:txBody>
      </p:sp>
      <p:sp>
        <p:nvSpPr>
          <p:cNvPr id="25" name="TextBox 24"/>
          <p:cNvSpPr txBox="1"/>
          <p:nvPr/>
        </p:nvSpPr>
        <p:spPr>
          <a:xfrm>
            <a:off x="1444752" y="4434840"/>
            <a:ext cx="2834640" cy="137160"/>
          </a:xfrm>
          <a:prstGeom prst="rect">
            <a:avLst/>
          </a:prstGeom>
          <a:noFill/>
        </p:spPr>
        <p:txBody>
          <a:bodyPr wrap="square" anchor="t" lIns="0" tIns="0" rIns="0" bIns="0">
            <a:spAutoFit/>
          </a:bodyPr>
          <a:lstStyle/>
          <a:p>
            <a:pPr algn="l">
              <a:lnSpc>
                <a:spcPct val="102000"/>
              </a:lnSpc>
              <a:spcBef>
                <a:spcPts val="0"/>
              </a:spcBef>
              <a:spcAft>
                <a:spcPts val="0"/>
              </a:spcAft>
            </a:pPr>
            <a:r>
              <a:rPr sz="780" b="0" i="0">
                <a:solidFill>
                  <a:srgbClr val="FFFFFF"/>
                </a:solidFill>
                <a:latin typeface="Calibri"/>
                <a:ea typeface="Microsoft YaHei"/>
                <a:cs typeface="Calibri"/>
              </a:rPr>
              <a:t>9 vernacular languages</a:t>
            </a:r>
          </a:p>
        </p:txBody>
      </p:sp>
      <p:sp>
        <p:nvSpPr>
          <p:cNvPr id="26" name="Rounded Rectangle 25"/>
          <p:cNvSpPr/>
          <p:nvPr/>
        </p:nvSpPr>
        <p:spPr>
          <a:xfrm>
            <a:off x="502920" y="4928616"/>
            <a:ext cx="4005072" cy="1261872"/>
          </a:xfrm>
          <a:prstGeom prst="roundRect">
            <a:avLst>
              <a:gd name="adj" fmla="val 3000"/>
            </a:avLst>
          </a:prstGeom>
          <a:solidFill>
            <a:srgbClr val="FFFDF9"/>
          </a:solidFill>
          <a:ln w="10160">
            <a:solidFill>
              <a:srgbClr val="DFD7CB"/>
            </a:solidFill>
          </a:ln>
          <a:effectLst>
            <a:outerShdw blurRad="152400" dist="38100" dir="5400000" algn="ctr" rotWithShape="0">
              <a:srgbClr val="1B365D">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xtBox 26"/>
          <p:cNvSpPr txBox="1"/>
          <p:nvPr/>
        </p:nvSpPr>
        <p:spPr>
          <a:xfrm>
            <a:off x="704088" y="5047488"/>
            <a:ext cx="3383280" cy="146304"/>
          </a:xfrm>
          <a:prstGeom prst="rect">
            <a:avLst/>
          </a:prstGeom>
          <a:noFill/>
        </p:spPr>
        <p:txBody>
          <a:bodyPr wrap="square" anchor="t" lIns="0" tIns="0" rIns="0" bIns="0">
            <a:spAutoFit/>
          </a:bodyPr>
          <a:lstStyle/>
          <a:p>
            <a:pPr algn="l">
              <a:lnSpc>
                <a:spcPct val="102000"/>
              </a:lnSpc>
              <a:spcBef>
                <a:spcPts val="0"/>
              </a:spcBef>
              <a:spcAft>
                <a:spcPts val="0"/>
              </a:spcAft>
            </a:pPr>
            <a:r>
              <a:rPr sz="690" b="1" i="0" spc="90">
                <a:solidFill>
                  <a:srgbClr val="C84B31"/>
                </a:solidFill>
                <a:latin typeface="Calibri"/>
                <a:ea typeface="Microsoft YaHei"/>
                <a:cs typeface="Calibri"/>
              </a:rPr>
              <a:t>RHETORICAL QUESTIONS</a:t>
            </a:r>
          </a:p>
        </p:txBody>
      </p:sp>
      <p:sp>
        <p:nvSpPr>
          <p:cNvPr id="28" name="TextBox 27"/>
          <p:cNvSpPr txBox="1"/>
          <p:nvPr/>
        </p:nvSpPr>
        <p:spPr>
          <a:xfrm>
            <a:off x="704088" y="5239512"/>
            <a:ext cx="3429000" cy="182880"/>
          </a:xfrm>
          <a:prstGeom prst="rect">
            <a:avLst/>
          </a:prstGeom>
          <a:noFill/>
        </p:spPr>
        <p:txBody>
          <a:bodyPr wrap="square" anchor="t" lIns="0" tIns="0" rIns="0" bIns="0">
            <a:spAutoFit/>
          </a:bodyPr>
          <a:lstStyle/>
          <a:p>
            <a:pPr algn="l">
              <a:lnSpc>
                <a:spcPct val="102000"/>
              </a:lnSpc>
              <a:spcBef>
                <a:spcPts val="0"/>
              </a:spcBef>
              <a:spcAft>
                <a:spcPts val="0"/>
              </a:spcAft>
            </a:pPr>
            <a:r>
              <a:rPr sz="919" b="1" i="0">
                <a:solidFill>
                  <a:srgbClr val="1B365D"/>
                </a:solidFill>
                <a:latin typeface="Calibri"/>
                <a:ea typeface="Microsoft YaHei"/>
                <a:cs typeface="Calibri"/>
              </a:rPr>
              <a:t>Which ...?   ×2   →   none of the above</a:t>
            </a:r>
          </a:p>
        </p:txBody>
      </p:sp>
      <p:sp>
        <p:nvSpPr>
          <p:cNvPr id="29" name="TextBox 28"/>
          <p:cNvSpPr txBox="1"/>
          <p:nvPr/>
        </p:nvSpPr>
        <p:spPr>
          <a:xfrm>
            <a:off x="704088" y="5486400"/>
            <a:ext cx="3511296" cy="502920"/>
          </a:xfrm>
          <a:prstGeom prst="rect">
            <a:avLst/>
          </a:prstGeom>
          <a:noFill/>
        </p:spPr>
        <p:txBody>
          <a:bodyPr wrap="square" anchor="t" lIns="0" tIns="0" rIns="0" bIns="0">
            <a:spAutoFit/>
          </a:bodyPr>
          <a:lstStyle/>
          <a:p>
            <a:pPr algn="l">
              <a:lnSpc>
                <a:spcPct val="106000"/>
              </a:lnSpc>
              <a:spcBef>
                <a:spcPts val="0"/>
              </a:spcBef>
              <a:spcAft>
                <a:spcPts val="0"/>
              </a:spcAft>
            </a:pPr>
            <a:r>
              <a:rPr sz="810" b="0" i="0">
                <a:solidFill>
                  <a:srgbClr val="2C3E50"/>
                </a:solidFill>
                <a:latin typeface="Calibri"/>
                <a:ea typeface="Microsoft YaHei"/>
                <a:cs typeface="Calibri"/>
              </a:rPr>
              <a:t>连续设问制造悬念，再以断然回答完成转折：南非黑人选择的是英语，而不是九种本土语言中的任何一种。</a:t>
            </a:r>
          </a:p>
        </p:txBody>
      </p:sp>
      <p:sp>
        <p:nvSpPr>
          <p:cNvPr id="30" name="Rounded Rectangle 29"/>
          <p:cNvSpPr/>
          <p:nvPr/>
        </p:nvSpPr>
        <p:spPr>
          <a:xfrm>
            <a:off x="4800600" y="1389888"/>
            <a:ext cx="6885432" cy="1115568"/>
          </a:xfrm>
          <a:prstGeom prst="roundRect">
            <a:avLst>
              <a:gd name="adj" fmla="val 2800"/>
            </a:avLst>
          </a:prstGeom>
          <a:solidFill>
            <a:srgbClr val="FFFDF9"/>
          </a:solidFill>
          <a:ln w="10160">
            <a:solidFill>
              <a:srgbClr val="DFD7CB"/>
            </a:solidFill>
          </a:ln>
          <a:effectLst>
            <a:outerShdw blurRad="152400" dist="38100" dir="5400000" algn="ctr" rotWithShape="0">
              <a:srgbClr val="1B365D">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1" name="Rectangle 30"/>
          <p:cNvSpPr/>
          <p:nvPr/>
        </p:nvSpPr>
        <p:spPr>
          <a:xfrm>
            <a:off x="4800600" y="1389888"/>
            <a:ext cx="45720" cy="111556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xtBox 31"/>
          <p:cNvSpPr txBox="1"/>
          <p:nvPr/>
        </p:nvSpPr>
        <p:spPr>
          <a:xfrm>
            <a:off x="4992624" y="1499616"/>
            <a:ext cx="320040" cy="137160"/>
          </a:xfrm>
          <a:prstGeom prst="rect">
            <a:avLst/>
          </a:prstGeom>
          <a:noFill/>
        </p:spPr>
        <p:txBody>
          <a:bodyPr wrap="square" anchor="t" lIns="0" tIns="0" rIns="0" bIns="0">
            <a:spAutoFit/>
          </a:bodyPr>
          <a:lstStyle/>
          <a:p>
            <a:pPr algn="l">
              <a:lnSpc>
                <a:spcPct val="102000"/>
              </a:lnSpc>
              <a:spcBef>
                <a:spcPts val="0"/>
              </a:spcBef>
              <a:spcAft>
                <a:spcPts val="0"/>
              </a:spcAft>
            </a:pPr>
            <a:r>
              <a:rPr sz="730" b="1" i="0">
                <a:solidFill>
                  <a:srgbClr val="C84B31"/>
                </a:solidFill>
                <a:latin typeface="Calibri"/>
                <a:ea typeface="Microsoft YaHei"/>
                <a:cs typeface="Calibri"/>
              </a:rPr>
              <a:t>01</a:t>
            </a:r>
          </a:p>
        </p:txBody>
      </p:sp>
      <p:sp>
        <p:nvSpPr>
          <p:cNvPr id="33" name="TextBox 32"/>
          <p:cNvSpPr txBox="1"/>
          <p:nvPr/>
        </p:nvSpPr>
        <p:spPr>
          <a:xfrm>
            <a:off x="5330952" y="1499616"/>
            <a:ext cx="6108192" cy="914400"/>
          </a:xfrm>
          <a:prstGeom prst="rect">
            <a:avLst/>
          </a:prstGeom>
          <a:noFill/>
        </p:spPr>
        <p:txBody>
          <a:bodyPr wrap="square" anchor="t" lIns="0" tIns="0" rIns="0" bIns="0">
            <a:spAutoFit/>
          </a:bodyPr>
          <a:lstStyle/>
          <a:p>
            <a:pPr algn="l">
              <a:lnSpc>
                <a:spcPct val="103500"/>
              </a:lnSpc>
              <a:spcBef>
                <a:spcPts val="0"/>
              </a:spcBef>
              <a:spcAft>
                <a:spcPts val="400"/>
              </a:spcAft>
            </a:pPr>
            <a:r>
              <a:rPr sz="1080" b="0" i="0">
                <a:solidFill>
                  <a:srgbClr val="2C3E50"/>
                </a:solidFill>
                <a:latin typeface="Georgia"/>
                <a:ea typeface="Microsoft YaHei"/>
                <a:cs typeface="Georgia"/>
              </a:rPr>
              <a:t>There are today </a:t>
            </a:r>
            <a:r>
              <a:rPr sz="1080" b="1" i="0">
                <a:solidFill>
                  <a:srgbClr val="1B365D"/>
                </a:solidFill>
                <a:latin typeface="Georgia"/>
                <a:ea typeface="Microsoft YaHei"/>
                <a:cs typeface="Georgia"/>
              </a:rPr>
              <a:t>eleven official languages</a:t>
            </a:r>
            <a:r>
              <a:rPr sz="1080" b="0" i="0">
                <a:solidFill>
                  <a:srgbClr val="2C3E50"/>
                </a:solidFill>
                <a:latin typeface="Georgia"/>
                <a:ea typeface="Microsoft YaHei"/>
                <a:cs typeface="Georgia"/>
              </a:rPr>
              <a:t> in South Africa—English, Afrikaans, and </a:t>
            </a:r>
            <a:r>
              <a:rPr sz="1080" b="1" i="0">
                <a:solidFill>
                  <a:srgbClr val="C84B31"/>
                </a:solidFill>
                <a:latin typeface="Georgia"/>
                <a:ea typeface="Microsoft YaHei"/>
                <a:cs typeface="Georgia"/>
              </a:rPr>
              <a:t>nine vernacular languages</a:t>
            </a:r>
            <a:r>
              <a:rPr sz="1080" b="0" i="0">
                <a:solidFill>
                  <a:srgbClr val="2C3E50"/>
                </a:solidFill>
                <a:latin typeface="Georgia"/>
                <a:ea typeface="Microsoft YaHei"/>
                <a:cs typeface="Georgia"/>
              </a:rPr>
              <a:t> that include Zulu, Ndebele, and Setswana.</a:t>
            </a:r>
          </a:p>
          <a:p>
            <a:pPr algn="l">
              <a:lnSpc>
                <a:spcPct val="106000"/>
              </a:lnSpc>
              <a:spcBef>
                <a:spcPts val="0"/>
              </a:spcBef>
              <a:spcAft>
                <a:spcPts val="0"/>
              </a:spcAft>
            </a:pPr>
            <a:r>
              <a:rPr sz="985" b="0" i="0">
                <a:solidFill>
                  <a:srgbClr val="2C3E50"/>
                </a:solidFill>
                <a:latin typeface="Calibri"/>
                <a:ea typeface="Microsoft YaHei"/>
                <a:cs typeface="Calibri"/>
              </a:rPr>
              <a:t>如今，南非有十一种官方语言——英语、阿非利卡语，以及包括祖鲁语、恩德贝勒语和茨瓦纳语在内的九种本土语言。</a:t>
            </a:r>
          </a:p>
        </p:txBody>
      </p:sp>
      <p:sp>
        <p:nvSpPr>
          <p:cNvPr id="34" name="Rounded Rectangle 33"/>
          <p:cNvSpPr/>
          <p:nvPr/>
        </p:nvSpPr>
        <p:spPr>
          <a:xfrm>
            <a:off x="4800600" y="2615184"/>
            <a:ext cx="6885432" cy="1627632"/>
          </a:xfrm>
          <a:prstGeom prst="roundRect">
            <a:avLst>
              <a:gd name="adj" fmla="val 2800"/>
            </a:avLst>
          </a:prstGeom>
          <a:solidFill>
            <a:srgbClr val="FFFDF9"/>
          </a:solidFill>
          <a:ln w="10160">
            <a:solidFill>
              <a:srgbClr val="DFD7CB"/>
            </a:solidFill>
          </a:ln>
          <a:effectLst>
            <a:outerShdw blurRad="152400" dist="38100" dir="5400000" algn="ctr" rotWithShape="0">
              <a:srgbClr val="1B365D">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Rectangle 34"/>
          <p:cNvSpPr/>
          <p:nvPr/>
        </p:nvSpPr>
        <p:spPr>
          <a:xfrm>
            <a:off x="4800600" y="2615184"/>
            <a:ext cx="45720" cy="1627632"/>
          </a:xfrm>
          <a:prstGeom prst="rect">
            <a:avLst/>
          </a:prstGeom>
          <a:solidFill>
            <a:srgbClr val="C84B3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xtBox 35"/>
          <p:cNvSpPr txBox="1"/>
          <p:nvPr/>
        </p:nvSpPr>
        <p:spPr>
          <a:xfrm>
            <a:off x="4992624" y="2724912"/>
            <a:ext cx="320040" cy="137160"/>
          </a:xfrm>
          <a:prstGeom prst="rect">
            <a:avLst/>
          </a:prstGeom>
          <a:noFill/>
        </p:spPr>
        <p:txBody>
          <a:bodyPr wrap="square" anchor="t" lIns="0" tIns="0" rIns="0" bIns="0">
            <a:spAutoFit/>
          </a:bodyPr>
          <a:lstStyle/>
          <a:p>
            <a:pPr algn="l">
              <a:lnSpc>
                <a:spcPct val="102000"/>
              </a:lnSpc>
              <a:spcBef>
                <a:spcPts val="0"/>
              </a:spcBef>
              <a:spcAft>
                <a:spcPts val="0"/>
              </a:spcAft>
            </a:pPr>
            <a:r>
              <a:rPr sz="730" b="1" i="0">
                <a:solidFill>
                  <a:srgbClr val="C84B31"/>
                </a:solidFill>
                <a:latin typeface="Calibri"/>
                <a:ea typeface="Microsoft YaHei"/>
                <a:cs typeface="Calibri"/>
              </a:rPr>
              <a:t>02</a:t>
            </a:r>
          </a:p>
        </p:txBody>
      </p:sp>
      <p:sp>
        <p:nvSpPr>
          <p:cNvPr id="37" name="TextBox 36"/>
          <p:cNvSpPr txBox="1"/>
          <p:nvPr/>
        </p:nvSpPr>
        <p:spPr>
          <a:xfrm>
            <a:off x="5330952" y="2724912"/>
            <a:ext cx="6108192" cy="1426464"/>
          </a:xfrm>
          <a:prstGeom prst="rect">
            <a:avLst/>
          </a:prstGeom>
          <a:noFill/>
        </p:spPr>
        <p:txBody>
          <a:bodyPr wrap="square" anchor="t" lIns="0" tIns="0" rIns="0" bIns="0">
            <a:spAutoFit/>
          </a:bodyPr>
          <a:lstStyle/>
          <a:p>
            <a:pPr algn="l">
              <a:lnSpc>
                <a:spcPct val="103500"/>
              </a:lnSpc>
              <a:spcBef>
                <a:spcPts val="0"/>
              </a:spcBef>
              <a:spcAft>
                <a:spcPts val="400"/>
              </a:spcAft>
            </a:pPr>
            <a:r>
              <a:rPr sz="1040" b="0" i="0">
                <a:solidFill>
                  <a:srgbClr val="2C3E50"/>
                </a:solidFill>
                <a:latin typeface="Georgia"/>
                <a:ea typeface="Microsoft YaHei"/>
                <a:cs typeface="Georgia"/>
              </a:rPr>
              <a:t>But which of these nine do black South Africans use (or plan to use) as their </a:t>
            </a:r>
            <a:r>
              <a:rPr sz="1040" b="1" i="0">
                <a:solidFill>
                  <a:srgbClr val="C84B31"/>
                </a:solidFill>
                <a:latin typeface="Georgia"/>
                <a:ea typeface="Microsoft YaHei"/>
                <a:cs typeface="Georgia"/>
              </a:rPr>
              <a:t>national lingua franca</a:t>
            </a:r>
            <a:r>
              <a:rPr sz="1040" b="0" i="0">
                <a:solidFill>
                  <a:srgbClr val="2C3E50"/>
                </a:solidFill>
                <a:latin typeface="Georgia"/>
                <a:ea typeface="Microsoft YaHei"/>
                <a:cs typeface="Georgia"/>
              </a:rPr>
              <a:t>? Which do they wish their children to speak and write successfully (in addition to their </a:t>
            </a:r>
            <a:r>
              <a:rPr sz="1040" b="1" i="0">
                <a:solidFill>
                  <a:srgbClr val="1B365D"/>
                </a:solidFill>
                <a:latin typeface="Georgia"/>
                <a:ea typeface="Microsoft YaHei"/>
                <a:cs typeface="Georgia"/>
              </a:rPr>
              <a:t>mother tongues</a:t>
            </a:r>
            <a:r>
              <a:rPr sz="1040" b="0" i="0">
                <a:solidFill>
                  <a:srgbClr val="2C3E50"/>
                </a:solidFill>
                <a:latin typeface="Georgia"/>
                <a:ea typeface="Microsoft YaHei"/>
                <a:cs typeface="Georgia"/>
              </a:rPr>
              <a:t>)?</a:t>
            </a:r>
          </a:p>
          <a:p>
            <a:pPr algn="l">
              <a:lnSpc>
                <a:spcPct val="106000"/>
              </a:lnSpc>
              <a:spcBef>
                <a:spcPts val="0"/>
              </a:spcBef>
              <a:spcAft>
                <a:spcPts val="0"/>
              </a:spcAft>
            </a:pPr>
            <a:r>
              <a:rPr sz="955" b="0" i="0">
                <a:solidFill>
                  <a:srgbClr val="2C3E50"/>
                </a:solidFill>
                <a:latin typeface="Calibri"/>
                <a:ea typeface="Microsoft YaHei"/>
                <a:cs typeface="Calibri"/>
              </a:rPr>
              <a:t>但是，南非黑人正在使用（或计划使用）这九种本土语言中的哪一种作为他们的全国通用语呢？除了母语之外，他们希望自己的孩子能够熟练地说和写的又是哪一种语言呢？</a:t>
            </a:r>
          </a:p>
        </p:txBody>
      </p:sp>
      <p:sp>
        <p:nvSpPr>
          <p:cNvPr id="38" name="Rounded Rectangle 37"/>
          <p:cNvSpPr/>
          <p:nvPr/>
        </p:nvSpPr>
        <p:spPr>
          <a:xfrm>
            <a:off x="4800600" y="4352544"/>
            <a:ext cx="6885432" cy="1170432"/>
          </a:xfrm>
          <a:prstGeom prst="roundRect">
            <a:avLst>
              <a:gd name="adj" fmla="val 2800"/>
            </a:avLst>
          </a:prstGeom>
          <a:solidFill>
            <a:srgbClr val="FFFDF9"/>
          </a:solidFill>
          <a:ln w="10160">
            <a:solidFill>
              <a:srgbClr val="DFD7CB"/>
            </a:solidFill>
          </a:ln>
          <a:effectLst>
            <a:outerShdw blurRad="152400" dist="38100" dir="5400000" algn="ctr" rotWithShape="0">
              <a:srgbClr val="1B365D">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Rectangle 38"/>
          <p:cNvSpPr/>
          <p:nvPr/>
        </p:nvSpPr>
        <p:spPr>
          <a:xfrm>
            <a:off x="4800600" y="4352544"/>
            <a:ext cx="45720" cy="1170432"/>
          </a:xfrm>
          <a:prstGeom prst="rect">
            <a:avLst/>
          </a:prstGeom>
          <a:solidFill>
            <a:srgbClr val="C84B3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TextBox 39"/>
          <p:cNvSpPr txBox="1"/>
          <p:nvPr/>
        </p:nvSpPr>
        <p:spPr>
          <a:xfrm>
            <a:off x="4992624" y="4462272"/>
            <a:ext cx="320040" cy="137160"/>
          </a:xfrm>
          <a:prstGeom prst="rect">
            <a:avLst/>
          </a:prstGeom>
          <a:noFill/>
        </p:spPr>
        <p:txBody>
          <a:bodyPr wrap="square" anchor="t" lIns="0" tIns="0" rIns="0" bIns="0">
            <a:spAutoFit/>
          </a:bodyPr>
          <a:lstStyle/>
          <a:p>
            <a:pPr algn="l">
              <a:lnSpc>
                <a:spcPct val="102000"/>
              </a:lnSpc>
              <a:spcBef>
                <a:spcPts val="0"/>
              </a:spcBef>
              <a:spcAft>
                <a:spcPts val="0"/>
              </a:spcAft>
            </a:pPr>
            <a:r>
              <a:rPr sz="730" b="1" i="0">
                <a:solidFill>
                  <a:srgbClr val="C84B31"/>
                </a:solidFill>
                <a:latin typeface="Calibri"/>
                <a:ea typeface="Microsoft YaHei"/>
                <a:cs typeface="Calibri"/>
              </a:rPr>
              <a:t>03</a:t>
            </a:r>
          </a:p>
        </p:txBody>
      </p:sp>
      <p:sp>
        <p:nvSpPr>
          <p:cNvPr id="41" name="TextBox 40"/>
          <p:cNvSpPr txBox="1"/>
          <p:nvPr/>
        </p:nvSpPr>
        <p:spPr>
          <a:xfrm>
            <a:off x="5330952" y="4462272"/>
            <a:ext cx="6108192" cy="969264"/>
          </a:xfrm>
          <a:prstGeom prst="rect">
            <a:avLst/>
          </a:prstGeom>
          <a:noFill/>
        </p:spPr>
        <p:txBody>
          <a:bodyPr wrap="square" anchor="t" lIns="0" tIns="0" rIns="0" bIns="0">
            <a:spAutoFit/>
          </a:bodyPr>
          <a:lstStyle/>
          <a:p>
            <a:pPr algn="l">
              <a:lnSpc>
                <a:spcPct val="103500"/>
              </a:lnSpc>
              <a:spcBef>
                <a:spcPts val="0"/>
              </a:spcBef>
              <a:spcAft>
                <a:spcPts val="400"/>
              </a:spcAft>
            </a:pPr>
            <a:r>
              <a:rPr sz="1080" b="0" i="0">
                <a:solidFill>
                  <a:srgbClr val="2C3E50"/>
                </a:solidFill>
                <a:latin typeface="Georgia"/>
                <a:ea typeface="Microsoft YaHei"/>
                <a:cs typeface="Georgia"/>
              </a:rPr>
              <a:t>The answer is </a:t>
            </a:r>
            <a:r>
              <a:rPr sz="1080" b="1" i="0">
                <a:solidFill>
                  <a:srgbClr val="C84B31"/>
                </a:solidFill>
                <a:latin typeface="Georgia"/>
                <a:ea typeface="Microsoft YaHei"/>
                <a:cs typeface="Georgia"/>
              </a:rPr>
              <a:t>none of the above</a:t>
            </a:r>
            <a:r>
              <a:rPr sz="1080" b="0" i="0">
                <a:solidFill>
                  <a:srgbClr val="2C3E50"/>
                </a:solidFill>
                <a:latin typeface="Georgia"/>
                <a:ea typeface="Microsoft YaHei"/>
                <a:cs typeface="Georgia"/>
              </a:rPr>
              <a:t>. They want </a:t>
            </a:r>
            <a:r>
              <a:rPr sz="1080" b="1" i="0">
                <a:solidFill>
                  <a:srgbClr val="1B365D"/>
                </a:solidFill>
                <a:latin typeface="Georgia"/>
                <a:ea typeface="Microsoft YaHei"/>
                <a:cs typeface="Georgia"/>
              </a:rPr>
              <a:t>English</a:t>
            </a:r>
            <a:r>
              <a:rPr sz="1080" b="0" i="0">
                <a:solidFill>
                  <a:srgbClr val="2C3E50"/>
                </a:solidFill>
                <a:latin typeface="Georgia"/>
                <a:ea typeface="Microsoft YaHei"/>
                <a:cs typeface="Georgia"/>
              </a:rPr>
              <a:t>, and in particular they want a suitably </a:t>
            </a:r>
            <a:r>
              <a:rPr sz="1080" b="1" i="0">
                <a:solidFill>
                  <a:srgbClr val="C84B31"/>
                </a:solidFill>
                <a:latin typeface="Georgia"/>
                <a:ea typeface="Microsoft YaHei"/>
                <a:cs typeface="Georgia"/>
              </a:rPr>
              <a:t>Africanized English</a:t>
            </a:r>
            <a:r>
              <a:rPr sz="1080" b="0" i="0">
                <a:solidFill>
                  <a:srgbClr val="2C3E50"/>
                </a:solidFill>
                <a:latin typeface="Georgia"/>
                <a:ea typeface="Microsoft YaHei"/>
                <a:cs typeface="Georgia"/>
              </a:rPr>
              <a:t>.</a:t>
            </a:r>
          </a:p>
          <a:p>
            <a:pPr algn="l">
              <a:lnSpc>
                <a:spcPct val="106000"/>
              </a:lnSpc>
              <a:spcBef>
                <a:spcPts val="0"/>
              </a:spcBef>
              <a:spcAft>
                <a:spcPts val="0"/>
              </a:spcAft>
            </a:pPr>
            <a:r>
              <a:rPr sz="985" b="0" i="0">
                <a:solidFill>
                  <a:srgbClr val="2C3E50"/>
                </a:solidFill>
                <a:latin typeface="Calibri"/>
                <a:ea typeface="Microsoft YaHei"/>
                <a:cs typeface="Calibri"/>
              </a:rPr>
              <a:t>答案是以上都不是。他们想要的是英语，尤其是经过适当非洲本土化的英语。</a:t>
            </a:r>
          </a:p>
        </p:txBody>
      </p:sp>
      <p:sp>
        <p:nvSpPr>
          <p:cNvPr id="42" name="Rounded Rectangle 41"/>
          <p:cNvSpPr/>
          <p:nvPr/>
        </p:nvSpPr>
        <p:spPr>
          <a:xfrm>
            <a:off x="4800600" y="5678424"/>
            <a:ext cx="2148840" cy="512064"/>
          </a:xfrm>
          <a:prstGeom prst="roundRect">
            <a:avLst>
              <a:gd name="adj" fmla="val 22000"/>
            </a:avLst>
          </a:prstGeom>
          <a:solidFill>
            <a:srgbClr val="ECF0F5"/>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3" name="TextBox 42"/>
          <p:cNvSpPr txBox="1"/>
          <p:nvPr/>
        </p:nvSpPr>
        <p:spPr>
          <a:xfrm>
            <a:off x="4937760" y="5733288"/>
            <a:ext cx="1874519" cy="146304"/>
          </a:xfrm>
          <a:prstGeom prst="rect">
            <a:avLst/>
          </a:prstGeom>
          <a:noFill/>
        </p:spPr>
        <p:txBody>
          <a:bodyPr wrap="square" anchor="t" lIns="0" tIns="0" rIns="0" bIns="0">
            <a:spAutoFit/>
          </a:bodyPr>
          <a:lstStyle/>
          <a:p>
            <a:pPr algn="ctr">
              <a:lnSpc>
                <a:spcPct val="102000"/>
              </a:lnSpc>
              <a:spcBef>
                <a:spcPts val="0"/>
              </a:spcBef>
              <a:spcAft>
                <a:spcPts val="0"/>
              </a:spcAft>
            </a:pPr>
            <a:r>
              <a:rPr sz="819" b="1" i="0">
                <a:solidFill>
                  <a:srgbClr val="1B365D"/>
                </a:solidFill>
                <a:latin typeface="Georgia"/>
                <a:ea typeface="Microsoft YaHei"/>
                <a:cs typeface="Georgia"/>
              </a:rPr>
              <a:t>vernacular languages</a:t>
            </a:r>
          </a:p>
        </p:txBody>
      </p:sp>
      <p:sp>
        <p:nvSpPr>
          <p:cNvPr id="44" name="TextBox 43"/>
          <p:cNvSpPr txBox="1"/>
          <p:nvPr/>
        </p:nvSpPr>
        <p:spPr>
          <a:xfrm>
            <a:off x="4937760" y="5907024"/>
            <a:ext cx="1874519" cy="128016"/>
          </a:xfrm>
          <a:prstGeom prst="rect">
            <a:avLst/>
          </a:prstGeom>
          <a:noFill/>
        </p:spPr>
        <p:txBody>
          <a:bodyPr wrap="square" anchor="t" lIns="0" tIns="0" rIns="0" bIns="0">
            <a:spAutoFit/>
          </a:bodyPr>
          <a:lstStyle/>
          <a:p>
            <a:pPr algn="ctr">
              <a:lnSpc>
                <a:spcPct val="102000"/>
              </a:lnSpc>
              <a:spcBef>
                <a:spcPts val="0"/>
              </a:spcBef>
              <a:spcAft>
                <a:spcPts val="0"/>
              </a:spcAft>
            </a:pPr>
            <a:r>
              <a:rPr sz="730" b="0" i="0">
                <a:solidFill>
                  <a:srgbClr val="2C3E50"/>
                </a:solidFill>
                <a:latin typeface="Calibri"/>
                <a:ea typeface="Microsoft YaHei"/>
                <a:cs typeface="Calibri"/>
              </a:rPr>
              <a:t>本土语言 / 方言</a:t>
            </a:r>
          </a:p>
        </p:txBody>
      </p:sp>
      <p:sp>
        <p:nvSpPr>
          <p:cNvPr id="45" name="Rounded Rectangle 44"/>
          <p:cNvSpPr/>
          <p:nvPr/>
        </p:nvSpPr>
        <p:spPr>
          <a:xfrm>
            <a:off x="7114031" y="5678424"/>
            <a:ext cx="2148840" cy="512064"/>
          </a:xfrm>
          <a:prstGeom prst="roundRect">
            <a:avLst>
              <a:gd name="adj" fmla="val 22000"/>
            </a:avLst>
          </a:prstGeom>
          <a:solidFill>
            <a:srgbClr val="ECF0F5"/>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TextBox 45"/>
          <p:cNvSpPr txBox="1"/>
          <p:nvPr/>
        </p:nvSpPr>
        <p:spPr>
          <a:xfrm>
            <a:off x="7251192" y="5733288"/>
            <a:ext cx="1874519" cy="146304"/>
          </a:xfrm>
          <a:prstGeom prst="rect">
            <a:avLst/>
          </a:prstGeom>
          <a:noFill/>
        </p:spPr>
        <p:txBody>
          <a:bodyPr wrap="square" anchor="t" lIns="0" tIns="0" rIns="0" bIns="0">
            <a:spAutoFit/>
          </a:bodyPr>
          <a:lstStyle/>
          <a:p>
            <a:pPr algn="ctr">
              <a:lnSpc>
                <a:spcPct val="102000"/>
              </a:lnSpc>
              <a:spcBef>
                <a:spcPts val="0"/>
              </a:spcBef>
              <a:spcAft>
                <a:spcPts val="0"/>
              </a:spcAft>
            </a:pPr>
            <a:r>
              <a:rPr sz="819" b="1" i="0">
                <a:solidFill>
                  <a:srgbClr val="1B365D"/>
                </a:solidFill>
                <a:latin typeface="Georgia"/>
                <a:ea typeface="Microsoft YaHei"/>
                <a:cs typeface="Georgia"/>
              </a:rPr>
              <a:t>lingua franca</a:t>
            </a:r>
          </a:p>
        </p:txBody>
      </p:sp>
      <p:sp>
        <p:nvSpPr>
          <p:cNvPr id="47" name="TextBox 46"/>
          <p:cNvSpPr txBox="1"/>
          <p:nvPr/>
        </p:nvSpPr>
        <p:spPr>
          <a:xfrm>
            <a:off x="7251192" y="5907024"/>
            <a:ext cx="1874519" cy="128016"/>
          </a:xfrm>
          <a:prstGeom prst="rect">
            <a:avLst/>
          </a:prstGeom>
          <a:noFill/>
        </p:spPr>
        <p:txBody>
          <a:bodyPr wrap="square" anchor="t" lIns="0" tIns="0" rIns="0" bIns="0">
            <a:spAutoFit/>
          </a:bodyPr>
          <a:lstStyle/>
          <a:p>
            <a:pPr algn="ctr">
              <a:lnSpc>
                <a:spcPct val="102000"/>
              </a:lnSpc>
              <a:spcBef>
                <a:spcPts val="0"/>
              </a:spcBef>
              <a:spcAft>
                <a:spcPts val="0"/>
              </a:spcAft>
            </a:pPr>
            <a:r>
              <a:rPr sz="730" b="0" i="0">
                <a:solidFill>
                  <a:srgbClr val="2C3E50"/>
                </a:solidFill>
                <a:latin typeface="Calibri"/>
                <a:ea typeface="Microsoft YaHei"/>
                <a:cs typeface="Calibri"/>
              </a:rPr>
              <a:t>通用语 / 交际语</a:t>
            </a:r>
          </a:p>
        </p:txBody>
      </p:sp>
      <p:sp>
        <p:nvSpPr>
          <p:cNvPr id="48" name="Rounded Rectangle 47"/>
          <p:cNvSpPr/>
          <p:nvPr/>
        </p:nvSpPr>
        <p:spPr>
          <a:xfrm>
            <a:off x="9427463" y="5678424"/>
            <a:ext cx="2148840" cy="512064"/>
          </a:xfrm>
          <a:prstGeom prst="roundRect">
            <a:avLst>
              <a:gd name="adj" fmla="val 22000"/>
            </a:avLst>
          </a:prstGeom>
          <a:solidFill>
            <a:srgbClr val="ECF0F5"/>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9" name="TextBox 48"/>
          <p:cNvSpPr txBox="1"/>
          <p:nvPr/>
        </p:nvSpPr>
        <p:spPr>
          <a:xfrm>
            <a:off x="9564624" y="5733288"/>
            <a:ext cx="1874519" cy="146304"/>
          </a:xfrm>
          <a:prstGeom prst="rect">
            <a:avLst/>
          </a:prstGeom>
          <a:noFill/>
        </p:spPr>
        <p:txBody>
          <a:bodyPr wrap="square" anchor="t" lIns="0" tIns="0" rIns="0" bIns="0">
            <a:spAutoFit/>
          </a:bodyPr>
          <a:lstStyle/>
          <a:p>
            <a:pPr algn="ctr">
              <a:lnSpc>
                <a:spcPct val="102000"/>
              </a:lnSpc>
              <a:spcBef>
                <a:spcPts val="0"/>
              </a:spcBef>
              <a:spcAft>
                <a:spcPts val="0"/>
              </a:spcAft>
            </a:pPr>
            <a:r>
              <a:rPr sz="819" b="1" i="0">
                <a:solidFill>
                  <a:srgbClr val="1B365D"/>
                </a:solidFill>
                <a:latin typeface="Georgia"/>
                <a:ea typeface="Microsoft YaHei"/>
                <a:cs typeface="Georgia"/>
              </a:rPr>
              <a:t>Africanized English</a:t>
            </a:r>
          </a:p>
        </p:txBody>
      </p:sp>
      <p:sp>
        <p:nvSpPr>
          <p:cNvPr id="50" name="TextBox 49"/>
          <p:cNvSpPr txBox="1"/>
          <p:nvPr/>
        </p:nvSpPr>
        <p:spPr>
          <a:xfrm>
            <a:off x="9564624" y="5907024"/>
            <a:ext cx="1874519" cy="128016"/>
          </a:xfrm>
          <a:prstGeom prst="rect">
            <a:avLst/>
          </a:prstGeom>
          <a:noFill/>
        </p:spPr>
        <p:txBody>
          <a:bodyPr wrap="square" anchor="t" lIns="0" tIns="0" rIns="0" bIns="0">
            <a:spAutoFit/>
          </a:bodyPr>
          <a:lstStyle/>
          <a:p>
            <a:pPr algn="ctr">
              <a:lnSpc>
                <a:spcPct val="102000"/>
              </a:lnSpc>
              <a:spcBef>
                <a:spcPts val="0"/>
              </a:spcBef>
              <a:spcAft>
                <a:spcPts val="0"/>
              </a:spcAft>
            </a:pPr>
            <a:r>
              <a:rPr sz="730" b="0" i="0">
                <a:solidFill>
                  <a:srgbClr val="2C3E50"/>
                </a:solidFill>
                <a:latin typeface="Calibri"/>
                <a:ea typeface="Microsoft YaHei"/>
                <a:cs typeface="Calibri"/>
              </a:rPr>
              <a:t>非洲本土化的英语</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8F5"/>
        </a:solidFill>
        <a:effectLst/>
      </p:bgPr>
    </p:bg>
    <p:spTree>
      <p:nvGrpSpPr>
        <p:cNvPr id="1" name=""/>
        <p:cNvGrpSpPr/>
        <p:nvPr/>
      </p:nvGrpSpPr>
      <p:grpSpPr/>
      <p:sp>
        <p:nvSpPr>
          <p:cNvPr id="2" name="Rectangle 1"/>
          <p:cNvSpPr/>
          <p:nvPr/>
        </p:nvSpPr>
        <p:spPr>
          <a:xfrm>
            <a:off x="0" y="0"/>
            <a:ext cx="12191695" cy="402336"/>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Rectangle 2"/>
          <p:cNvSpPr/>
          <p:nvPr/>
        </p:nvSpPr>
        <p:spPr>
          <a:xfrm>
            <a:off x="502920" y="137160"/>
            <a:ext cx="77724" cy="128016"/>
          </a:xfrm>
          <a:prstGeom prst="rect">
            <a:avLst/>
          </a:prstGeom>
          <a:solidFill>
            <a:srgbClr val="C84B3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extBox 3"/>
          <p:cNvSpPr txBox="1"/>
          <p:nvPr/>
        </p:nvSpPr>
        <p:spPr>
          <a:xfrm>
            <a:off x="685800" y="123444"/>
            <a:ext cx="6400800" cy="164592"/>
          </a:xfrm>
          <a:prstGeom prst="rect">
            <a:avLst/>
          </a:prstGeom>
          <a:noFill/>
        </p:spPr>
        <p:txBody>
          <a:bodyPr wrap="square" anchor="t" lIns="0" tIns="0" rIns="0" bIns="0">
            <a:spAutoFit/>
          </a:bodyPr>
          <a:lstStyle/>
          <a:p>
            <a:pPr algn="l">
              <a:lnSpc>
                <a:spcPct val="102000"/>
              </a:lnSpc>
              <a:spcBef>
                <a:spcPts val="0"/>
              </a:spcBef>
              <a:spcAft>
                <a:spcPts val="0"/>
              </a:spcAft>
            </a:pPr>
            <a:r>
              <a:rPr sz="780" b="1" i="0" spc="110">
                <a:solidFill>
                  <a:srgbClr val="FFFFFF"/>
                </a:solidFill>
                <a:latin typeface="Calibri"/>
                <a:ea typeface="Microsoft YaHei"/>
                <a:cs typeface="Calibri"/>
              </a:rPr>
              <a:t>LANGUAGE &amp; CULTURE   /   PARAGRAPHS 7–8</a:t>
            </a:r>
          </a:p>
        </p:txBody>
      </p:sp>
      <p:sp>
        <p:nvSpPr>
          <p:cNvPr id="5" name="Rectangle 4"/>
          <p:cNvSpPr/>
          <p:nvPr/>
        </p:nvSpPr>
        <p:spPr>
          <a:xfrm>
            <a:off x="9710928" y="185623"/>
            <a:ext cx="96012" cy="31089"/>
          </a:xfrm>
          <a:prstGeom prst="rect">
            <a:avLst/>
          </a:prstGeom>
          <a:solidFill>
            <a:srgbClr val="6C7F9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Rectangle 5"/>
          <p:cNvSpPr/>
          <p:nvPr/>
        </p:nvSpPr>
        <p:spPr>
          <a:xfrm>
            <a:off x="9852659" y="185623"/>
            <a:ext cx="96012" cy="31089"/>
          </a:xfrm>
          <a:prstGeom prst="rect">
            <a:avLst/>
          </a:prstGeom>
          <a:solidFill>
            <a:srgbClr val="6C7F9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 name="Rectangle 6"/>
          <p:cNvSpPr/>
          <p:nvPr/>
        </p:nvSpPr>
        <p:spPr>
          <a:xfrm>
            <a:off x="9994392" y="185623"/>
            <a:ext cx="96012" cy="31089"/>
          </a:xfrm>
          <a:prstGeom prst="rect">
            <a:avLst/>
          </a:prstGeom>
          <a:solidFill>
            <a:srgbClr val="6C7F9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ectangle 7"/>
          <p:cNvSpPr/>
          <p:nvPr/>
        </p:nvSpPr>
        <p:spPr>
          <a:xfrm>
            <a:off x="10136124" y="185623"/>
            <a:ext cx="96012" cy="31089"/>
          </a:xfrm>
          <a:prstGeom prst="rect">
            <a:avLst/>
          </a:prstGeom>
          <a:solidFill>
            <a:srgbClr val="6C7F9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ectangle 8"/>
          <p:cNvSpPr/>
          <p:nvPr/>
        </p:nvSpPr>
        <p:spPr>
          <a:xfrm>
            <a:off x="10277855" y="185623"/>
            <a:ext cx="96012" cy="31089"/>
          </a:xfrm>
          <a:prstGeom prst="rect">
            <a:avLst/>
          </a:prstGeom>
          <a:solidFill>
            <a:srgbClr val="6C7F9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Rectangle 9"/>
          <p:cNvSpPr/>
          <p:nvPr/>
        </p:nvSpPr>
        <p:spPr>
          <a:xfrm>
            <a:off x="10419588" y="185623"/>
            <a:ext cx="96012" cy="31089"/>
          </a:xfrm>
          <a:prstGeom prst="rect">
            <a:avLst/>
          </a:prstGeom>
          <a:solidFill>
            <a:srgbClr val="6C7F9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ectangle 10"/>
          <p:cNvSpPr/>
          <p:nvPr/>
        </p:nvSpPr>
        <p:spPr>
          <a:xfrm>
            <a:off x="10561319" y="185623"/>
            <a:ext cx="96012" cy="31089"/>
          </a:xfrm>
          <a:prstGeom prst="rect">
            <a:avLst/>
          </a:prstGeom>
          <a:solidFill>
            <a:srgbClr val="C84B3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Rectangle 11"/>
          <p:cNvSpPr/>
          <p:nvPr/>
        </p:nvSpPr>
        <p:spPr>
          <a:xfrm>
            <a:off x="10703051" y="185623"/>
            <a:ext cx="96012" cy="31089"/>
          </a:xfrm>
          <a:prstGeom prst="rect">
            <a:avLst/>
          </a:prstGeom>
          <a:solidFill>
            <a:srgbClr val="6C7F9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TextBox 12"/>
          <p:cNvSpPr txBox="1"/>
          <p:nvPr/>
        </p:nvSpPr>
        <p:spPr>
          <a:xfrm>
            <a:off x="10917936" y="118872"/>
            <a:ext cx="777240" cy="164592"/>
          </a:xfrm>
          <a:prstGeom prst="rect">
            <a:avLst/>
          </a:prstGeom>
          <a:noFill/>
        </p:spPr>
        <p:txBody>
          <a:bodyPr wrap="square" anchor="t" lIns="0" tIns="0" rIns="0" bIns="0">
            <a:spAutoFit/>
          </a:bodyPr>
          <a:lstStyle/>
          <a:p>
            <a:pPr algn="r">
              <a:lnSpc>
                <a:spcPct val="102000"/>
              </a:lnSpc>
              <a:spcBef>
                <a:spcPts val="0"/>
              </a:spcBef>
              <a:spcAft>
                <a:spcPts val="0"/>
              </a:spcAft>
            </a:pPr>
            <a:r>
              <a:rPr sz="760" b="1" i="0" spc="50">
                <a:solidFill>
                  <a:srgbClr val="FFFFFF"/>
                </a:solidFill>
                <a:latin typeface="Calibri"/>
                <a:ea typeface="Microsoft YaHei"/>
                <a:cs typeface="Calibri"/>
              </a:rPr>
              <a:t>07 / 08</a:t>
            </a:r>
          </a:p>
        </p:txBody>
      </p:sp>
      <p:sp>
        <p:nvSpPr>
          <p:cNvPr id="14" name="TextBox 13"/>
          <p:cNvSpPr txBox="1"/>
          <p:nvPr/>
        </p:nvSpPr>
        <p:spPr>
          <a:xfrm>
            <a:off x="502920" y="576072"/>
            <a:ext cx="10972800" cy="438912"/>
          </a:xfrm>
          <a:prstGeom prst="rect">
            <a:avLst/>
          </a:prstGeom>
          <a:noFill/>
        </p:spPr>
        <p:txBody>
          <a:bodyPr wrap="square" anchor="t" lIns="0" tIns="0" rIns="0" bIns="0">
            <a:spAutoFit/>
          </a:bodyPr>
          <a:lstStyle/>
          <a:p>
            <a:pPr algn="l">
              <a:lnSpc>
                <a:spcPct val="102000"/>
              </a:lnSpc>
              <a:spcBef>
                <a:spcPts val="0"/>
              </a:spcBef>
              <a:spcAft>
                <a:spcPts val="0"/>
              </a:spcAft>
            </a:pPr>
            <a:r>
              <a:rPr sz="2350" b="1" i="0">
                <a:solidFill>
                  <a:srgbClr val="1B365D"/>
                </a:solidFill>
                <a:latin typeface="Georgia"/>
                <a:ea typeface="Microsoft YaHei"/>
                <a:cs typeface="Georgia"/>
              </a:rPr>
              <a:t>第8段精讲与篇章结构总结</a:t>
            </a:r>
          </a:p>
        </p:txBody>
      </p:sp>
      <p:sp>
        <p:nvSpPr>
          <p:cNvPr id="15" name="TextBox 14"/>
          <p:cNvSpPr txBox="1"/>
          <p:nvPr/>
        </p:nvSpPr>
        <p:spPr>
          <a:xfrm>
            <a:off x="502920" y="1042415"/>
            <a:ext cx="10789920" cy="173736"/>
          </a:xfrm>
          <a:prstGeom prst="rect">
            <a:avLst/>
          </a:prstGeom>
          <a:noFill/>
        </p:spPr>
        <p:txBody>
          <a:bodyPr wrap="square" anchor="t" lIns="0" tIns="0" rIns="0" bIns="0">
            <a:spAutoFit/>
          </a:bodyPr>
          <a:lstStyle/>
          <a:p>
            <a:pPr algn="l">
              <a:lnSpc>
                <a:spcPct val="102000"/>
              </a:lnSpc>
              <a:spcBef>
                <a:spcPts val="0"/>
              </a:spcBef>
              <a:spcAft>
                <a:spcPts val="0"/>
              </a:spcAft>
            </a:pPr>
            <a:r>
              <a:rPr sz="780" b="1" i="0" spc="110">
                <a:solidFill>
                  <a:srgbClr val="707984"/>
                </a:solidFill>
                <a:latin typeface="Calibri"/>
                <a:ea typeface="Microsoft YaHei"/>
                <a:cs typeface="Calibri"/>
              </a:rPr>
              <a:t>PARAGRAPH 8  ·  A PIVOTAL TRANSITION</a:t>
            </a:r>
          </a:p>
        </p:txBody>
      </p:sp>
      <p:sp>
        <p:nvSpPr>
          <p:cNvPr id="16" name="Rectangle 15"/>
          <p:cNvSpPr/>
          <p:nvPr/>
        </p:nvSpPr>
        <p:spPr>
          <a:xfrm>
            <a:off x="502920" y="1243584"/>
            <a:ext cx="987552" cy="32004"/>
          </a:xfrm>
          <a:prstGeom prst="rect">
            <a:avLst/>
          </a:prstGeom>
          <a:solidFill>
            <a:srgbClr val="C84B3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ounded Rectangle 16"/>
          <p:cNvSpPr/>
          <p:nvPr/>
        </p:nvSpPr>
        <p:spPr>
          <a:xfrm>
            <a:off x="502920" y="1389888"/>
            <a:ext cx="6656832" cy="2414016"/>
          </a:xfrm>
          <a:prstGeom prst="roundRect">
            <a:avLst>
              <a:gd name="adj" fmla="val 2500"/>
            </a:avLst>
          </a:prstGeom>
          <a:solidFill>
            <a:srgbClr val="F2E9DB"/>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Rectangle 17"/>
          <p:cNvSpPr/>
          <p:nvPr/>
        </p:nvSpPr>
        <p:spPr>
          <a:xfrm>
            <a:off x="502920" y="1389888"/>
            <a:ext cx="50292" cy="2414016"/>
          </a:xfrm>
          <a:prstGeom prst="rect">
            <a:avLst/>
          </a:prstGeom>
          <a:solidFill>
            <a:srgbClr val="B78B5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TextBox 18"/>
          <p:cNvSpPr txBox="1"/>
          <p:nvPr/>
        </p:nvSpPr>
        <p:spPr>
          <a:xfrm>
            <a:off x="713232" y="1508760"/>
            <a:ext cx="5852160" cy="137160"/>
          </a:xfrm>
          <a:prstGeom prst="rect">
            <a:avLst/>
          </a:prstGeom>
          <a:noFill/>
        </p:spPr>
        <p:txBody>
          <a:bodyPr wrap="square" anchor="t" lIns="0" tIns="0" rIns="0" bIns="0">
            <a:spAutoFit/>
          </a:bodyPr>
          <a:lstStyle/>
          <a:p>
            <a:pPr algn="l">
              <a:lnSpc>
                <a:spcPct val="102000"/>
              </a:lnSpc>
              <a:spcBef>
                <a:spcPts val="0"/>
              </a:spcBef>
              <a:spcAft>
                <a:spcPts val="0"/>
              </a:spcAft>
            </a:pPr>
            <a:r>
              <a:rPr sz="680" b="1" i="0" spc="100">
                <a:solidFill>
                  <a:srgbClr val="B78B51"/>
                </a:solidFill>
                <a:latin typeface="Calibri"/>
                <a:ea typeface="Microsoft YaHei"/>
                <a:cs typeface="Calibri"/>
              </a:rPr>
              <a:t>PARAGRAPH 8  /  THE SYNTHESIS</a:t>
            </a:r>
          </a:p>
        </p:txBody>
      </p:sp>
      <p:sp>
        <p:nvSpPr>
          <p:cNvPr id="20" name="TextBox 19"/>
          <p:cNvSpPr txBox="1"/>
          <p:nvPr/>
        </p:nvSpPr>
        <p:spPr>
          <a:xfrm>
            <a:off x="722376" y="1645920"/>
            <a:ext cx="502920" cy="640080"/>
          </a:xfrm>
          <a:prstGeom prst="rect">
            <a:avLst/>
          </a:prstGeom>
          <a:noFill/>
        </p:spPr>
        <p:txBody>
          <a:bodyPr wrap="square" anchor="t" lIns="0" tIns="0" rIns="0" bIns="0">
            <a:spAutoFit/>
          </a:bodyPr>
          <a:lstStyle/>
          <a:p>
            <a:pPr algn="l">
              <a:lnSpc>
                <a:spcPct val="102000"/>
              </a:lnSpc>
              <a:spcBef>
                <a:spcPts val="0"/>
              </a:spcBef>
              <a:spcAft>
                <a:spcPts val="0"/>
              </a:spcAft>
            </a:pPr>
            <a:r>
              <a:rPr sz="4600" b="1" i="0">
                <a:solidFill>
                  <a:srgbClr val="CFB896"/>
                </a:solidFill>
                <a:latin typeface="Georgia"/>
                <a:ea typeface="Microsoft YaHei"/>
                <a:cs typeface="Georgia"/>
              </a:rPr>
              <a:t>“</a:t>
            </a:r>
          </a:p>
        </p:txBody>
      </p:sp>
      <p:sp>
        <p:nvSpPr>
          <p:cNvPr id="21" name="TextBox 20"/>
          <p:cNvSpPr txBox="1"/>
          <p:nvPr/>
        </p:nvSpPr>
        <p:spPr>
          <a:xfrm>
            <a:off x="1115568" y="1810512"/>
            <a:ext cx="5715000" cy="896112"/>
          </a:xfrm>
          <a:prstGeom prst="rect">
            <a:avLst/>
          </a:prstGeom>
          <a:noFill/>
        </p:spPr>
        <p:txBody>
          <a:bodyPr wrap="square" anchor="t" lIns="0" tIns="0" rIns="0" bIns="0">
            <a:spAutoFit/>
          </a:bodyPr>
          <a:lstStyle/>
          <a:p>
            <a:pPr algn="l">
              <a:lnSpc>
                <a:spcPct val="102000"/>
              </a:lnSpc>
              <a:spcBef>
                <a:spcPts val="0"/>
              </a:spcBef>
              <a:spcAft>
                <a:spcPts val="0"/>
              </a:spcAft>
            </a:pPr>
            <a:r>
              <a:rPr sz="1550" b="1" i="1">
                <a:solidFill>
                  <a:srgbClr val="1B365D"/>
                </a:solidFill>
                <a:latin typeface="Georgia"/>
                <a:ea typeface="Microsoft YaHei"/>
                <a:cs typeface="Georgia"/>
              </a:rPr>
              <a:t>So, a curse for the indigenous peoples of Australia and something of a blessing for those in South Africa...</a:t>
            </a:r>
          </a:p>
        </p:txBody>
      </p:sp>
      <p:sp>
        <p:nvSpPr>
          <p:cNvPr id="22" name="TextBox 21"/>
          <p:cNvSpPr txBox="1"/>
          <p:nvPr/>
        </p:nvSpPr>
        <p:spPr>
          <a:xfrm>
            <a:off x="1115568" y="2523744"/>
            <a:ext cx="5559552" cy="512064"/>
          </a:xfrm>
          <a:prstGeom prst="rect">
            <a:avLst/>
          </a:prstGeom>
          <a:noFill/>
        </p:spPr>
        <p:txBody>
          <a:bodyPr wrap="square" anchor="t" lIns="0" tIns="0" rIns="0" bIns="0">
            <a:spAutoFit/>
          </a:bodyPr>
          <a:lstStyle/>
          <a:p>
            <a:pPr algn="l">
              <a:lnSpc>
                <a:spcPct val="112000"/>
              </a:lnSpc>
              <a:spcBef>
                <a:spcPts val="0"/>
              </a:spcBef>
              <a:spcAft>
                <a:spcPts val="0"/>
              </a:spcAft>
            </a:pPr>
            <a:r>
              <a:rPr sz="1019" b="0" i="0">
                <a:solidFill>
                  <a:srgbClr val="2C3E50"/>
                </a:solidFill>
                <a:latin typeface="Calibri"/>
                <a:ea typeface="Microsoft YaHei"/>
                <a:cs typeface="Calibri"/>
              </a:rPr>
              <a:t>因此，英语对于澳大利亚的土著民族来说是一种诅咒，而对于南非的土著人民来说则算是一种福音……</a:t>
            </a:r>
          </a:p>
        </p:txBody>
      </p:sp>
      <p:sp>
        <p:nvSpPr>
          <p:cNvPr id="23" name="TextBox 22"/>
          <p:cNvSpPr txBox="1"/>
          <p:nvPr/>
        </p:nvSpPr>
        <p:spPr>
          <a:xfrm>
            <a:off x="1115568" y="3154680"/>
            <a:ext cx="5394960" cy="146304"/>
          </a:xfrm>
          <a:prstGeom prst="rect">
            <a:avLst/>
          </a:prstGeom>
          <a:noFill/>
        </p:spPr>
        <p:txBody>
          <a:bodyPr wrap="square" anchor="t" lIns="0" tIns="0" rIns="0" bIns="0">
            <a:spAutoFit/>
          </a:bodyPr>
          <a:lstStyle/>
          <a:p>
            <a:pPr algn="l">
              <a:lnSpc>
                <a:spcPct val="102000"/>
              </a:lnSpc>
              <a:spcBef>
                <a:spcPts val="0"/>
              </a:spcBef>
              <a:spcAft>
                <a:spcPts val="0"/>
              </a:spcAft>
            </a:pPr>
            <a:r>
              <a:rPr sz="640" b="1" i="0" spc="90">
                <a:solidFill>
                  <a:srgbClr val="B78B51"/>
                </a:solidFill>
                <a:latin typeface="Calibri"/>
                <a:ea typeface="Microsoft YaHei"/>
                <a:cs typeface="Calibri"/>
              </a:rPr>
              <a:t>CURSE  /  BLESSING  —  THE SAME LANGUAGE, TWO OUTCOMES</a:t>
            </a:r>
          </a:p>
        </p:txBody>
      </p:sp>
      <p:pic>
        <p:nvPicPr>
          <p:cNvPr id="24" name="Picture 23" descr="澳大利亚语言消逝与南非语言复兴的对照插画"/>
          <p:cNvPicPr>
            <a:picLocks noChangeAspect="1"/>
          </p:cNvPicPr>
          <p:nvPr/>
        </p:nvPicPr>
        <p:blipFill>
          <a:blip r:embed="rId2"/>
          <a:stretch>
            <a:fillRect/>
          </a:stretch>
        </p:blipFill>
        <p:spPr>
          <a:xfrm>
            <a:off x="7360920" y="1389888"/>
            <a:ext cx="4325112" cy="2414016"/>
          </a:xfrm>
          <a:prstGeom prst="rect">
            <a:avLst/>
          </a:prstGeom>
          <a:ln w="10160">
            <a:solidFill>
              <a:srgbClr val="DFD7CB"/>
            </a:solidFill>
          </a:ln>
        </p:spPr>
      </p:pic>
      <p:sp>
        <p:nvSpPr>
          <p:cNvPr id="25" name="Rectangle 24"/>
          <p:cNvSpPr/>
          <p:nvPr/>
        </p:nvSpPr>
        <p:spPr>
          <a:xfrm>
            <a:off x="7360920" y="3483864"/>
            <a:ext cx="4325112" cy="320040"/>
          </a:xfrm>
          <a:prstGeom prst="rect">
            <a:avLst/>
          </a:prstGeom>
          <a:solidFill>
            <a:srgbClr val="1B365D">
              <a:alpha val="88000"/>
            </a:srgbClr>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xtBox 25"/>
          <p:cNvSpPr txBox="1"/>
          <p:nvPr/>
        </p:nvSpPr>
        <p:spPr>
          <a:xfrm>
            <a:off x="7479792" y="3561588"/>
            <a:ext cx="4096512" cy="128016"/>
          </a:xfrm>
          <a:prstGeom prst="rect">
            <a:avLst/>
          </a:prstGeom>
          <a:noFill/>
        </p:spPr>
        <p:txBody>
          <a:bodyPr wrap="square" anchor="t" lIns="0" tIns="0" rIns="0" bIns="0">
            <a:spAutoFit/>
          </a:bodyPr>
          <a:lstStyle/>
          <a:p>
            <a:pPr algn="ctr">
              <a:lnSpc>
                <a:spcPct val="102000"/>
              </a:lnSpc>
              <a:spcBef>
                <a:spcPts val="0"/>
              </a:spcBef>
              <a:spcAft>
                <a:spcPts val="0"/>
              </a:spcAft>
            </a:pPr>
            <a:r>
              <a:rPr sz="630" b="1" i="0" spc="60">
                <a:solidFill>
                  <a:srgbClr val="FFFFFF"/>
                </a:solidFill>
                <a:latin typeface="Calibri"/>
                <a:ea typeface="Microsoft YaHei"/>
                <a:cs typeface="Calibri"/>
              </a:rPr>
              <a:t>AUSTRALIA  /  CURSE   ↔   SOUTH AFRICA  /  BLESSING</a:t>
            </a:r>
          </a:p>
        </p:txBody>
      </p:sp>
      <p:sp>
        <p:nvSpPr>
          <p:cNvPr id="27" name="Rounded Rectangle 26"/>
          <p:cNvSpPr/>
          <p:nvPr/>
        </p:nvSpPr>
        <p:spPr>
          <a:xfrm>
            <a:off x="502920" y="3986784"/>
            <a:ext cx="3611880" cy="859536"/>
          </a:xfrm>
          <a:prstGeom prst="roundRect">
            <a:avLst>
              <a:gd name="adj" fmla="val 2800"/>
            </a:avLst>
          </a:prstGeom>
          <a:solidFill>
            <a:srgbClr val="FFFDF9"/>
          </a:solidFill>
          <a:ln w="10160">
            <a:solidFill>
              <a:srgbClr val="DFD7CB"/>
            </a:solidFill>
          </a:ln>
          <a:effectLst>
            <a:outerShdw blurRad="152400" dist="38100" dir="5400000" algn="ctr" rotWithShape="0">
              <a:srgbClr val="1B365D">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TextBox 27"/>
          <p:cNvSpPr txBox="1"/>
          <p:nvPr/>
        </p:nvSpPr>
        <p:spPr>
          <a:xfrm>
            <a:off x="713232" y="4087368"/>
            <a:ext cx="2240280" cy="173736"/>
          </a:xfrm>
          <a:prstGeom prst="rect">
            <a:avLst/>
          </a:prstGeom>
          <a:noFill/>
        </p:spPr>
        <p:txBody>
          <a:bodyPr wrap="square" anchor="t" lIns="0" tIns="0" rIns="0" bIns="0">
            <a:spAutoFit/>
          </a:bodyPr>
          <a:lstStyle/>
          <a:p>
            <a:pPr algn="l">
              <a:lnSpc>
                <a:spcPct val="102000"/>
              </a:lnSpc>
              <a:spcBef>
                <a:spcPts val="0"/>
              </a:spcBef>
              <a:spcAft>
                <a:spcPts val="0"/>
              </a:spcAft>
            </a:pPr>
            <a:r>
              <a:rPr sz="1180" b="1" i="0">
                <a:solidFill>
                  <a:srgbClr val="1B365D"/>
                </a:solidFill>
                <a:latin typeface="Georgia"/>
                <a:ea typeface="Microsoft YaHei"/>
                <a:cs typeface="Georgia"/>
              </a:rPr>
              <a:t>indigenous</a:t>
            </a:r>
          </a:p>
        </p:txBody>
      </p:sp>
      <p:sp>
        <p:nvSpPr>
          <p:cNvPr id="29" name="TextBox 28"/>
          <p:cNvSpPr txBox="1"/>
          <p:nvPr/>
        </p:nvSpPr>
        <p:spPr>
          <a:xfrm>
            <a:off x="2770632" y="4114800"/>
            <a:ext cx="1078992" cy="137160"/>
          </a:xfrm>
          <a:prstGeom prst="rect">
            <a:avLst/>
          </a:prstGeom>
          <a:noFill/>
        </p:spPr>
        <p:txBody>
          <a:bodyPr wrap="square" anchor="t" lIns="0" tIns="0" rIns="0" bIns="0">
            <a:spAutoFit/>
          </a:bodyPr>
          <a:lstStyle/>
          <a:p>
            <a:pPr algn="r">
              <a:lnSpc>
                <a:spcPct val="102000"/>
              </a:lnSpc>
              <a:spcBef>
                <a:spcPts val="0"/>
              </a:spcBef>
              <a:spcAft>
                <a:spcPts val="0"/>
              </a:spcAft>
            </a:pPr>
            <a:r>
              <a:rPr sz="730" b="1" i="0">
                <a:solidFill>
                  <a:srgbClr val="C84B31"/>
                </a:solidFill>
                <a:latin typeface="Calibri"/>
                <a:ea typeface="Microsoft YaHei"/>
                <a:cs typeface="Calibri"/>
              </a:rPr>
              <a:t>adj.</a:t>
            </a:r>
          </a:p>
        </p:txBody>
      </p:sp>
      <p:sp>
        <p:nvSpPr>
          <p:cNvPr id="30" name="TextBox 29"/>
          <p:cNvSpPr txBox="1"/>
          <p:nvPr/>
        </p:nvSpPr>
        <p:spPr>
          <a:xfrm>
            <a:off x="713232" y="4306824"/>
            <a:ext cx="3163824" cy="310896"/>
          </a:xfrm>
          <a:prstGeom prst="rect">
            <a:avLst/>
          </a:prstGeom>
          <a:noFill/>
        </p:spPr>
        <p:txBody>
          <a:bodyPr wrap="square" anchor="t" lIns="0" tIns="0" rIns="0" bIns="0">
            <a:spAutoFit/>
          </a:bodyPr>
          <a:lstStyle/>
          <a:p>
            <a:pPr algn="l">
              <a:lnSpc>
                <a:spcPct val="102000"/>
              </a:lnSpc>
              <a:spcBef>
                <a:spcPts val="0"/>
              </a:spcBef>
              <a:spcAft>
                <a:spcPts val="0"/>
              </a:spcAft>
            </a:pPr>
            <a:r>
              <a:rPr sz="840" b="0" i="0">
                <a:solidFill>
                  <a:srgbClr val="2C3E50"/>
                </a:solidFill>
                <a:latin typeface="Calibri"/>
                <a:ea typeface="Microsoft YaHei"/>
                <a:cs typeface="Calibri"/>
              </a:rPr>
              <a:t>本土的、固有的</a:t>
            </a:r>
          </a:p>
        </p:txBody>
      </p:sp>
      <p:sp>
        <p:nvSpPr>
          <p:cNvPr id="31" name="TextBox 30"/>
          <p:cNvSpPr txBox="1"/>
          <p:nvPr/>
        </p:nvSpPr>
        <p:spPr>
          <a:xfrm>
            <a:off x="713232" y="4626864"/>
            <a:ext cx="3163824" cy="137160"/>
          </a:xfrm>
          <a:prstGeom prst="rect">
            <a:avLst/>
          </a:prstGeom>
          <a:noFill/>
        </p:spPr>
        <p:txBody>
          <a:bodyPr wrap="square" anchor="t" lIns="0" tIns="0" rIns="0" bIns="0">
            <a:spAutoFit/>
          </a:bodyPr>
          <a:lstStyle/>
          <a:p>
            <a:pPr algn="l">
              <a:lnSpc>
                <a:spcPct val="102000"/>
              </a:lnSpc>
              <a:spcBef>
                <a:spcPts val="0"/>
              </a:spcBef>
              <a:spcAft>
                <a:spcPts val="0"/>
              </a:spcAft>
            </a:pPr>
            <a:r>
              <a:rPr sz="690" b="1" i="0">
                <a:solidFill>
                  <a:srgbClr val="C84B31"/>
                </a:solidFill>
                <a:latin typeface="Calibri"/>
                <a:ea typeface="Microsoft YaHei"/>
                <a:cs typeface="Calibri"/>
              </a:rPr>
              <a:t>课本手写笔记重点词</a:t>
            </a:r>
          </a:p>
        </p:txBody>
      </p:sp>
      <p:sp>
        <p:nvSpPr>
          <p:cNvPr id="32" name="Rounded Rectangle 31"/>
          <p:cNvSpPr/>
          <p:nvPr/>
        </p:nvSpPr>
        <p:spPr>
          <a:xfrm>
            <a:off x="4315968" y="3986784"/>
            <a:ext cx="3611880" cy="859536"/>
          </a:xfrm>
          <a:prstGeom prst="roundRect">
            <a:avLst>
              <a:gd name="adj" fmla="val 2800"/>
            </a:avLst>
          </a:prstGeom>
          <a:solidFill>
            <a:srgbClr val="FFFDF9"/>
          </a:solidFill>
          <a:ln w="10160">
            <a:solidFill>
              <a:srgbClr val="DFD7CB"/>
            </a:solidFill>
          </a:ln>
          <a:effectLst>
            <a:outerShdw blurRad="152400" dist="38100" dir="5400000" algn="ctr" rotWithShape="0">
              <a:srgbClr val="1B365D">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xtBox 32"/>
          <p:cNvSpPr txBox="1"/>
          <p:nvPr/>
        </p:nvSpPr>
        <p:spPr>
          <a:xfrm>
            <a:off x="4526280" y="4087368"/>
            <a:ext cx="2240280" cy="173736"/>
          </a:xfrm>
          <a:prstGeom prst="rect">
            <a:avLst/>
          </a:prstGeom>
          <a:noFill/>
        </p:spPr>
        <p:txBody>
          <a:bodyPr wrap="square" anchor="t" lIns="0" tIns="0" rIns="0" bIns="0">
            <a:spAutoFit/>
          </a:bodyPr>
          <a:lstStyle/>
          <a:p>
            <a:pPr algn="l">
              <a:lnSpc>
                <a:spcPct val="102000"/>
              </a:lnSpc>
              <a:spcBef>
                <a:spcPts val="0"/>
              </a:spcBef>
              <a:spcAft>
                <a:spcPts val="0"/>
              </a:spcAft>
            </a:pPr>
            <a:r>
              <a:rPr sz="1180" b="1" i="0">
                <a:solidFill>
                  <a:srgbClr val="1B365D"/>
                </a:solidFill>
                <a:latin typeface="Georgia"/>
                <a:ea typeface="Microsoft YaHei"/>
                <a:cs typeface="Georgia"/>
              </a:rPr>
              <a:t>something of a...</a:t>
            </a:r>
          </a:p>
        </p:txBody>
      </p:sp>
      <p:sp>
        <p:nvSpPr>
          <p:cNvPr id="34" name="TextBox 33"/>
          <p:cNvSpPr txBox="1"/>
          <p:nvPr/>
        </p:nvSpPr>
        <p:spPr>
          <a:xfrm>
            <a:off x="6583679" y="4114800"/>
            <a:ext cx="1078992" cy="137160"/>
          </a:xfrm>
          <a:prstGeom prst="rect">
            <a:avLst/>
          </a:prstGeom>
          <a:noFill/>
        </p:spPr>
        <p:txBody>
          <a:bodyPr wrap="square" anchor="t" lIns="0" tIns="0" rIns="0" bIns="0">
            <a:spAutoFit/>
          </a:bodyPr>
          <a:lstStyle/>
          <a:p>
            <a:pPr algn="r">
              <a:lnSpc>
                <a:spcPct val="102000"/>
              </a:lnSpc>
              <a:spcBef>
                <a:spcPts val="0"/>
              </a:spcBef>
              <a:spcAft>
                <a:spcPts val="0"/>
              </a:spcAft>
            </a:pPr>
            <a:r>
              <a:rPr sz="730" b="1" i="0">
                <a:solidFill>
                  <a:srgbClr val="C84B31"/>
                </a:solidFill>
                <a:latin typeface="Calibri"/>
                <a:ea typeface="Microsoft YaHei"/>
                <a:cs typeface="Calibri"/>
              </a:rPr>
              <a:t>固定表达</a:t>
            </a:r>
          </a:p>
        </p:txBody>
      </p:sp>
      <p:sp>
        <p:nvSpPr>
          <p:cNvPr id="35" name="TextBox 34"/>
          <p:cNvSpPr txBox="1"/>
          <p:nvPr/>
        </p:nvSpPr>
        <p:spPr>
          <a:xfrm>
            <a:off x="4526280" y="4306824"/>
            <a:ext cx="3163824" cy="310896"/>
          </a:xfrm>
          <a:prstGeom prst="rect">
            <a:avLst/>
          </a:prstGeom>
          <a:noFill/>
        </p:spPr>
        <p:txBody>
          <a:bodyPr wrap="square" anchor="t" lIns="0" tIns="0" rIns="0" bIns="0">
            <a:spAutoFit/>
          </a:bodyPr>
          <a:lstStyle/>
          <a:p>
            <a:pPr algn="l">
              <a:lnSpc>
                <a:spcPct val="102000"/>
              </a:lnSpc>
              <a:spcBef>
                <a:spcPts val="0"/>
              </a:spcBef>
              <a:spcAft>
                <a:spcPts val="0"/>
              </a:spcAft>
            </a:pPr>
            <a:r>
              <a:rPr sz="840" b="0" i="0">
                <a:solidFill>
                  <a:srgbClr val="2C3E50"/>
                </a:solidFill>
                <a:latin typeface="Calibri"/>
                <a:ea typeface="Microsoft YaHei"/>
                <a:cs typeface="Calibri"/>
              </a:rPr>
              <a:t>在某种程度上可以说是……、算是一种……</a:t>
            </a:r>
          </a:p>
        </p:txBody>
      </p:sp>
      <p:sp>
        <p:nvSpPr>
          <p:cNvPr id="36" name="Rounded Rectangle 35"/>
          <p:cNvSpPr/>
          <p:nvPr/>
        </p:nvSpPr>
        <p:spPr>
          <a:xfrm>
            <a:off x="8129016" y="3986784"/>
            <a:ext cx="3611880" cy="859536"/>
          </a:xfrm>
          <a:prstGeom prst="roundRect">
            <a:avLst>
              <a:gd name="adj" fmla="val 2800"/>
            </a:avLst>
          </a:prstGeom>
          <a:solidFill>
            <a:srgbClr val="FFFDF9"/>
          </a:solidFill>
          <a:ln w="10160">
            <a:solidFill>
              <a:srgbClr val="DFD7CB"/>
            </a:solidFill>
          </a:ln>
          <a:effectLst>
            <a:outerShdw blurRad="152400" dist="38100" dir="5400000" algn="ctr" rotWithShape="0">
              <a:srgbClr val="1B365D">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7" name="TextBox 36"/>
          <p:cNvSpPr txBox="1"/>
          <p:nvPr/>
        </p:nvSpPr>
        <p:spPr>
          <a:xfrm>
            <a:off x="8339328" y="4087368"/>
            <a:ext cx="2240280" cy="173736"/>
          </a:xfrm>
          <a:prstGeom prst="rect">
            <a:avLst/>
          </a:prstGeom>
          <a:noFill/>
        </p:spPr>
        <p:txBody>
          <a:bodyPr wrap="square" anchor="t" lIns="0" tIns="0" rIns="0" bIns="0">
            <a:spAutoFit/>
          </a:bodyPr>
          <a:lstStyle/>
          <a:p>
            <a:pPr algn="l">
              <a:lnSpc>
                <a:spcPct val="102000"/>
              </a:lnSpc>
              <a:spcBef>
                <a:spcPts val="0"/>
              </a:spcBef>
              <a:spcAft>
                <a:spcPts val="0"/>
              </a:spcAft>
            </a:pPr>
            <a:r>
              <a:rPr sz="1180" b="1" i="0">
                <a:solidFill>
                  <a:srgbClr val="1B365D"/>
                </a:solidFill>
                <a:latin typeface="Georgia"/>
                <a:ea typeface="Microsoft YaHei"/>
                <a:cs typeface="Georgia"/>
              </a:rPr>
              <a:t>those</a:t>
            </a:r>
          </a:p>
        </p:txBody>
      </p:sp>
      <p:sp>
        <p:nvSpPr>
          <p:cNvPr id="38" name="TextBox 37"/>
          <p:cNvSpPr txBox="1"/>
          <p:nvPr/>
        </p:nvSpPr>
        <p:spPr>
          <a:xfrm>
            <a:off x="10396728" y="4114800"/>
            <a:ext cx="1078992" cy="137160"/>
          </a:xfrm>
          <a:prstGeom prst="rect">
            <a:avLst/>
          </a:prstGeom>
          <a:noFill/>
        </p:spPr>
        <p:txBody>
          <a:bodyPr wrap="square" anchor="t" lIns="0" tIns="0" rIns="0" bIns="0">
            <a:spAutoFit/>
          </a:bodyPr>
          <a:lstStyle/>
          <a:p>
            <a:pPr algn="r">
              <a:lnSpc>
                <a:spcPct val="102000"/>
              </a:lnSpc>
              <a:spcBef>
                <a:spcPts val="0"/>
              </a:spcBef>
              <a:spcAft>
                <a:spcPts val="0"/>
              </a:spcAft>
            </a:pPr>
            <a:r>
              <a:rPr sz="730" b="1" i="0">
                <a:solidFill>
                  <a:srgbClr val="C84B31"/>
                </a:solidFill>
                <a:latin typeface="Calibri"/>
                <a:ea typeface="Microsoft YaHei"/>
                <a:cs typeface="Calibri"/>
              </a:rPr>
              <a:t>pron.</a:t>
            </a:r>
          </a:p>
        </p:txBody>
      </p:sp>
      <p:sp>
        <p:nvSpPr>
          <p:cNvPr id="39" name="TextBox 38"/>
          <p:cNvSpPr txBox="1"/>
          <p:nvPr/>
        </p:nvSpPr>
        <p:spPr>
          <a:xfrm>
            <a:off x="8339328" y="4306824"/>
            <a:ext cx="3163824" cy="310896"/>
          </a:xfrm>
          <a:prstGeom prst="rect">
            <a:avLst/>
          </a:prstGeom>
          <a:noFill/>
        </p:spPr>
        <p:txBody>
          <a:bodyPr wrap="square" anchor="t" lIns="0" tIns="0" rIns="0" bIns="0">
            <a:spAutoFit/>
          </a:bodyPr>
          <a:lstStyle/>
          <a:p>
            <a:pPr algn="l">
              <a:lnSpc>
                <a:spcPct val="102000"/>
              </a:lnSpc>
              <a:spcBef>
                <a:spcPts val="0"/>
              </a:spcBef>
              <a:spcAft>
                <a:spcPts val="0"/>
              </a:spcAft>
            </a:pPr>
            <a:r>
              <a:rPr sz="840" b="0" i="0">
                <a:solidFill>
                  <a:srgbClr val="2C3E50"/>
                </a:solidFill>
                <a:latin typeface="Calibri"/>
                <a:ea typeface="Microsoft YaHei"/>
                <a:cs typeface="Calibri"/>
              </a:rPr>
              <a:t>指代前面的 indigenous peoples（原住民）</a:t>
            </a:r>
          </a:p>
        </p:txBody>
      </p:sp>
      <p:sp>
        <p:nvSpPr>
          <p:cNvPr id="40" name="Rounded Rectangle 39"/>
          <p:cNvSpPr/>
          <p:nvPr/>
        </p:nvSpPr>
        <p:spPr>
          <a:xfrm>
            <a:off x="502920" y="5010912"/>
            <a:ext cx="3072384" cy="1188720"/>
          </a:xfrm>
          <a:prstGeom prst="roundRect">
            <a:avLst>
              <a:gd name="adj" fmla="val 3000"/>
            </a:avLst>
          </a:prstGeom>
          <a:solidFill>
            <a:srgbClr val="F8ECE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xtBox 40"/>
          <p:cNvSpPr txBox="1"/>
          <p:nvPr/>
        </p:nvSpPr>
        <p:spPr>
          <a:xfrm>
            <a:off x="676656" y="5102352"/>
            <a:ext cx="2697480" cy="128016"/>
          </a:xfrm>
          <a:prstGeom prst="rect">
            <a:avLst/>
          </a:prstGeom>
          <a:noFill/>
        </p:spPr>
        <p:txBody>
          <a:bodyPr wrap="square" anchor="t" lIns="0" tIns="0" rIns="0" bIns="0">
            <a:spAutoFit/>
          </a:bodyPr>
          <a:lstStyle/>
          <a:p>
            <a:pPr algn="l">
              <a:lnSpc>
                <a:spcPct val="102000"/>
              </a:lnSpc>
              <a:spcBef>
                <a:spcPts val="0"/>
              </a:spcBef>
              <a:spcAft>
                <a:spcPts val="0"/>
              </a:spcAft>
            </a:pPr>
            <a:r>
              <a:rPr sz="670" b="1" i="0" spc="100">
                <a:solidFill>
                  <a:srgbClr val="C84B31"/>
                </a:solidFill>
                <a:latin typeface="Calibri"/>
                <a:ea typeface="Microsoft YaHei"/>
                <a:cs typeface="Calibri"/>
              </a:rPr>
              <a:t>AUSTRALIA</a:t>
            </a:r>
          </a:p>
        </p:txBody>
      </p:sp>
      <p:sp>
        <p:nvSpPr>
          <p:cNvPr id="42" name="TextBox 41"/>
          <p:cNvSpPr txBox="1"/>
          <p:nvPr/>
        </p:nvSpPr>
        <p:spPr>
          <a:xfrm>
            <a:off x="676656" y="5266944"/>
            <a:ext cx="2697480" cy="246888"/>
          </a:xfrm>
          <a:prstGeom prst="rect">
            <a:avLst/>
          </a:prstGeom>
          <a:noFill/>
        </p:spPr>
        <p:txBody>
          <a:bodyPr wrap="square" anchor="t" lIns="0" tIns="0" rIns="0" bIns="0">
            <a:spAutoFit/>
          </a:bodyPr>
          <a:lstStyle/>
          <a:p>
            <a:pPr algn="l">
              <a:lnSpc>
                <a:spcPct val="102000"/>
              </a:lnSpc>
              <a:spcBef>
                <a:spcPts val="0"/>
              </a:spcBef>
              <a:spcAft>
                <a:spcPts val="0"/>
              </a:spcAft>
            </a:pPr>
            <a:r>
              <a:rPr sz="1260" b="1" i="0">
                <a:solidFill>
                  <a:srgbClr val="C84B31"/>
                </a:solidFill>
                <a:latin typeface="Georgia"/>
                <a:ea typeface="Microsoft YaHei"/>
                <a:cs typeface="Georgia"/>
              </a:rPr>
              <a:t>A CURSE</a:t>
            </a:r>
          </a:p>
        </p:txBody>
      </p:sp>
      <p:sp>
        <p:nvSpPr>
          <p:cNvPr id="43" name="TextBox 42"/>
          <p:cNvSpPr txBox="1"/>
          <p:nvPr/>
        </p:nvSpPr>
        <p:spPr>
          <a:xfrm>
            <a:off x="676656" y="5596128"/>
            <a:ext cx="2724912" cy="384048"/>
          </a:xfrm>
          <a:prstGeom prst="rect">
            <a:avLst/>
          </a:prstGeom>
          <a:noFill/>
        </p:spPr>
        <p:txBody>
          <a:bodyPr wrap="square" anchor="t" lIns="0" tIns="0" rIns="0" bIns="0">
            <a:spAutoFit/>
          </a:bodyPr>
          <a:lstStyle/>
          <a:p>
            <a:pPr algn="l">
              <a:lnSpc>
                <a:spcPct val="105000"/>
              </a:lnSpc>
              <a:spcBef>
                <a:spcPts val="0"/>
              </a:spcBef>
              <a:spcAft>
                <a:spcPts val="0"/>
              </a:spcAft>
            </a:pPr>
            <a:r>
              <a:rPr sz="819" b="0" i="0">
                <a:solidFill>
                  <a:srgbClr val="2C3E50"/>
                </a:solidFill>
                <a:latin typeface="Calibri"/>
                <a:ea typeface="Microsoft YaHei"/>
                <a:cs typeface="Calibri"/>
              </a:rPr>
              <a:t>语言灭绝  ·  文化多样性受到威胁</a:t>
            </a:r>
          </a:p>
        </p:txBody>
      </p:sp>
      <p:sp>
        <p:nvSpPr>
          <p:cNvPr id="44" name="Rounded Rectangle 43"/>
          <p:cNvSpPr/>
          <p:nvPr/>
        </p:nvSpPr>
        <p:spPr>
          <a:xfrm>
            <a:off x="3685032" y="5010912"/>
            <a:ext cx="3072384" cy="1188720"/>
          </a:xfrm>
          <a:prstGeom prst="roundRect">
            <a:avLst>
              <a:gd name="adj" fmla="val 3000"/>
            </a:avLst>
          </a:prstGeom>
          <a:solidFill>
            <a:srgbClr val="ECF0F5"/>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xtBox 44"/>
          <p:cNvSpPr txBox="1"/>
          <p:nvPr/>
        </p:nvSpPr>
        <p:spPr>
          <a:xfrm>
            <a:off x="3858768" y="5102352"/>
            <a:ext cx="2743200" cy="128016"/>
          </a:xfrm>
          <a:prstGeom prst="rect">
            <a:avLst/>
          </a:prstGeom>
          <a:noFill/>
        </p:spPr>
        <p:txBody>
          <a:bodyPr wrap="square" anchor="t" lIns="0" tIns="0" rIns="0" bIns="0">
            <a:spAutoFit/>
          </a:bodyPr>
          <a:lstStyle/>
          <a:p>
            <a:pPr algn="l">
              <a:lnSpc>
                <a:spcPct val="102000"/>
              </a:lnSpc>
              <a:spcBef>
                <a:spcPts val="0"/>
              </a:spcBef>
              <a:spcAft>
                <a:spcPts val="0"/>
              </a:spcAft>
            </a:pPr>
            <a:r>
              <a:rPr sz="670" b="1" i="0" spc="100">
                <a:solidFill>
                  <a:srgbClr val="1B365D"/>
                </a:solidFill>
                <a:latin typeface="Calibri"/>
                <a:ea typeface="Microsoft YaHei"/>
                <a:cs typeface="Calibri"/>
              </a:rPr>
              <a:t>SOUTH AFRICA</a:t>
            </a:r>
          </a:p>
        </p:txBody>
      </p:sp>
      <p:sp>
        <p:nvSpPr>
          <p:cNvPr id="46" name="TextBox 45"/>
          <p:cNvSpPr txBox="1"/>
          <p:nvPr/>
        </p:nvSpPr>
        <p:spPr>
          <a:xfrm>
            <a:off x="3858768" y="5276088"/>
            <a:ext cx="2743200" cy="201168"/>
          </a:xfrm>
          <a:prstGeom prst="rect">
            <a:avLst/>
          </a:prstGeom>
          <a:noFill/>
        </p:spPr>
        <p:txBody>
          <a:bodyPr wrap="square" anchor="t" lIns="0" tIns="0" rIns="0" bIns="0">
            <a:spAutoFit/>
          </a:bodyPr>
          <a:lstStyle/>
          <a:p>
            <a:pPr algn="l">
              <a:lnSpc>
                <a:spcPct val="102000"/>
              </a:lnSpc>
              <a:spcBef>
                <a:spcPts val="0"/>
              </a:spcBef>
              <a:spcAft>
                <a:spcPts val="0"/>
              </a:spcAft>
            </a:pPr>
            <a:r>
              <a:rPr sz="910" b="1" i="0">
                <a:solidFill>
                  <a:srgbClr val="1B365D"/>
                </a:solidFill>
                <a:latin typeface="Georgia"/>
                <a:ea typeface="Microsoft YaHei"/>
                <a:cs typeface="Georgia"/>
              </a:rPr>
              <a:t>SOMETHING OF A BLESSING</a:t>
            </a:r>
          </a:p>
        </p:txBody>
      </p:sp>
      <p:sp>
        <p:nvSpPr>
          <p:cNvPr id="47" name="TextBox 46"/>
          <p:cNvSpPr txBox="1"/>
          <p:nvPr/>
        </p:nvSpPr>
        <p:spPr>
          <a:xfrm>
            <a:off x="3858768" y="5559552"/>
            <a:ext cx="2724912" cy="457200"/>
          </a:xfrm>
          <a:prstGeom prst="rect">
            <a:avLst/>
          </a:prstGeom>
          <a:noFill/>
        </p:spPr>
        <p:txBody>
          <a:bodyPr wrap="square" anchor="t" lIns="0" tIns="0" rIns="0" bIns="0">
            <a:spAutoFit/>
          </a:bodyPr>
          <a:lstStyle/>
          <a:p>
            <a:pPr algn="l">
              <a:lnSpc>
                <a:spcPct val="104000"/>
              </a:lnSpc>
              <a:spcBef>
                <a:spcPts val="0"/>
              </a:spcBef>
              <a:spcAft>
                <a:spcPts val="0"/>
              </a:spcAft>
            </a:pPr>
            <a:r>
              <a:rPr sz="780" b="0" i="0">
                <a:solidFill>
                  <a:srgbClr val="2C3E50"/>
                </a:solidFill>
                <a:latin typeface="Calibri"/>
                <a:ea typeface="Microsoft YaHei"/>
                <a:cs typeface="Calibri"/>
              </a:rPr>
              <a:t>推翻 apartheid regime</a:t>
            </a:r>
          </a:p>
          <a:p>
            <a:pPr algn="l">
              <a:lnSpc>
                <a:spcPct val="104000"/>
              </a:lnSpc>
              <a:spcBef>
                <a:spcPts val="0"/>
              </a:spcBef>
              <a:spcAft>
                <a:spcPts val="0"/>
              </a:spcAft>
            </a:pPr>
            <a:r>
              <a:rPr sz="780" b="0" i="0">
                <a:solidFill>
                  <a:srgbClr val="2C3E50"/>
                </a:solidFill>
                <a:latin typeface="Calibri"/>
                <a:ea typeface="Microsoft YaHei"/>
                <a:cs typeface="Calibri"/>
              </a:rPr>
              <a:t>自由与团结的 national lingua franca</a:t>
            </a:r>
          </a:p>
        </p:txBody>
      </p:sp>
      <p:sp>
        <p:nvSpPr>
          <p:cNvPr id="48" name="Right Arrow 47"/>
          <p:cNvSpPr/>
          <p:nvPr/>
        </p:nvSpPr>
        <p:spPr>
          <a:xfrm>
            <a:off x="6839712" y="5449824"/>
            <a:ext cx="274320" cy="274320"/>
          </a:xfrm>
          <a:prstGeom prst="rightArrow">
            <a:avLst/>
          </a:prstGeom>
          <a:solidFill>
            <a:srgbClr val="C84B3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9" name="Rounded Rectangle 48"/>
          <p:cNvSpPr/>
          <p:nvPr/>
        </p:nvSpPr>
        <p:spPr>
          <a:xfrm>
            <a:off x="7269480" y="5010912"/>
            <a:ext cx="4416552" cy="1188720"/>
          </a:xfrm>
          <a:prstGeom prst="roundRect">
            <a:avLst>
              <a:gd name="adj" fmla="val 3000"/>
            </a:avLst>
          </a:prstGeom>
          <a:solidFill>
            <a:srgbClr val="1B365D"/>
          </a:solidFill>
          <a:ln>
            <a:noFill/>
          </a:ln>
          <a:effectLst>
            <a:outerShdw blurRad="152400" dist="38100" dir="5400000" algn="ctr" rotWithShape="0">
              <a:srgbClr val="1B365D">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TextBox 49"/>
          <p:cNvSpPr txBox="1"/>
          <p:nvPr/>
        </p:nvSpPr>
        <p:spPr>
          <a:xfrm>
            <a:off x="7443216" y="5102352"/>
            <a:ext cx="3977639" cy="128016"/>
          </a:xfrm>
          <a:prstGeom prst="rect">
            <a:avLst/>
          </a:prstGeom>
          <a:noFill/>
        </p:spPr>
        <p:txBody>
          <a:bodyPr wrap="square" anchor="t" lIns="0" tIns="0" rIns="0" bIns="0">
            <a:spAutoFit/>
          </a:bodyPr>
          <a:lstStyle/>
          <a:p>
            <a:pPr algn="l">
              <a:lnSpc>
                <a:spcPct val="102000"/>
              </a:lnSpc>
              <a:spcBef>
                <a:spcPts val="0"/>
              </a:spcBef>
              <a:spcAft>
                <a:spcPts val="0"/>
              </a:spcAft>
            </a:pPr>
            <a:r>
              <a:rPr sz="660" b="1" i="0" spc="80">
                <a:solidFill>
                  <a:srgbClr val="B78B51"/>
                </a:solidFill>
                <a:latin typeface="Calibri"/>
                <a:ea typeface="Microsoft YaHei"/>
                <a:cs typeface="Calibri"/>
              </a:rPr>
              <a:t>PARAGRAPH 9  →  THE CONCLUSION</a:t>
            </a:r>
          </a:p>
        </p:txBody>
      </p:sp>
      <p:sp>
        <p:nvSpPr>
          <p:cNvPr id="51" name="TextBox 50"/>
          <p:cNvSpPr txBox="1"/>
          <p:nvPr/>
        </p:nvSpPr>
        <p:spPr>
          <a:xfrm>
            <a:off x="7443216" y="5266944"/>
            <a:ext cx="4005072" cy="411480"/>
          </a:xfrm>
          <a:prstGeom prst="rect">
            <a:avLst/>
          </a:prstGeom>
          <a:noFill/>
        </p:spPr>
        <p:txBody>
          <a:bodyPr wrap="square" anchor="t" lIns="0" tIns="0" rIns="0" bIns="0">
            <a:spAutoFit/>
          </a:bodyPr>
          <a:lstStyle/>
          <a:p>
            <a:pPr algn="l">
              <a:lnSpc>
                <a:spcPct val="100000"/>
              </a:lnSpc>
              <a:spcBef>
                <a:spcPts val="0"/>
              </a:spcBef>
              <a:spcAft>
                <a:spcPts val="0"/>
              </a:spcAft>
            </a:pPr>
            <a:r>
              <a:rPr sz="940" b="1" i="1">
                <a:solidFill>
                  <a:srgbClr val="FFFFFF"/>
                </a:solidFill>
                <a:latin typeface="Georgia"/>
                <a:ea typeface="Microsoft YaHei"/>
                <a:cs typeface="Georgia"/>
              </a:rPr>
              <a:t>“Like many things, English is at times a blessing</a:t>
            </a:r>
          </a:p>
          <a:p>
            <a:pPr algn="l">
              <a:lnSpc>
                <a:spcPct val="100000"/>
              </a:lnSpc>
              <a:spcBef>
                <a:spcPts val="0"/>
              </a:spcBef>
              <a:spcAft>
                <a:spcPts val="0"/>
              </a:spcAft>
            </a:pPr>
            <a:r>
              <a:rPr sz="940" b="1" i="1">
                <a:solidFill>
                  <a:srgbClr val="FFFFFF"/>
                </a:solidFill>
                <a:latin typeface="Georgia"/>
                <a:ea typeface="Microsoft YaHei"/>
                <a:cs typeface="Georgia"/>
              </a:rPr>
              <a:t>and at times a curse.”</a:t>
            </a:r>
          </a:p>
        </p:txBody>
      </p:sp>
      <p:sp>
        <p:nvSpPr>
          <p:cNvPr id="52" name="TextBox 51"/>
          <p:cNvSpPr txBox="1"/>
          <p:nvPr/>
        </p:nvSpPr>
        <p:spPr>
          <a:xfrm>
            <a:off x="7443216" y="5742432"/>
            <a:ext cx="4005072" cy="256032"/>
          </a:xfrm>
          <a:prstGeom prst="rect">
            <a:avLst/>
          </a:prstGeom>
          <a:noFill/>
        </p:spPr>
        <p:txBody>
          <a:bodyPr wrap="square" anchor="t" lIns="0" tIns="0" rIns="0" bIns="0">
            <a:spAutoFit/>
          </a:bodyPr>
          <a:lstStyle/>
          <a:p>
            <a:pPr algn="l">
              <a:lnSpc>
                <a:spcPct val="100000"/>
              </a:lnSpc>
              <a:spcBef>
                <a:spcPts val="0"/>
              </a:spcBef>
              <a:spcAft>
                <a:spcPts val="0"/>
              </a:spcAft>
            </a:pPr>
            <a:r>
              <a:rPr sz="780" b="0" i="0">
                <a:solidFill>
                  <a:srgbClr val="D8E0E9"/>
                </a:solidFill>
                <a:latin typeface="Calibri"/>
                <a:ea typeface="Microsoft YaHei"/>
                <a:cs typeface="Calibri"/>
              </a:rPr>
              <a:t>正如许多事物一样，英语有时是一种福音，有时是一种诅咒。</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8F5"/>
        </a:solidFill>
        <a:effectLst/>
      </p:bgPr>
    </p:bg>
    <p:spTree>
      <p:nvGrpSpPr>
        <p:cNvPr id="1" name=""/>
        <p:cNvGrpSpPr/>
        <p:nvPr/>
      </p:nvGrpSpPr>
      <p:grpSpPr/>
      <p:sp>
        <p:nvSpPr>
          <p:cNvPr id="2" name="Rectangle 1"/>
          <p:cNvSpPr/>
          <p:nvPr/>
        </p:nvSpPr>
        <p:spPr>
          <a:xfrm>
            <a:off x="0" y="0"/>
            <a:ext cx="12191695" cy="402336"/>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Rectangle 2"/>
          <p:cNvSpPr/>
          <p:nvPr/>
        </p:nvSpPr>
        <p:spPr>
          <a:xfrm>
            <a:off x="502920" y="137160"/>
            <a:ext cx="77724" cy="128016"/>
          </a:xfrm>
          <a:prstGeom prst="rect">
            <a:avLst/>
          </a:prstGeom>
          <a:solidFill>
            <a:srgbClr val="C84B3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extBox 3"/>
          <p:cNvSpPr txBox="1"/>
          <p:nvPr/>
        </p:nvSpPr>
        <p:spPr>
          <a:xfrm>
            <a:off x="685800" y="123444"/>
            <a:ext cx="6400800" cy="164592"/>
          </a:xfrm>
          <a:prstGeom prst="rect">
            <a:avLst/>
          </a:prstGeom>
          <a:noFill/>
        </p:spPr>
        <p:txBody>
          <a:bodyPr wrap="square" anchor="t" lIns="0" tIns="0" rIns="0" bIns="0">
            <a:spAutoFit/>
          </a:bodyPr>
          <a:lstStyle/>
          <a:p>
            <a:pPr algn="l">
              <a:lnSpc>
                <a:spcPct val="102000"/>
              </a:lnSpc>
              <a:spcBef>
                <a:spcPts val="0"/>
              </a:spcBef>
              <a:spcAft>
                <a:spcPts val="0"/>
              </a:spcAft>
            </a:pPr>
            <a:r>
              <a:rPr sz="780" b="1" i="0" spc="110">
                <a:solidFill>
                  <a:srgbClr val="FFFFFF"/>
                </a:solidFill>
                <a:latin typeface="Calibri"/>
                <a:ea typeface="Microsoft YaHei"/>
                <a:cs typeface="Calibri"/>
              </a:rPr>
              <a:t>LANGUAGE &amp; CULTURE   /   PARAGRAPHS 7–8</a:t>
            </a:r>
          </a:p>
        </p:txBody>
      </p:sp>
      <p:sp>
        <p:nvSpPr>
          <p:cNvPr id="5" name="Rectangle 4"/>
          <p:cNvSpPr/>
          <p:nvPr/>
        </p:nvSpPr>
        <p:spPr>
          <a:xfrm>
            <a:off x="9710928" y="185623"/>
            <a:ext cx="96012" cy="31089"/>
          </a:xfrm>
          <a:prstGeom prst="rect">
            <a:avLst/>
          </a:prstGeom>
          <a:solidFill>
            <a:srgbClr val="6C7F9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Rectangle 5"/>
          <p:cNvSpPr/>
          <p:nvPr/>
        </p:nvSpPr>
        <p:spPr>
          <a:xfrm>
            <a:off x="9852659" y="185623"/>
            <a:ext cx="96012" cy="31089"/>
          </a:xfrm>
          <a:prstGeom prst="rect">
            <a:avLst/>
          </a:prstGeom>
          <a:solidFill>
            <a:srgbClr val="6C7F9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 name="Rectangle 6"/>
          <p:cNvSpPr/>
          <p:nvPr/>
        </p:nvSpPr>
        <p:spPr>
          <a:xfrm>
            <a:off x="9994392" y="185623"/>
            <a:ext cx="96012" cy="31089"/>
          </a:xfrm>
          <a:prstGeom prst="rect">
            <a:avLst/>
          </a:prstGeom>
          <a:solidFill>
            <a:srgbClr val="6C7F9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ectangle 7"/>
          <p:cNvSpPr/>
          <p:nvPr/>
        </p:nvSpPr>
        <p:spPr>
          <a:xfrm>
            <a:off x="10136124" y="185623"/>
            <a:ext cx="96012" cy="31089"/>
          </a:xfrm>
          <a:prstGeom prst="rect">
            <a:avLst/>
          </a:prstGeom>
          <a:solidFill>
            <a:srgbClr val="6C7F9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ectangle 8"/>
          <p:cNvSpPr/>
          <p:nvPr/>
        </p:nvSpPr>
        <p:spPr>
          <a:xfrm>
            <a:off x="10277855" y="185623"/>
            <a:ext cx="96012" cy="31089"/>
          </a:xfrm>
          <a:prstGeom prst="rect">
            <a:avLst/>
          </a:prstGeom>
          <a:solidFill>
            <a:srgbClr val="6C7F9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Rectangle 9"/>
          <p:cNvSpPr/>
          <p:nvPr/>
        </p:nvSpPr>
        <p:spPr>
          <a:xfrm>
            <a:off x="10419588" y="185623"/>
            <a:ext cx="96012" cy="31089"/>
          </a:xfrm>
          <a:prstGeom prst="rect">
            <a:avLst/>
          </a:prstGeom>
          <a:solidFill>
            <a:srgbClr val="6C7F9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ectangle 10"/>
          <p:cNvSpPr/>
          <p:nvPr/>
        </p:nvSpPr>
        <p:spPr>
          <a:xfrm>
            <a:off x="10561319" y="185623"/>
            <a:ext cx="96012" cy="31089"/>
          </a:xfrm>
          <a:prstGeom prst="rect">
            <a:avLst/>
          </a:prstGeom>
          <a:solidFill>
            <a:srgbClr val="6C7F9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Rectangle 11"/>
          <p:cNvSpPr/>
          <p:nvPr/>
        </p:nvSpPr>
        <p:spPr>
          <a:xfrm>
            <a:off x="10703051" y="185623"/>
            <a:ext cx="96012" cy="31089"/>
          </a:xfrm>
          <a:prstGeom prst="rect">
            <a:avLst/>
          </a:prstGeom>
          <a:solidFill>
            <a:srgbClr val="C84B3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TextBox 12"/>
          <p:cNvSpPr txBox="1"/>
          <p:nvPr/>
        </p:nvSpPr>
        <p:spPr>
          <a:xfrm>
            <a:off x="10917936" y="118872"/>
            <a:ext cx="777240" cy="164592"/>
          </a:xfrm>
          <a:prstGeom prst="rect">
            <a:avLst/>
          </a:prstGeom>
          <a:noFill/>
        </p:spPr>
        <p:txBody>
          <a:bodyPr wrap="square" anchor="t" lIns="0" tIns="0" rIns="0" bIns="0">
            <a:spAutoFit/>
          </a:bodyPr>
          <a:lstStyle/>
          <a:p>
            <a:pPr algn="r">
              <a:lnSpc>
                <a:spcPct val="102000"/>
              </a:lnSpc>
              <a:spcBef>
                <a:spcPts val="0"/>
              </a:spcBef>
              <a:spcAft>
                <a:spcPts val="0"/>
              </a:spcAft>
            </a:pPr>
            <a:r>
              <a:rPr sz="760" b="1" i="0" spc="50">
                <a:solidFill>
                  <a:srgbClr val="FFFFFF"/>
                </a:solidFill>
                <a:latin typeface="Calibri"/>
                <a:ea typeface="Microsoft YaHei"/>
                <a:cs typeface="Calibri"/>
              </a:rPr>
              <a:t>08 / 08</a:t>
            </a:r>
          </a:p>
        </p:txBody>
      </p:sp>
      <p:sp>
        <p:nvSpPr>
          <p:cNvPr id="14" name="TextBox 13"/>
          <p:cNvSpPr txBox="1"/>
          <p:nvPr/>
        </p:nvSpPr>
        <p:spPr>
          <a:xfrm>
            <a:off x="502920" y="576072"/>
            <a:ext cx="10972800" cy="438912"/>
          </a:xfrm>
          <a:prstGeom prst="rect">
            <a:avLst/>
          </a:prstGeom>
          <a:noFill/>
        </p:spPr>
        <p:txBody>
          <a:bodyPr wrap="square" anchor="t" lIns="0" tIns="0" rIns="0" bIns="0">
            <a:spAutoFit/>
          </a:bodyPr>
          <a:lstStyle/>
          <a:p>
            <a:pPr algn="l">
              <a:lnSpc>
                <a:spcPct val="102000"/>
              </a:lnSpc>
              <a:spcBef>
                <a:spcPts val="0"/>
              </a:spcBef>
              <a:spcAft>
                <a:spcPts val="0"/>
              </a:spcAft>
            </a:pPr>
            <a:r>
              <a:rPr sz="2350" b="1" i="0">
                <a:solidFill>
                  <a:srgbClr val="1B365D"/>
                </a:solidFill>
                <a:latin typeface="Georgia"/>
                <a:ea typeface="Microsoft YaHei"/>
                <a:cs typeface="Georgia"/>
              </a:rPr>
              <a:t>课堂速记与复盘导图</a:t>
            </a:r>
          </a:p>
        </p:txBody>
      </p:sp>
      <p:sp>
        <p:nvSpPr>
          <p:cNvPr id="15" name="TextBox 14"/>
          <p:cNvSpPr txBox="1"/>
          <p:nvPr/>
        </p:nvSpPr>
        <p:spPr>
          <a:xfrm>
            <a:off x="502920" y="1042415"/>
            <a:ext cx="10789920" cy="173736"/>
          </a:xfrm>
          <a:prstGeom prst="rect">
            <a:avLst/>
          </a:prstGeom>
          <a:noFill/>
        </p:spPr>
        <p:txBody>
          <a:bodyPr wrap="square" anchor="t" lIns="0" tIns="0" rIns="0" bIns="0">
            <a:spAutoFit/>
          </a:bodyPr>
          <a:lstStyle/>
          <a:p>
            <a:pPr algn="l">
              <a:lnSpc>
                <a:spcPct val="102000"/>
              </a:lnSpc>
              <a:spcBef>
                <a:spcPts val="0"/>
              </a:spcBef>
              <a:spcAft>
                <a:spcPts val="0"/>
              </a:spcAft>
            </a:pPr>
            <a:r>
              <a:rPr sz="780" b="1" i="0" spc="110">
                <a:solidFill>
                  <a:srgbClr val="707984"/>
                </a:solidFill>
                <a:latin typeface="Calibri"/>
                <a:ea typeface="Microsoft YaHei"/>
                <a:cs typeface="Calibri"/>
              </a:rPr>
              <a:t>SUMMARY &amp; REVIEW  ·  ONE LANGUAGE, TWO OUTCOMES</a:t>
            </a:r>
          </a:p>
        </p:txBody>
      </p:sp>
      <p:sp>
        <p:nvSpPr>
          <p:cNvPr id="16" name="Rectangle 15"/>
          <p:cNvSpPr/>
          <p:nvPr/>
        </p:nvSpPr>
        <p:spPr>
          <a:xfrm>
            <a:off x="502920" y="1243584"/>
            <a:ext cx="987552" cy="32004"/>
          </a:xfrm>
          <a:prstGeom prst="rect">
            <a:avLst/>
          </a:prstGeom>
          <a:solidFill>
            <a:srgbClr val="C84B3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ounded Rectangle 16"/>
          <p:cNvSpPr/>
          <p:nvPr/>
        </p:nvSpPr>
        <p:spPr>
          <a:xfrm>
            <a:off x="502920" y="1389888"/>
            <a:ext cx="5230368" cy="3685032"/>
          </a:xfrm>
          <a:prstGeom prst="roundRect">
            <a:avLst>
              <a:gd name="adj" fmla="val 2800"/>
            </a:avLst>
          </a:prstGeom>
          <a:solidFill>
            <a:srgbClr val="FFFDF9"/>
          </a:solidFill>
          <a:ln w="10160">
            <a:solidFill>
              <a:srgbClr val="DFD7CB"/>
            </a:solidFill>
          </a:ln>
          <a:effectLst>
            <a:outerShdw blurRad="152400" dist="38100" dir="5400000" algn="ctr" rotWithShape="0">
              <a:srgbClr val="1B365D">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Rectangle 17"/>
          <p:cNvSpPr/>
          <p:nvPr/>
        </p:nvSpPr>
        <p:spPr>
          <a:xfrm>
            <a:off x="502920" y="1389888"/>
            <a:ext cx="5230368" cy="68580"/>
          </a:xfrm>
          <a:prstGeom prst="rect">
            <a:avLst/>
          </a:prstGeom>
          <a:solidFill>
            <a:srgbClr val="C84B3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TextBox 18"/>
          <p:cNvSpPr txBox="1"/>
          <p:nvPr/>
        </p:nvSpPr>
        <p:spPr>
          <a:xfrm>
            <a:off x="804672" y="1618488"/>
            <a:ext cx="4389120" cy="146304"/>
          </a:xfrm>
          <a:prstGeom prst="rect">
            <a:avLst/>
          </a:prstGeom>
          <a:noFill/>
        </p:spPr>
        <p:txBody>
          <a:bodyPr wrap="square" anchor="t" lIns="0" tIns="0" rIns="0" bIns="0">
            <a:spAutoFit/>
          </a:bodyPr>
          <a:lstStyle/>
          <a:p>
            <a:pPr algn="l">
              <a:lnSpc>
                <a:spcPct val="102000"/>
              </a:lnSpc>
              <a:spcBef>
                <a:spcPts val="0"/>
              </a:spcBef>
              <a:spcAft>
                <a:spcPts val="0"/>
              </a:spcAft>
            </a:pPr>
            <a:r>
              <a:rPr sz="720" b="1" i="0" spc="110">
                <a:solidFill>
                  <a:srgbClr val="707984"/>
                </a:solidFill>
                <a:latin typeface="Calibri"/>
                <a:ea typeface="Microsoft YaHei"/>
                <a:cs typeface="Calibri"/>
              </a:rPr>
              <a:t>CASE 01  ·  AUSTRALIA</a:t>
            </a:r>
          </a:p>
        </p:txBody>
      </p:sp>
      <p:sp>
        <p:nvSpPr>
          <p:cNvPr id="20" name="TextBox 19"/>
          <p:cNvSpPr txBox="1"/>
          <p:nvPr/>
        </p:nvSpPr>
        <p:spPr>
          <a:xfrm>
            <a:off x="804672" y="1847088"/>
            <a:ext cx="4526280" cy="438912"/>
          </a:xfrm>
          <a:prstGeom prst="rect">
            <a:avLst/>
          </a:prstGeom>
          <a:noFill/>
        </p:spPr>
        <p:txBody>
          <a:bodyPr wrap="square" anchor="t" lIns="0" tIns="0" rIns="0" bIns="0">
            <a:spAutoFit/>
          </a:bodyPr>
          <a:lstStyle/>
          <a:p>
            <a:pPr algn="l">
              <a:lnSpc>
                <a:spcPct val="102000"/>
              </a:lnSpc>
              <a:spcBef>
                <a:spcPts val="0"/>
              </a:spcBef>
              <a:spcAft>
                <a:spcPts val="0"/>
              </a:spcAft>
            </a:pPr>
            <a:r>
              <a:rPr sz="2600" b="1" i="0">
                <a:solidFill>
                  <a:srgbClr val="C84B31"/>
                </a:solidFill>
                <a:latin typeface="Georgia"/>
                <a:ea typeface="Microsoft YaHei"/>
                <a:cs typeface="Georgia"/>
              </a:rPr>
              <a:t>A Curse</a:t>
            </a:r>
          </a:p>
        </p:txBody>
      </p:sp>
      <p:sp>
        <p:nvSpPr>
          <p:cNvPr id="21" name="TextBox 20"/>
          <p:cNvSpPr txBox="1"/>
          <p:nvPr/>
        </p:nvSpPr>
        <p:spPr>
          <a:xfrm>
            <a:off x="804672" y="2313432"/>
            <a:ext cx="4553712" cy="228600"/>
          </a:xfrm>
          <a:prstGeom prst="rect">
            <a:avLst/>
          </a:prstGeom>
          <a:noFill/>
        </p:spPr>
        <p:txBody>
          <a:bodyPr wrap="square" anchor="t" lIns="0" tIns="0" rIns="0" bIns="0">
            <a:spAutoFit/>
          </a:bodyPr>
          <a:lstStyle/>
          <a:p>
            <a:pPr algn="l">
              <a:lnSpc>
                <a:spcPct val="102000"/>
              </a:lnSpc>
              <a:spcBef>
                <a:spcPts val="0"/>
              </a:spcBef>
              <a:spcAft>
                <a:spcPts val="0"/>
              </a:spcAft>
            </a:pPr>
            <a:r>
              <a:rPr sz="1019" b="0" i="0">
                <a:solidFill>
                  <a:srgbClr val="2C3E50"/>
                </a:solidFill>
                <a:latin typeface="Calibri"/>
                <a:ea typeface="Microsoft YaHei"/>
                <a:cs typeface="Calibri"/>
              </a:rPr>
              <a:t>一种诅咒  ·  语言与文化多样性受到威胁</a:t>
            </a:r>
          </a:p>
        </p:txBody>
      </p:sp>
      <p:sp>
        <p:nvSpPr>
          <p:cNvPr id="22" name="Rectangle 21"/>
          <p:cNvSpPr/>
          <p:nvPr/>
        </p:nvSpPr>
        <p:spPr>
          <a:xfrm>
            <a:off x="804672" y="2660904"/>
            <a:ext cx="4526280" cy="10972"/>
          </a:xfrm>
          <a:prstGeom prst="rect">
            <a:avLst/>
          </a:prstGeom>
          <a:solidFill>
            <a:srgbClr val="DFD7CB"/>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xtBox 22"/>
          <p:cNvSpPr txBox="1"/>
          <p:nvPr/>
        </p:nvSpPr>
        <p:spPr>
          <a:xfrm>
            <a:off x="804672" y="2807208"/>
            <a:ext cx="4069080" cy="155448"/>
          </a:xfrm>
          <a:prstGeom prst="rect">
            <a:avLst/>
          </a:prstGeom>
          <a:noFill/>
        </p:spPr>
        <p:txBody>
          <a:bodyPr wrap="square" anchor="t" lIns="0" tIns="0" rIns="0" bIns="0">
            <a:spAutoFit/>
          </a:bodyPr>
          <a:lstStyle/>
          <a:p>
            <a:pPr algn="l">
              <a:lnSpc>
                <a:spcPct val="102000"/>
              </a:lnSpc>
              <a:spcBef>
                <a:spcPts val="0"/>
              </a:spcBef>
              <a:spcAft>
                <a:spcPts val="0"/>
              </a:spcAft>
            </a:pPr>
            <a:r>
              <a:rPr sz="690" b="1" i="0" spc="100">
                <a:solidFill>
                  <a:srgbClr val="C84B31"/>
                </a:solidFill>
                <a:latin typeface="Calibri"/>
                <a:ea typeface="Microsoft YaHei"/>
                <a:cs typeface="Calibri"/>
              </a:rPr>
              <a:t>因果链  /  PATHWAY</a:t>
            </a:r>
          </a:p>
        </p:txBody>
      </p:sp>
      <p:sp>
        <p:nvSpPr>
          <p:cNvPr id="24" name="Rounded Rectangle 23"/>
          <p:cNvSpPr/>
          <p:nvPr/>
        </p:nvSpPr>
        <p:spPr>
          <a:xfrm>
            <a:off x="822960" y="3154680"/>
            <a:ext cx="246888" cy="246888"/>
          </a:xfrm>
          <a:prstGeom prst="roundRect">
            <a:avLst>
              <a:gd name="adj" fmla="val 50000"/>
            </a:avLst>
          </a:prstGeom>
          <a:solidFill>
            <a:srgbClr val="C84B3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TextBox 24"/>
          <p:cNvSpPr txBox="1"/>
          <p:nvPr/>
        </p:nvSpPr>
        <p:spPr>
          <a:xfrm>
            <a:off x="822960" y="3204972"/>
            <a:ext cx="246888" cy="109728"/>
          </a:xfrm>
          <a:prstGeom prst="rect">
            <a:avLst/>
          </a:prstGeom>
          <a:noFill/>
        </p:spPr>
        <p:txBody>
          <a:bodyPr wrap="square" anchor="t" lIns="0" tIns="0" rIns="0" bIns="0">
            <a:spAutoFit/>
          </a:bodyPr>
          <a:lstStyle/>
          <a:p>
            <a:pPr algn="ctr">
              <a:lnSpc>
                <a:spcPct val="102000"/>
              </a:lnSpc>
              <a:spcBef>
                <a:spcPts val="0"/>
              </a:spcBef>
              <a:spcAft>
                <a:spcPts val="0"/>
              </a:spcAft>
            </a:pPr>
            <a:r>
              <a:rPr sz="560" b="1" i="0">
                <a:solidFill>
                  <a:srgbClr val="FFFFFF"/>
                </a:solidFill>
                <a:latin typeface="Calibri"/>
                <a:ea typeface="Microsoft YaHei"/>
                <a:cs typeface="Calibri"/>
              </a:rPr>
              <a:t>01</a:t>
            </a:r>
          </a:p>
        </p:txBody>
      </p:sp>
      <p:sp>
        <p:nvSpPr>
          <p:cNvPr id="26" name="TextBox 25"/>
          <p:cNvSpPr txBox="1"/>
          <p:nvPr/>
        </p:nvSpPr>
        <p:spPr>
          <a:xfrm>
            <a:off x="1207008" y="3136392"/>
            <a:ext cx="4069080" cy="182880"/>
          </a:xfrm>
          <a:prstGeom prst="rect">
            <a:avLst/>
          </a:prstGeom>
          <a:noFill/>
        </p:spPr>
        <p:txBody>
          <a:bodyPr wrap="square" anchor="t" lIns="0" tIns="0" rIns="0" bIns="0">
            <a:spAutoFit/>
          </a:bodyPr>
          <a:lstStyle/>
          <a:p>
            <a:pPr algn="l">
              <a:lnSpc>
                <a:spcPct val="102000"/>
              </a:lnSpc>
              <a:spcBef>
                <a:spcPts val="0"/>
              </a:spcBef>
              <a:spcAft>
                <a:spcPts val="0"/>
              </a:spcAft>
            </a:pPr>
            <a:r>
              <a:rPr sz="980" b="1" i="0">
                <a:solidFill>
                  <a:srgbClr val="1B365D"/>
                </a:solidFill>
                <a:latin typeface="Calibri"/>
                <a:ea typeface="Microsoft YaHei"/>
                <a:cs typeface="Calibri"/>
              </a:rPr>
              <a:t>殖民扩张</a:t>
            </a:r>
          </a:p>
        </p:txBody>
      </p:sp>
      <p:sp>
        <p:nvSpPr>
          <p:cNvPr id="27" name="TextBox 26"/>
          <p:cNvSpPr txBox="1"/>
          <p:nvPr/>
        </p:nvSpPr>
        <p:spPr>
          <a:xfrm>
            <a:off x="1207008" y="3337560"/>
            <a:ext cx="4069080" cy="164592"/>
          </a:xfrm>
          <a:prstGeom prst="rect">
            <a:avLst/>
          </a:prstGeom>
          <a:noFill/>
        </p:spPr>
        <p:txBody>
          <a:bodyPr wrap="square" anchor="t" lIns="0" tIns="0" rIns="0" bIns="0">
            <a:spAutoFit/>
          </a:bodyPr>
          <a:lstStyle/>
          <a:p>
            <a:pPr algn="l">
              <a:lnSpc>
                <a:spcPct val="102000"/>
              </a:lnSpc>
              <a:spcBef>
                <a:spcPts val="0"/>
              </a:spcBef>
              <a:spcAft>
                <a:spcPts val="0"/>
              </a:spcAft>
            </a:pPr>
            <a:r>
              <a:rPr sz="850" b="0" i="0">
                <a:solidFill>
                  <a:srgbClr val="2C3E50"/>
                </a:solidFill>
                <a:latin typeface="Calibri"/>
                <a:ea typeface="Microsoft YaHei"/>
                <a:cs typeface="Calibri"/>
              </a:rPr>
              <a:t>吞噬原住民语言</a:t>
            </a:r>
          </a:p>
        </p:txBody>
      </p:sp>
      <p:sp>
        <p:nvSpPr>
          <p:cNvPr id="28" name="Rectangle 27"/>
          <p:cNvSpPr/>
          <p:nvPr/>
        </p:nvSpPr>
        <p:spPr>
          <a:xfrm>
            <a:off x="937259" y="3438144"/>
            <a:ext cx="10972" cy="192024"/>
          </a:xfrm>
          <a:prstGeom prst="rect">
            <a:avLst/>
          </a:prstGeom>
          <a:solidFill>
            <a:srgbClr val="DFD7CB"/>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Rounded Rectangle 28"/>
          <p:cNvSpPr/>
          <p:nvPr/>
        </p:nvSpPr>
        <p:spPr>
          <a:xfrm>
            <a:off x="822960" y="3666744"/>
            <a:ext cx="246888" cy="246888"/>
          </a:xfrm>
          <a:prstGeom prst="roundRect">
            <a:avLst>
              <a:gd name="adj" fmla="val 50000"/>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xtBox 29"/>
          <p:cNvSpPr txBox="1"/>
          <p:nvPr/>
        </p:nvSpPr>
        <p:spPr>
          <a:xfrm>
            <a:off x="822960" y="3717036"/>
            <a:ext cx="246888" cy="109728"/>
          </a:xfrm>
          <a:prstGeom prst="rect">
            <a:avLst/>
          </a:prstGeom>
          <a:noFill/>
        </p:spPr>
        <p:txBody>
          <a:bodyPr wrap="square" anchor="t" lIns="0" tIns="0" rIns="0" bIns="0">
            <a:spAutoFit/>
          </a:bodyPr>
          <a:lstStyle/>
          <a:p>
            <a:pPr algn="ctr">
              <a:lnSpc>
                <a:spcPct val="102000"/>
              </a:lnSpc>
              <a:spcBef>
                <a:spcPts val="0"/>
              </a:spcBef>
              <a:spcAft>
                <a:spcPts val="0"/>
              </a:spcAft>
            </a:pPr>
            <a:r>
              <a:rPr sz="560" b="1" i="0">
                <a:solidFill>
                  <a:srgbClr val="FFFFFF"/>
                </a:solidFill>
                <a:latin typeface="Calibri"/>
                <a:ea typeface="Microsoft YaHei"/>
                <a:cs typeface="Calibri"/>
              </a:rPr>
              <a:t>02</a:t>
            </a:r>
          </a:p>
        </p:txBody>
      </p:sp>
      <p:sp>
        <p:nvSpPr>
          <p:cNvPr id="31" name="TextBox 30"/>
          <p:cNvSpPr txBox="1"/>
          <p:nvPr/>
        </p:nvSpPr>
        <p:spPr>
          <a:xfrm>
            <a:off x="1207008" y="3648456"/>
            <a:ext cx="4069080" cy="182880"/>
          </a:xfrm>
          <a:prstGeom prst="rect">
            <a:avLst/>
          </a:prstGeom>
          <a:noFill/>
        </p:spPr>
        <p:txBody>
          <a:bodyPr wrap="square" anchor="t" lIns="0" tIns="0" rIns="0" bIns="0">
            <a:spAutoFit/>
          </a:bodyPr>
          <a:lstStyle/>
          <a:p>
            <a:pPr algn="l">
              <a:lnSpc>
                <a:spcPct val="102000"/>
              </a:lnSpc>
              <a:spcBef>
                <a:spcPts val="0"/>
              </a:spcBef>
              <a:spcAft>
                <a:spcPts val="0"/>
              </a:spcAft>
            </a:pPr>
            <a:r>
              <a:rPr sz="980" b="1" i="0">
                <a:solidFill>
                  <a:srgbClr val="1B365D"/>
                </a:solidFill>
                <a:latin typeface="Calibri"/>
                <a:ea typeface="Microsoft YaHei"/>
                <a:cs typeface="Calibri"/>
              </a:rPr>
              <a:t>英语危及弱小语言</a:t>
            </a:r>
          </a:p>
        </p:txBody>
      </p:sp>
      <p:sp>
        <p:nvSpPr>
          <p:cNvPr id="32" name="TextBox 31"/>
          <p:cNvSpPr txBox="1"/>
          <p:nvPr/>
        </p:nvSpPr>
        <p:spPr>
          <a:xfrm>
            <a:off x="1207008" y="3849624"/>
            <a:ext cx="4069080" cy="164592"/>
          </a:xfrm>
          <a:prstGeom prst="rect">
            <a:avLst/>
          </a:prstGeom>
          <a:noFill/>
        </p:spPr>
        <p:txBody>
          <a:bodyPr wrap="square" anchor="t" lIns="0" tIns="0" rIns="0" bIns="0">
            <a:spAutoFit/>
          </a:bodyPr>
          <a:lstStyle/>
          <a:p>
            <a:pPr algn="l">
              <a:lnSpc>
                <a:spcPct val="102000"/>
              </a:lnSpc>
              <a:spcBef>
                <a:spcPts val="0"/>
              </a:spcBef>
              <a:spcAft>
                <a:spcPts val="0"/>
              </a:spcAft>
            </a:pPr>
            <a:r>
              <a:rPr sz="850" b="0" i="0">
                <a:solidFill>
                  <a:srgbClr val="2C3E50"/>
                </a:solidFill>
                <a:latin typeface="Calibri"/>
                <a:ea typeface="Microsoft YaHei"/>
                <a:cs typeface="Calibri"/>
              </a:rPr>
              <a:t>文化多样性受到威胁</a:t>
            </a:r>
          </a:p>
        </p:txBody>
      </p:sp>
      <p:sp>
        <p:nvSpPr>
          <p:cNvPr id="33" name="Rounded Rectangle 32"/>
          <p:cNvSpPr/>
          <p:nvPr/>
        </p:nvSpPr>
        <p:spPr>
          <a:xfrm>
            <a:off x="804672" y="4233672"/>
            <a:ext cx="4636008" cy="585216"/>
          </a:xfrm>
          <a:prstGeom prst="roundRect">
            <a:avLst>
              <a:gd name="adj" fmla="val 4000"/>
            </a:avLst>
          </a:prstGeom>
          <a:solidFill>
            <a:srgbClr val="F8ECE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TextBox 33"/>
          <p:cNvSpPr txBox="1"/>
          <p:nvPr/>
        </p:nvSpPr>
        <p:spPr>
          <a:xfrm>
            <a:off x="950976" y="4297680"/>
            <a:ext cx="4206240" cy="118872"/>
          </a:xfrm>
          <a:prstGeom prst="rect">
            <a:avLst/>
          </a:prstGeom>
          <a:noFill/>
        </p:spPr>
        <p:txBody>
          <a:bodyPr wrap="square" anchor="t" lIns="0" tIns="0" rIns="0" bIns="0">
            <a:spAutoFit/>
          </a:bodyPr>
          <a:lstStyle/>
          <a:p>
            <a:pPr algn="l">
              <a:lnSpc>
                <a:spcPct val="102000"/>
              </a:lnSpc>
              <a:spcBef>
                <a:spcPts val="0"/>
              </a:spcBef>
              <a:spcAft>
                <a:spcPts val="0"/>
              </a:spcAft>
            </a:pPr>
            <a:r>
              <a:rPr sz="640" b="1" i="0" spc="100">
                <a:solidFill>
                  <a:srgbClr val="C84B31"/>
                </a:solidFill>
                <a:latin typeface="Calibri"/>
                <a:ea typeface="Microsoft YaHei"/>
                <a:cs typeface="Calibri"/>
              </a:rPr>
              <a:t>KEY PHRASE</a:t>
            </a:r>
          </a:p>
        </p:txBody>
      </p:sp>
      <p:sp>
        <p:nvSpPr>
          <p:cNvPr id="35" name="TextBox 34"/>
          <p:cNvSpPr txBox="1"/>
          <p:nvPr/>
        </p:nvSpPr>
        <p:spPr>
          <a:xfrm>
            <a:off x="950976" y="4443984"/>
            <a:ext cx="4224528" cy="182880"/>
          </a:xfrm>
          <a:prstGeom prst="rect">
            <a:avLst/>
          </a:prstGeom>
          <a:noFill/>
        </p:spPr>
        <p:txBody>
          <a:bodyPr wrap="square" anchor="t" lIns="0" tIns="0" rIns="0" bIns="0">
            <a:spAutoFit/>
          </a:bodyPr>
          <a:lstStyle/>
          <a:p>
            <a:pPr algn="l">
              <a:lnSpc>
                <a:spcPct val="102000"/>
              </a:lnSpc>
              <a:spcBef>
                <a:spcPts val="0"/>
              </a:spcBef>
              <a:spcAft>
                <a:spcPts val="0"/>
              </a:spcAft>
            </a:pPr>
            <a:r>
              <a:rPr sz="1050" b="1" i="0">
                <a:solidFill>
                  <a:srgbClr val="1B365D"/>
                </a:solidFill>
                <a:latin typeface="Georgia"/>
                <a:ea typeface="Microsoft YaHei"/>
                <a:cs typeface="Georgia"/>
              </a:rPr>
              <a:t>endanger smaller languages</a:t>
            </a:r>
          </a:p>
        </p:txBody>
      </p:sp>
      <p:sp>
        <p:nvSpPr>
          <p:cNvPr id="36" name="Rounded Rectangle 35"/>
          <p:cNvSpPr/>
          <p:nvPr/>
        </p:nvSpPr>
        <p:spPr>
          <a:xfrm>
            <a:off x="6446520" y="1389888"/>
            <a:ext cx="5239512" cy="3685032"/>
          </a:xfrm>
          <a:prstGeom prst="roundRect">
            <a:avLst>
              <a:gd name="adj" fmla="val 2800"/>
            </a:avLst>
          </a:prstGeom>
          <a:solidFill>
            <a:srgbClr val="FFFDF9"/>
          </a:solidFill>
          <a:ln w="10160">
            <a:solidFill>
              <a:srgbClr val="DFD7CB"/>
            </a:solidFill>
          </a:ln>
          <a:effectLst>
            <a:outerShdw blurRad="152400" dist="38100" dir="5400000" algn="ctr" rotWithShape="0">
              <a:srgbClr val="1B365D">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7" name="Rectangle 36"/>
          <p:cNvSpPr/>
          <p:nvPr/>
        </p:nvSpPr>
        <p:spPr>
          <a:xfrm>
            <a:off x="6446520" y="1389888"/>
            <a:ext cx="5239512" cy="6858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xtBox 37"/>
          <p:cNvSpPr txBox="1"/>
          <p:nvPr/>
        </p:nvSpPr>
        <p:spPr>
          <a:xfrm>
            <a:off x="6748272" y="1618488"/>
            <a:ext cx="4389120" cy="146304"/>
          </a:xfrm>
          <a:prstGeom prst="rect">
            <a:avLst/>
          </a:prstGeom>
          <a:noFill/>
        </p:spPr>
        <p:txBody>
          <a:bodyPr wrap="square" anchor="t" lIns="0" tIns="0" rIns="0" bIns="0">
            <a:spAutoFit/>
          </a:bodyPr>
          <a:lstStyle/>
          <a:p>
            <a:pPr algn="l">
              <a:lnSpc>
                <a:spcPct val="102000"/>
              </a:lnSpc>
              <a:spcBef>
                <a:spcPts val="0"/>
              </a:spcBef>
              <a:spcAft>
                <a:spcPts val="0"/>
              </a:spcAft>
            </a:pPr>
            <a:r>
              <a:rPr sz="720" b="1" i="0" spc="110">
                <a:solidFill>
                  <a:srgbClr val="707984"/>
                </a:solidFill>
                <a:latin typeface="Calibri"/>
                <a:ea typeface="Microsoft YaHei"/>
                <a:cs typeface="Calibri"/>
              </a:rPr>
              <a:t>CASE 02  ·  SOUTH AFRICA</a:t>
            </a:r>
          </a:p>
        </p:txBody>
      </p:sp>
      <p:sp>
        <p:nvSpPr>
          <p:cNvPr id="39" name="TextBox 38"/>
          <p:cNvSpPr txBox="1"/>
          <p:nvPr/>
        </p:nvSpPr>
        <p:spPr>
          <a:xfrm>
            <a:off x="6748272" y="1828800"/>
            <a:ext cx="4590288" cy="438912"/>
          </a:xfrm>
          <a:prstGeom prst="rect">
            <a:avLst/>
          </a:prstGeom>
          <a:noFill/>
        </p:spPr>
        <p:txBody>
          <a:bodyPr wrap="square" anchor="t" lIns="0" tIns="0" rIns="0" bIns="0">
            <a:spAutoFit/>
          </a:bodyPr>
          <a:lstStyle/>
          <a:p>
            <a:pPr algn="l">
              <a:lnSpc>
                <a:spcPct val="102000"/>
              </a:lnSpc>
              <a:spcBef>
                <a:spcPts val="0"/>
              </a:spcBef>
              <a:spcAft>
                <a:spcPts val="0"/>
              </a:spcAft>
            </a:pPr>
            <a:r>
              <a:rPr sz="2300" b="1" i="0">
                <a:solidFill>
                  <a:srgbClr val="1B365D"/>
                </a:solidFill>
                <a:latin typeface="Georgia"/>
                <a:ea typeface="Microsoft YaHei"/>
                <a:cs typeface="Georgia"/>
              </a:rPr>
              <a:t>Something of a Blessing</a:t>
            </a:r>
          </a:p>
        </p:txBody>
      </p:sp>
      <p:sp>
        <p:nvSpPr>
          <p:cNvPr id="40" name="TextBox 39"/>
          <p:cNvSpPr txBox="1"/>
          <p:nvPr/>
        </p:nvSpPr>
        <p:spPr>
          <a:xfrm>
            <a:off x="6748272" y="2313432"/>
            <a:ext cx="4553712" cy="228600"/>
          </a:xfrm>
          <a:prstGeom prst="rect">
            <a:avLst/>
          </a:prstGeom>
          <a:noFill/>
        </p:spPr>
        <p:txBody>
          <a:bodyPr wrap="square" anchor="t" lIns="0" tIns="0" rIns="0" bIns="0">
            <a:spAutoFit/>
          </a:bodyPr>
          <a:lstStyle/>
          <a:p>
            <a:pPr algn="l">
              <a:lnSpc>
                <a:spcPct val="102000"/>
              </a:lnSpc>
              <a:spcBef>
                <a:spcPts val="0"/>
              </a:spcBef>
              <a:spcAft>
                <a:spcPts val="0"/>
              </a:spcAft>
            </a:pPr>
            <a:r>
              <a:rPr sz="1019" b="0" i="0">
                <a:solidFill>
                  <a:srgbClr val="2C3E50"/>
                </a:solidFill>
                <a:latin typeface="Calibri"/>
                <a:ea typeface="Microsoft YaHei"/>
                <a:cs typeface="Calibri"/>
              </a:rPr>
              <a:t>一种福音  ·  自由、团结与正义的语言</a:t>
            </a:r>
          </a:p>
        </p:txBody>
      </p:sp>
      <p:sp>
        <p:nvSpPr>
          <p:cNvPr id="41" name="Rectangle 40"/>
          <p:cNvSpPr/>
          <p:nvPr/>
        </p:nvSpPr>
        <p:spPr>
          <a:xfrm>
            <a:off x="6748272" y="2660904"/>
            <a:ext cx="4526280" cy="10972"/>
          </a:xfrm>
          <a:prstGeom prst="rect">
            <a:avLst/>
          </a:prstGeom>
          <a:solidFill>
            <a:srgbClr val="DFD7CB"/>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xtBox 41"/>
          <p:cNvSpPr txBox="1"/>
          <p:nvPr/>
        </p:nvSpPr>
        <p:spPr>
          <a:xfrm>
            <a:off x="6748272" y="2807208"/>
            <a:ext cx="4069080" cy="155448"/>
          </a:xfrm>
          <a:prstGeom prst="rect">
            <a:avLst/>
          </a:prstGeom>
          <a:noFill/>
        </p:spPr>
        <p:txBody>
          <a:bodyPr wrap="square" anchor="t" lIns="0" tIns="0" rIns="0" bIns="0">
            <a:spAutoFit/>
          </a:bodyPr>
          <a:lstStyle/>
          <a:p>
            <a:pPr algn="l">
              <a:lnSpc>
                <a:spcPct val="102000"/>
              </a:lnSpc>
              <a:spcBef>
                <a:spcPts val="0"/>
              </a:spcBef>
              <a:spcAft>
                <a:spcPts val="0"/>
              </a:spcAft>
            </a:pPr>
            <a:r>
              <a:rPr sz="690" b="1" i="0" spc="100">
                <a:solidFill>
                  <a:srgbClr val="1B365D"/>
                </a:solidFill>
                <a:latin typeface="Calibri"/>
                <a:ea typeface="Microsoft YaHei"/>
                <a:cs typeface="Calibri"/>
              </a:rPr>
              <a:t>因果链  /  PATHWAY</a:t>
            </a:r>
          </a:p>
        </p:txBody>
      </p:sp>
      <p:sp>
        <p:nvSpPr>
          <p:cNvPr id="43" name="Rounded Rectangle 42"/>
          <p:cNvSpPr/>
          <p:nvPr/>
        </p:nvSpPr>
        <p:spPr>
          <a:xfrm>
            <a:off x="6766560" y="3154680"/>
            <a:ext cx="246888" cy="246888"/>
          </a:xfrm>
          <a:prstGeom prst="roundRect">
            <a:avLst>
              <a:gd name="adj" fmla="val 50000"/>
            </a:avLst>
          </a:prstGeom>
          <a:solidFill>
            <a:srgbClr val="C84B3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xtBox 43"/>
          <p:cNvSpPr txBox="1"/>
          <p:nvPr/>
        </p:nvSpPr>
        <p:spPr>
          <a:xfrm>
            <a:off x="6766560" y="3204972"/>
            <a:ext cx="246888" cy="109728"/>
          </a:xfrm>
          <a:prstGeom prst="rect">
            <a:avLst/>
          </a:prstGeom>
          <a:noFill/>
        </p:spPr>
        <p:txBody>
          <a:bodyPr wrap="square" anchor="t" lIns="0" tIns="0" rIns="0" bIns="0">
            <a:spAutoFit/>
          </a:bodyPr>
          <a:lstStyle/>
          <a:p>
            <a:pPr algn="ctr">
              <a:lnSpc>
                <a:spcPct val="102000"/>
              </a:lnSpc>
              <a:spcBef>
                <a:spcPts val="0"/>
              </a:spcBef>
              <a:spcAft>
                <a:spcPts val="0"/>
              </a:spcAft>
            </a:pPr>
            <a:r>
              <a:rPr sz="560" b="1" i="0">
                <a:solidFill>
                  <a:srgbClr val="FFFFFF"/>
                </a:solidFill>
                <a:latin typeface="Calibri"/>
                <a:ea typeface="Microsoft YaHei"/>
                <a:cs typeface="Calibri"/>
              </a:rPr>
              <a:t>01</a:t>
            </a:r>
          </a:p>
        </p:txBody>
      </p:sp>
      <p:sp>
        <p:nvSpPr>
          <p:cNvPr id="45" name="TextBox 44"/>
          <p:cNvSpPr txBox="1"/>
          <p:nvPr/>
        </p:nvSpPr>
        <p:spPr>
          <a:xfrm>
            <a:off x="7150608" y="3136392"/>
            <a:ext cx="4069080" cy="182880"/>
          </a:xfrm>
          <a:prstGeom prst="rect">
            <a:avLst/>
          </a:prstGeom>
          <a:noFill/>
        </p:spPr>
        <p:txBody>
          <a:bodyPr wrap="square" anchor="t" lIns="0" tIns="0" rIns="0" bIns="0">
            <a:spAutoFit/>
          </a:bodyPr>
          <a:lstStyle/>
          <a:p>
            <a:pPr algn="l">
              <a:lnSpc>
                <a:spcPct val="102000"/>
              </a:lnSpc>
              <a:spcBef>
                <a:spcPts val="0"/>
              </a:spcBef>
              <a:spcAft>
                <a:spcPts val="0"/>
              </a:spcAft>
            </a:pPr>
            <a:r>
              <a:rPr sz="980" b="1" i="0">
                <a:solidFill>
                  <a:srgbClr val="1B365D"/>
                </a:solidFill>
                <a:latin typeface="Calibri"/>
                <a:ea typeface="Microsoft YaHei"/>
                <a:cs typeface="Calibri"/>
              </a:rPr>
              <a:t>英语凝聚黑人反对派</a:t>
            </a:r>
          </a:p>
        </p:txBody>
      </p:sp>
      <p:sp>
        <p:nvSpPr>
          <p:cNvPr id="46" name="TextBox 45"/>
          <p:cNvSpPr txBox="1"/>
          <p:nvPr/>
        </p:nvSpPr>
        <p:spPr>
          <a:xfrm>
            <a:off x="7150608" y="3337560"/>
            <a:ext cx="4069080" cy="164592"/>
          </a:xfrm>
          <a:prstGeom prst="rect">
            <a:avLst/>
          </a:prstGeom>
          <a:noFill/>
        </p:spPr>
        <p:txBody>
          <a:bodyPr wrap="square" anchor="t" lIns="0" tIns="0" rIns="0" bIns="0">
            <a:spAutoFit/>
          </a:bodyPr>
          <a:lstStyle/>
          <a:p>
            <a:pPr algn="l">
              <a:lnSpc>
                <a:spcPct val="102000"/>
              </a:lnSpc>
              <a:spcBef>
                <a:spcPts val="0"/>
              </a:spcBef>
              <a:spcAft>
                <a:spcPts val="0"/>
              </a:spcAft>
            </a:pPr>
            <a:r>
              <a:rPr sz="850" b="0" i="0">
                <a:solidFill>
                  <a:srgbClr val="2C3E50"/>
                </a:solidFill>
                <a:latin typeface="Calibri"/>
                <a:ea typeface="Microsoft YaHei"/>
                <a:cs typeface="Calibri"/>
              </a:rPr>
              <a:t>推翻 apartheid regime</a:t>
            </a:r>
          </a:p>
        </p:txBody>
      </p:sp>
      <p:sp>
        <p:nvSpPr>
          <p:cNvPr id="47" name="Rectangle 46"/>
          <p:cNvSpPr/>
          <p:nvPr/>
        </p:nvSpPr>
        <p:spPr>
          <a:xfrm>
            <a:off x="6880860" y="3438144"/>
            <a:ext cx="10972" cy="192024"/>
          </a:xfrm>
          <a:prstGeom prst="rect">
            <a:avLst/>
          </a:prstGeom>
          <a:solidFill>
            <a:srgbClr val="DFD7CB"/>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Rounded Rectangle 47"/>
          <p:cNvSpPr/>
          <p:nvPr/>
        </p:nvSpPr>
        <p:spPr>
          <a:xfrm>
            <a:off x="6766560" y="3666744"/>
            <a:ext cx="246888" cy="246888"/>
          </a:xfrm>
          <a:prstGeom prst="roundRect">
            <a:avLst>
              <a:gd name="adj" fmla="val 50000"/>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9" name="TextBox 48"/>
          <p:cNvSpPr txBox="1"/>
          <p:nvPr/>
        </p:nvSpPr>
        <p:spPr>
          <a:xfrm>
            <a:off x="6766560" y="3717036"/>
            <a:ext cx="246888" cy="109728"/>
          </a:xfrm>
          <a:prstGeom prst="rect">
            <a:avLst/>
          </a:prstGeom>
          <a:noFill/>
        </p:spPr>
        <p:txBody>
          <a:bodyPr wrap="square" anchor="t" lIns="0" tIns="0" rIns="0" bIns="0">
            <a:spAutoFit/>
          </a:bodyPr>
          <a:lstStyle/>
          <a:p>
            <a:pPr algn="ctr">
              <a:lnSpc>
                <a:spcPct val="102000"/>
              </a:lnSpc>
              <a:spcBef>
                <a:spcPts val="0"/>
              </a:spcBef>
              <a:spcAft>
                <a:spcPts val="0"/>
              </a:spcAft>
            </a:pPr>
            <a:r>
              <a:rPr sz="560" b="1" i="0">
                <a:solidFill>
                  <a:srgbClr val="FFFFFF"/>
                </a:solidFill>
                <a:latin typeface="Calibri"/>
                <a:ea typeface="Microsoft YaHei"/>
                <a:cs typeface="Calibri"/>
              </a:rPr>
              <a:t>02</a:t>
            </a:r>
          </a:p>
        </p:txBody>
      </p:sp>
      <p:sp>
        <p:nvSpPr>
          <p:cNvPr id="50" name="TextBox 49"/>
          <p:cNvSpPr txBox="1"/>
          <p:nvPr/>
        </p:nvSpPr>
        <p:spPr>
          <a:xfrm>
            <a:off x="7150608" y="3648456"/>
            <a:ext cx="4069080" cy="182880"/>
          </a:xfrm>
          <a:prstGeom prst="rect">
            <a:avLst/>
          </a:prstGeom>
          <a:noFill/>
        </p:spPr>
        <p:txBody>
          <a:bodyPr wrap="square" anchor="t" lIns="0" tIns="0" rIns="0" bIns="0">
            <a:spAutoFit/>
          </a:bodyPr>
          <a:lstStyle/>
          <a:p>
            <a:pPr algn="l">
              <a:lnSpc>
                <a:spcPct val="102000"/>
              </a:lnSpc>
              <a:spcBef>
                <a:spcPts val="0"/>
              </a:spcBef>
              <a:spcAft>
                <a:spcPts val="0"/>
              </a:spcAft>
            </a:pPr>
            <a:r>
              <a:rPr sz="980" b="1" i="0">
                <a:solidFill>
                  <a:srgbClr val="1B365D"/>
                </a:solidFill>
                <a:latin typeface="Calibri"/>
                <a:ea typeface="Microsoft YaHei"/>
                <a:cs typeface="Calibri"/>
              </a:rPr>
              <a:t>成为象征自由与团结的</a:t>
            </a:r>
          </a:p>
        </p:txBody>
      </p:sp>
      <p:sp>
        <p:nvSpPr>
          <p:cNvPr id="51" name="TextBox 50"/>
          <p:cNvSpPr txBox="1"/>
          <p:nvPr/>
        </p:nvSpPr>
        <p:spPr>
          <a:xfrm>
            <a:off x="7150608" y="3849624"/>
            <a:ext cx="4069080" cy="164592"/>
          </a:xfrm>
          <a:prstGeom prst="rect">
            <a:avLst/>
          </a:prstGeom>
          <a:noFill/>
        </p:spPr>
        <p:txBody>
          <a:bodyPr wrap="square" anchor="t" lIns="0" tIns="0" rIns="0" bIns="0">
            <a:spAutoFit/>
          </a:bodyPr>
          <a:lstStyle/>
          <a:p>
            <a:pPr algn="l">
              <a:lnSpc>
                <a:spcPct val="102000"/>
              </a:lnSpc>
              <a:spcBef>
                <a:spcPts val="0"/>
              </a:spcBef>
              <a:spcAft>
                <a:spcPts val="0"/>
              </a:spcAft>
            </a:pPr>
            <a:r>
              <a:rPr sz="850" b="0" i="0">
                <a:solidFill>
                  <a:srgbClr val="2C3E50"/>
                </a:solidFill>
                <a:latin typeface="Calibri"/>
                <a:ea typeface="Microsoft YaHei"/>
                <a:cs typeface="Calibri"/>
              </a:rPr>
              <a:t>national lingua franca</a:t>
            </a:r>
          </a:p>
        </p:txBody>
      </p:sp>
      <p:sp>
        <p:nvSpPr>
          <p:cNvPr id="52" name="Rounded Rectangle 51"/>
          <p:cNvSpPr/>
          <p:nvPr/>
        </p:nvSpPr>
        <p:spPr>
          <a:xfrm>
            <a:off x="6748272" y="4233672"/>
            <a:ext cx="4636008" cy="585216"/>
          </a:xfrm>
          <a:prstGeom prst="roundRect">
            <a:avLst>
              <a:gd name="adj" fmla="val 4000"/>
            </a:avLst>
          </a:prstGeom>
          <a:solidFill>
            <a:srgbClr val="ECF0F5"/>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3" name="TextBox 52"/>
          <p:cNvSpPr txBox="1"/>
          <p:nvPr/>
        </p:nvSpPr>
        <p:spPr>
          <a:xfrm>
            <a:off x="6894576" y="4297680"/>
            <a:ext cx="4206240" cy="118872"/>
          </a:xfrm>
          <a:prstGeom prst="rect">
            <a:avLst/>
          </a:prstGeom>
          <a:noFill/>
        </p:spPr>
        <p:txBody>
          <a:bodyPr wrap="square" anchor="t" lIns="0" tIns="0" rIns="0" bIns="0">
            <a:spAutoFit/>
          </a:bodyPr>
          <a:lstStyle/>
          <a:p>
            <a:pPr algn="l">
              <a:lnSpc>
                <a:spcPct val="102000"/>
              </a:lnSpc>
              <a:spcBef>
                <a:spcPts val="0"/>
              </a:spcBef>
              <a:spcAft>
                <a:spcPts val="0"/>
              </a:spcAft>
            </a:pPr>
            <a:r>
              <a:rPr sz="640" b="1" i="0" spc="100">
                <a:solidFill>
                  <a:srgbClr val="1B365D"/>
                </a:solidFill>
                <a:latin typeface="Calibri"/>
                <a:ea typeface="Microsoft YaHei"/>
                <a:cs typeface="Calibri"/>
              </a:rPr>
              <a:t>KEY PHRASE</a:t>
            </a:r>
          </a:p>
        </p:txBody>
      </p:sp>
      <p:sp>
        <p:nvSpPr>
          <p:cNvPr id="54" name="TextBox 53"/>
          <p:cNvSpPr txBox="1"/>
          <p:nvPr/>
        </p:nvSpPr>
        <p:spPr>
          <a:xfrm>
            <a:off x="6894576" y="4443984"/>
            <a:ext cx="4224528" cy="182880"/>
          </a:xfrm>
          <a:prstGeom prst="rect">
            <a:avLst/>
          </a:prstGeom>
          <a:noFill/>
        </p:spPr>
        <p:txBody>
          <a:bodyPr wrap="square" anchor="t" lIns="0" tIns="0" rIns="0" bIns="0">
            <a:spAutoFit/>
          </a:bodyPr>
          <a:lstStyle/>
          <a:p>
            <a:pPr algn="l">
              <a:lnSpc>
                <a:spcPct val="102000"/>
              </a:lnSpc>
              <a:spcBef>
                <a:spcPts val="0"/>
              </a:spcBef>
              <a:spcAft>
                <a:spcPts val="0"/>
              </a:spcAft>
            </a:pPr>
            <a:r>
              <a:rPr sz="1050" b="1" i="0">
                <a:solidFill>
                  <a:srgbClr val="C84B31"/>
                </a:solidFill>
                <a:latin typeface="Georgia"/>
                <a:ea typeface="Microsoft YaHei"/>
                <a:cs typeface="Georgia"/>
              </a:rPr>
              <a:t>suitably Africanized English</a:t>
            </a:r>
          </a:p>
        </p:txBody>
      </p:sp>
      <p:sp>
        <p:nvSpPr>
          <p:cNvPr id="55" name="Rounded Rectangle 54"/>
          <p:cNvSpPr/>
          <p:nvPr/>
        </p:nvSpPr>
        <p:spPr>
          <a:xfrm>
            <a:off x="5797296" y="2907792"/>
            <a:ext cx="603504" cy="603504"/>
          </a:xfrm>
          <a:prstGeom prst="roundRect">
            <a:avLst>
              <a:gd name="adj" fmla="val 50000"/>
            </a:avLst>
          </a:prstGeom>
          <a:solidFill>
            <a:srgbClr val="1B365D"/>
          </a:solidFill>
          <a:ln w="27940">
            <a:solidFill>
              <a:srgbClr val="FAF8F5"/>
            </a:solidFill>
          </a:ln>
          <a:effectLst>
            <a:outerShdw blurRad="152400" dist="38100" dir="5400000" algn="ctr" rotWithShape="0">
              <a:srgbClr val="1B365D">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TextBox 55"/>
          <p:cNvSpPr txBox="1"/>
          <p:nvPr/>
        </p:nvSpPr>
        <p:spPr>
          <a:xfrm>
            <a:off x="5797296" y="3118104"/>
            <a:ext cx="603504" cy="146304"/>
          </a:xfrm>
          <a:prstGeom prst="rect">
            <a:avLst/>
          </a:prstGeom>
          <a:noFill/>
        </p:spPr>
        <p:txBody>
          <a:bodyPr wrap="square" anchor="t" lIns="0" tIns="0" rIns="0" bIns="0">
            <a:spAutoFit/>
          </a:bodyPr>
          <a:lstStyle/>
          <a:p>
            <a:pPr algn="ctr">
              <a:lnSpc>
                <a:spcPct val="102000"/>
              </a:lnSpc>
              <a:spcBef>
                <a:spcPts val="0"/>
              </a:spcBef>
              <a:spcAft>
                <a:spcPts val="0"/>
              </a:spcAft>
            </a:pPr>
            <a:r>
              <a:rPr sz="869" b="1" i="0" spc="50">
                <a:solidFill>
                  <a:srgbClr val="FFFFFF"/>
                </a:solidFill>
                <a:latin typeface="Georgia"/>
                <a:ea typeface="Microsoft YaHei"/>
                <a:cs typeface="Georgia"/>
              </a:rPr>
              <a:t>VS</a:t>
            </a:r>
          </a:p>
        </p:txBody>
      </p:sp>
      <p:sp>
        <p:nvSpPr>
          <p:cNvPr id="57" name="Rounded Rectangle 56"/>
          <p:cNvSpPr/>
          <p:nvPr/>
        </p:nvSpPr>
        <p:spPr>
          <a:xfrm>
            <a:off x="502920" y="5239512"/>
            <a:ext cx="11183112" cy="950976"/>
          </a:xfrm>
          <a:prstGeom prst="roundRect">
            <a:avLst>
              <a:gd name="adj" fmla="val 2200"/>
            </a:avLst>
          </a:prstGeom>
          <a:solidFill>
            <a:srgbClr val="1B365D"/>
          </a:solidFill>
          <a:ln>
            <a:noFill/>
          </a:ln>
          <a:effectLst>
            <a:outerShdw blurRad="152400" dist="38100" dir="5400000" algn="ctr" rotWithShape="0">
              <a:srgbClr val="1B365D">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Rectangle 57"/>
          <p:cNvSpPr/>
          <p:nvPr/>
        </p:nvSpPr>
        <p:spPr>
          <a:xfrm>
            <a:off x="502920" y="5239512"/>
            <a:ext cx="68580" cy="950976"/>
          </a:xfrm>
          <a:prstGeom prst="rect">
            <a:avLst/>
          </a:prstGeom>
          <a:solidFill>
            <a:srgbClr val="C84B3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9" name="TextBox 58"/>
          <p:cNvSpPr txBox="1"/>
          <p:nvPr/>
        </p:nvSpPr>
        <p:spPr>
          <a:xfrm>
            <a:off x="749808" y="5358384"/>
            <a:ext cx="1874519" cy="137160"/>
          </a:xfrm>
          <a:prstGeom prst="rect">
            <a:avLst/>
          </a:prstGeom>
          <a:noFill/>
        </p:spPr>
        <p:txBody>
          <a:bodyPr wrap="square" anchor="t" lIns="0" tIns="0" rIns="0" bIns="0">
            <a:spAutoFit/>
          </a:bodyPr>
          <a:lstStyle/>
          <a:p>
            <a:pPr algn="l">
              <a:lnSpc>
                <a:spcPct val="102000"/>
              </a:lnSpc>
              <a:spcBef>
                <a:spcPts val="0"/>
              </a:spcBef>
              <a:spcAft>
                <a:spcPts val="0"/>
              </a:spcAft>
            </a:pPr>
            <a:r>
              <a:rPr sz="650" b="1" i="0" spc="100">
                <a:solidFill>
                  <a:srgbClr val="B78B51"/>
                </a:solidFill>
                <a:latin typeface="Calibri"/>
                <a:ea typeface="Microsoft YaHei"/>
                <a:cs typeface="Calibri"/>
              </a:rPr>
              <a:t>PREVIEW  /  PARAGRAPH 9</a:t>
            </a:r>
          </a:p>
        </p:txBody>
      </p:sp>
      <p:sp>
        <p:nvSpPr>
          <p:cNvPr id="60" name="TextBox 59"/>
          <p:cNvSpPr txBox="1"/>
          <p:nvPr/>
        </p:nvSpPr>
        <p:spPr>
          <a:xfrm>
            <a:off x="749808" y="5541264"/>
            <a:ext cx="1920240" cy="365760"/>
          </a:xfrm>
          <a:prstGeom prst="rect">
            <a:avLst/>
          </a:prstGeom>
          <a:noFill/>
        </p:spPr>
        <p:txBody>
          <a:bodyPr wrap="square" anchor="t" lIns="0" tIns="0" rIns="0" bIns="0">
            <a:spAutoFit/>
          </a:bodyPr>
          <a:lstStyle/>
          <a:p>
            <a:pPr algn="l">
              <a:lnSpc>
                <a:spcPct val="102000"/>
              </a:lnSpc>
              <a:spcBef>
                <a:spcPts val="0"/>
              </a:spcBef>
              <a:spcAft>
                <a:spcPts val="0"/>
              </a:spcAft>
            </a:pPr>
            <a:r>
              <a:rPr sz="819" b="0" i="0">
                <a:solidFill>
                  <a:srgbClr val="D8E0E9"/>
                </a:solidFill>
                <a:latin typeface="Calibri"/>
                <a:ea typeface="Microsoft YaHei"/>
                <a:cs typeface="Calibri"/>
              </a:rPr>
              <a:t>从对比案例</a:t>
            </a:r>
          </a:p>
          <a:p>
            <a:pPr algn="l">
              <a:lnSpc>
                <a:spcPct val="102000"/>
              </a:lnSpc>
              <a:spcBef>
                <a:spcPts val="0"/>
              </a:spcBef>
              <a:spcAft>
                <a:spcPts val="0"/>
              </a:spcAft>
            </a:pPr>
            <a:r>
              <a:rPr sz="819" b="0" i="0">
                <a:solidFill>
                  <a:srgbClr val="D8E0E9"/>
                </a:solidFill>
                <a:latin typeface="Calibri"/>
                <a:ea typeface="Microsoft YaHei"/>
                <a:cs typeface="Calibri"/>
              </a:rPr>
              <a:t>走向最终结论</a:t>
            </a:r>
          </a:p>
        </p:txBody>
      </p:sp>
      <p:sp>
        <p:nvSpPr>
          <p:cNvPr id="61" name="Rectangle 60"/>
          <p:cNvSpPr/>
          <p:nvPr/>
        </p:nvSpPr>
        <p:spPr>
          <a:xfrm>
            <a:off x="2816352" y="5404104"/>
            <a:ext cx="10972" cy="612648"/>
          </a:xfrm>
          <a:prstGeom prst="rect">
            <a:avLst/>
          </a:prstGeom>
          <a:solidFill>
            <a:srgbClr val="3A537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TextBox 61"/>
          <p:cNvSpPr txBox="1"/>
          <p:nvPr/>
        </p:nvSpPr>
        <p:spPr>
          <a:xfrm>
            <a:off x="3035808" y="5349240"/>
            <a:ext cx="8321040" cy="356616"/>
          </a:xfrm>
          <a:prstGeom prst="rect">
            <a:avLst/>
          </a:prstGeom>
          <a:noFill/>
        </p:spPr>
        <p:txBody>
          <a:bodyPr wrap="square" anchor="t" lIns="0" tIns="0" rIns="0" bIns="0">
            <a:spAutoFit/>
          </a:bodyPr>
          <a:lstStyle/>
          <a:p>
            <a:pPr algn="l">
              <a:lnSpc>
                <a:spcPct val="102000"/>
              </a:lnSpc>
              <a:spcBef>
                <a:spcPts val="0"/>
              </a:spcBef>
              <a:spcAft>
                <a:spcPts val="0"/>
              </a:spcAft>
            </a:pPr>
            <a:r>
              <a:rPr sz="1400" b="1" i="1">
                <a:solidFill>
                  <a:srgbClr val="FFFFFF"/>
                </a:solidFill>
                <a:latin typeface="Georgia"/>
                <a:ea typeface="Microsoft YaHei"/>
                <a:cs typeface="Georgia"/>
              </a:rPr>
              <a:t>“Like many things, English is at times a blessing and at times a curse.”</a:t>
            </a:r>
          </a:p>
        </p:txBody>
      </p:sp>
      <p:sp>
        <p:nvSpPr>
          <p:cNvPr id="63" name="TextBox 62"/>
          <p:cNvSpPr txBox="1"/>
          <p:nvPr/>
        </p:nvSpPr>
        <p:spPr>
          <a:xfrm>
            <a:off x="3035808" y="5769864"/>
            <a:ext cx="8275320" cy="219456"/>
          </a:xfrm>
          <a:prstGeom prst="rect">
            <a:avLst/>
          </a:prstGeom>
          <a:noFill/>
        </p:spPr>
        <p:txBody>
          <a:bodyPr wrap="square" anchor="t" lIns="0" tIns="0" rIns="0" bIns="0">
            <a:spAutoFit/>
          </a:bodyPr>
          <a:lstStyle/>
          <a:p>
            <a:pPr algn="l">
              <a:lnSpc>
                <a:spcPct val="102000"/>
              </a:lnSpc>
              <a:spcBef>
                <a:spcPts val="0"/>
              </a:spcBef>
              <a:spcAft>
                <a:spcPts val="0"/>
              </a:spcAft>
            </a:pPr>
            <a:r>
              <a:rPr sz="919" b="0" i="0">
                <a:solidFill>
                  <a:srgbClr val="D8E0E9"/>
                </a:solidFill>
                <a:latin typeface="Calibri"/>
                <a:ea typeface="Microsoft YaHei"/>
                <a:cs typeface="Calibri"/>
              </a:rPr>
              <a:t>正如许多事物一样，英语有时是一种福音，有时是一种诅咒。</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Language and Culture — Paragraphs 7 &amp; 8</dc:title>
  <dc:subject>English intensive reading: blessing, South Africa, and the language of freedom</dc:subject>
  <dc:creator/>
  <cp:keywords>Language and Culture; Paragraph 7; Paragraph 8; English; South Africa; apartheid; lingua franca</cp:keywords>
  <dc:description>8-slide academic reading deck with speaker notes.</dc:description>
  <cp:lastModifiedBy>Steve Canny</cp:lastModifiedBy>
  <cp:revision>1</cp:revision>
  <dcterms:created xsi:type="dcterms:W3CDTF">2013-01-27T09:14:16Z</dcterms:created>
  <dcterms:modified xsi:type="dcterms:W3CDTF">2013-01-27T09:15:58Z</dcterms:modified>
  <cp:category/>
</cp:coreProperties>
</file>